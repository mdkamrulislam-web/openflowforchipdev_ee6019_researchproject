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 Your Verilog → a checked chip layout</a:t>
            </a:r>
          </a:p>
          <a:p/>
          <a:p>
            <a:r>
              <a:t>You already have a working Verilog design. This guide shows how to put it inside Tiny Tapeout, test the connections and build its layout. In the local research checkout, src, test and info.yaml are directly at the project root. We use an eight-bit shift register throughout.</a:t>
            </a:r>
          </a:p>
          <a:p/>
          <a:p>
            <a:r>
              <a:t>Keep this guide beside your browser. Use the interactive HTML version for the clock experiment and tick each checkpoint as you finish.</a:t>
            </a:r>
          </a:p>
          <a:p/>
          <a:p>
            <a:r>
              <a:t>Sign in to a free GitHub account. Download shift-register-starter.zip and extract it: on Windows, right-click → Extract All. Open the extracted folder containing info.yaml, src, test and docs. GitHub stores your project and runs the tools.</a:t>
            </a:r>
          </a:p>
          <a:p/>
          <a:p>
            <a:r>
              <a:t>Follow pages 2–14 in order. Pages 13–14 cover gate-level simulation (GLS); page 15 is your final checklist and help sheet. You need no chip board or local tool installation for this browser route.</a:t>
            </a:r>
          </a:p>
          <a:p/>
          <a:p>
            <a:r>
              <a:t>Tiny Tapeout = A service that combines small circuit designs on a shared chip. Its template includes the build tools.</a:t>
            </a:r>
          </a:p>
          <a:p/>
          <a:p>
            <a:r>
              <a:t>Layout = The shapes and wires used to manufacture the circuit. GDS is the file format that stores them.</a:t>
            </a:r>
          </a:p>
          <a:p/>
          <a:p>
            <a:r>
              <a:t>Check: I have opened the guide, signed in to GitHub and found the starter ZIP.</a:t>
            </a:r>
          </a:p>
          <a:p/>
          <a:p>
            <a:r>
              <a:t>Open GitHub / create a free account: https://github.com/signup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2: 1. Start with the design you already have</a:t>
            </a:r>
          </a:p>
          <a:p/>
          <a:p>
            <a:r>
              <a:t>Our starting file is shift_register.v. It stores eight bits. Each rising clock edge moves the bits one position towards bit 7 and puts serial_in into bit 0, when enable is 1.</a:t>
            </a:r>
          </a:p>
          <a:p/>
          <a:p>
            <a:r>
              <a:t>In the extracted folder, open src/shift_register.v with a text editor such as Notepad or VS Code. This is the reusable circuit; it does not contain Tiny Tapeout pin names.</a:t>
            </a:r>
          </a:p>
          <a:p/>
          <a:p>
            <a:r>
              <a:t>Read its rule: reset wins; otherwise enable shifts; otherwise the stored value stays the same. Reset is synchronous: it takes effect at a rising clock edge.</a:t>
            </a:r>
          </a:p>
          <a:p/>
          <a:p>
            <a:r>
              <a:t>Try the clock experiment in the HTML guide. From reset, shift in 1, then 0, then 1. Predict the eight-bit output after each edge.</a:t>
            </a:r>
          </a:p>
          <a:p/>
          <a:p>
            <a:r>
              <a:t>RTL = The Verilog description of the circuit’s behaviour and registers.</a:t>
            </a:r>
          </a:p>
          <a:p/>
          <a:p>
            <a:r>
              <a:t>Pause and predict: Starting at 00000000, what do inputs 1, 0, 1 produce after three enabled edges?</a:t>
            </a:r>
          </a:p>
          <a:p/>
          <a:p>
            <a:r>
              <a:t>Answer: 00000001 → 00000010 → 00000101. A disabled edge keeps 00000101.</a:t>
            </a:r>
          </a:p>
          <a:p/>
          <a:p>
            <a:r>
              <a:t>Check: I know my circuit’s reset polarity, shift direction and enable behaviour.</a:t>
            </a:r>
          </a:p>
          <a:p/>
          <a:p>
            <a:r>
              <a:t>Full code (src/shift_register.v):</a:t>
            </a:r>
          </a:p>
          <a:p/>
          <a:p>
            <a:r>
              <a:t>`default_nettype none</a:t>
            </a:r>
          </a:p>
          <a:p/>
          <a:p>
            <a:r>
              <a:t>// Existing design: 8-bit serial-in, parallel-out shift register.</a:t>
            </a:r>
          </a:p>
          <a:p>
            <a:r>
              <a:t>module shift_register (</a:t>
            </a:r>
          </a:p>
          <a:p>
            <a:r>
              <a:t>    input  wire       clk,</a:t>
            </a:r>
          </a:p>
          <a:p>
            <a:r>
              <a:t>    input  wire       rst,        // 1 clears q on the next rising clock edge</a:t>
            </a:r>
          </a:p>
          <a:p>
            <a:r>
              <a:t>    input  wire       enable,     // 1 shifts; 0 holds the stored value</a:t>
            </a:r>
          </a:p>
          <a:p>
            <a:r>
              <a:t>    input  wire       serial_in,  // new bit enters q[0]</a:t>
            </a:r>
          </a:p>
          <a:p>
            <a:r>
              <a:t>    output reg  [7:0] q</a:t>
            </a:r>
          </a:p>
          <a:p>
            <a:r>
              <a:t>);</a:t>
            </a:r>
          </a:p>
          <a:p>
            <a:r>
              <a:t>    always @(posedge clk) begin</a:t>
            </a:r>
          </a:p>
          <a:p>
            <a:r>
              <a:t>        if (rst)</a:t>
            </a:r>
          </a:p>
          <a:p>
            <a:r>
              <a:t>            q &lt;= 8'b00000000;</a:t>
            </a:r>
          </a:p>
          <a:p>
            <a:r>
              <a:t>        else if (enable)</a:t>
            </a:r>
          </a:p>
          <a:p>
            <a:r>
              <a:t>            q &lt;= {q[6:0], serial_in};</a:t>
            </a:r>
          </a:p>
          <a:p>
            <a:r>
              <a:t>    end</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2: 1. Start with the design you already have</a:t>
            </a:r>
          </a:p>
          <a:p/>
          <a:p>
            <a:r>
              <a:t>Our starting file is shift_register.v. It stores eight bits. Each rising clock edge moves the bits one position towards bit 7 and puts serial_in into bit 0, when enable is 1.</a:t>
            </a:r>
          </a:p>
          <a:p/>
          <a:p>
            <a:r>
              <a:t>In the extracted folder, open src/shift_register.v with a text editor such as Notepad or VS Code. This is the reusable circuit; it does not contain Tiny Tapeout pin names.</a:t>
            </a:r>
          </a:p>
          <a:p/>
          <a:p>
            <a:r>
              <a:t>Read its rule: reset wins; otherwise enable shifts; otherwise the stored value stays the same. Reset is synchronous: it takes effect at a rising clock edge.</a:t>
            </a:r>
          </a:p>
          <a:p/>
          <a:p>
            <a:r>
              <a:t>Try the clock experiment in the HTML guide. From reset, shift in 1, then 0, then 1. Predict the eight-bit output after each edge.</a:t>
            </a:r>
          </a:p>
          <a:p/>
          <a:p>
            <a:r>
              <a:t>RTL = The Verilog description of the circuit’s behaviour and registers.</a:t>
            </a:r>
          </a:p>
          <a:p/>
          <a:p>
            <a:r>
              <a:t>Pause and predict: Starting at 00000000, what do inputs 1, 0, 1 produce after three enabled edges?</a:t>
            </a:r>
          </a:p>
          <a:p/>
          <a:p>
            <a:r>
              <a:t>Answer: 00000001 → 00000010 → 00000101. A disabled edge keeps 00000101.</a:t>
            </a:r>
          </a:p>
          <a:p/>
          <a:p>
            <a:r>
              <a:t>Check: I know my circuit’s reset polarity, shift direction and enable behaviour.</a:t>
            </a:r>
          </a:p>
          <a:p/>
          <a:p>
            <a:r>
              <a:t>Full code (src/shift_register.v):</a:t>
            </a:r>
          </a:p>
          <a:p/>
          <a:p>
            <a:r>
              <a:t>`default_nettype none</a:t>
            </a:r>
          </a:p>
          <a:p/>
          <a:p>
            <a:r>
              <a:t>// Existing design: 8-bit serial-in, parallel-out shift register.</a:t>
            </a:r>
          </a:p>
          <a:p>
            <a:r>
              <a:t>module shift_register (</a:t>
            </a:r>
          </a:p>
          <a:p>
            <a:r>
              <a:t>    input  wire       clk,</a:t>
            </a:r>
          </a:p>
          <a:p>
            <a:r>
              <a:t>    input  wire       rst,        // 1 clears q on the next rising clock edge</a:t>
            </a:r>
          </a:p>
          <a:p>
            <a:r>
              <a:t>    input  wire       enable,     // 1 shifts; 0 holds the stored value</a:t>
            </a:r>
          </a:p>
          <a:p>
            <a:r>
              <a:t>    input  wire       serial_in,  // new bit enters q[0]</a:t>
            </a:r>
          </a:p>
          <a:p>
            <a:r>
              <a:t>    output reg  [7:0] q</a:t>
            </a:r>
          </a:p>
          <a:p>
            <a:r>
              <a:t>);</a:t>
            </a:r>
          </a:p>
          <a:p>
            <a:r>
              <a:t>    always @(posedge clk) begin</a:t>
            </a:r>
          </a:p>
          <a:p>
            <a:r>
              <a:t>        if (rst)</a:t>
            </a:r>
          </a:p>
          <a:p>
            <a:r>
              <a:t>            q &lt;= 8'b00000000;</a:t>
            </a:r>
          </a:p>
          <a:p>
            <a:r>
              <a:t>        else if (enable)</a:t>
            </a:r>
          </a:p>
          <a:p>
            <a:r>
              <a:t>            q &lt;= {q[6:0], serial_in};</a:t>
            </a:r>
          </a:p>
          <a:p>
            <a:r>
              <a:t>    end</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3: 2. Make your own Tiny Tapeout project</a:t>
            </a:r>
          </a:p>
          <a:p/>
          <a:p>
            <a:r>
              <a:t>A template is a ready-made set of folders and automation. A repository is your own saved project on GitHub.</a:t>
            </a:r>
          </a:p>
          <a:p/>
          <a:p>
            <a:r>
              <a:t>Open the official HDL templates page below. Choose the SKY Verilog template used in this lesson. Confirm the repository is TinyTapeout/ttsky-verilog-template.</a:t>
            </a:r>
          </a:p>
          <a:p/>
          <a:p>
            <a:r>
              <a:t>Sign in. Select Use this template → Create a new repository. Choose your own account as Owner.</a:t>
            </a:r>
          </a:p>
          <a:p/>
          <a:p>
            <a:r>
              <a:t>Name it tt-shift-register, choose Public, and create it. Check that the new page begins with YOUR username. All later edits happen in this new repository.</a:t>
            </a:r>
          </a:p>
          <a:p/>
          <a:p>
            <a:r>
              <a:t>Check: My repository belongs to my account and contains src, test, docs and info.yaml.</a:t>
            </a:r>
          </a:p>
          <a:p/>
          <a:p>
            <a:r>
              <a:t>Official Tiny Tapeout templates: https://tinytapeout.com/hdl/templates/</a:t>
            </a:r>
          </a:p>
          <a:p/>
          <a:p>
            <a:r>
              <a:t>SKY Verilog template: https://github.com/TinyTapeout/ttsky-verilog-template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4: 3. Turn on the build and results page</a:t>
            </a:r>
          </a:p>
          <a:p/>
          <a:p>
            <a:r>
              <a:t>GitHub Actions runs the checks for you. GitHub Pages displays the finished layout in a browser.</a:t>
            </a:r>
          </a:p>
          <a:p/>
          <a:p>
            <a:r>
              <a:t>In your new repository, open Actions. If you see an enable-workflows banner, enable it; otherwise continue.</a:t>
            </a:r>
          </a:p>
          <a:p/>
          <a:p>
            <a:r>
              <a:t>Open Settings → Pages. Under Build and deployment, change Source to GitHub Actions.</a:t>
            </a:r>
          </a:p>
          <a:p/>
          <a:p>
            <a:r>
              <a:t>Return to Code. Keep the template’s .github folder, src/config.json and test/requirements.txt. The starter changes your design files, while these files supply the tools.</a:t>
            </a:r>
          </a:p>
          <a:p/>
          <a:p>
            <a:r>
              <a:t>Workflow = A saved recipe of jobs that GitHub runs, such as test or gds.</a:t>
            </a:r>
          </a:p>
          <a:p/>
          <a:p>
            <a:r>
              <a:t>Check: Actions is available and Pages → Source says GitHub Actions.</a:t>
            </a:r>
          </a:p>
          <a:p/>
          <a:p>
            <a:r>
              <a:t>Pages troubleshooting: https://tinytapeout.com/faq/#my-github-action-is-failing-on-the-pages-part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5: 4. Plan how your signals reach the chip pins</a:t>
            </a:r>
          </a:p>
          <a:p/>
          <a:p>
            <a:r>
              <a:t>Your circuit has its own signal names. Tiny Tapeout expects a fixed set of ports. A wrapper is a small Verilog module that connects the two.</a:t>
            </a:r>
          </a:p>
          <a:p/>
          <a:p>
            <a:r>
              <a:t>Use ui_in[0] for serial_in and ui_in[1] for the circuit’s enable. Bits 2–7 are unused.</a:t>
            </a:r>
          </a:p>
          <a:p/>
          <a:p>
            <a:r>
              <a:t>Connect clk directly. The platform’s rst_n is active low: 0 requests reset. Our circuit’s rst is active high, so connect rst to ~rst_n.</a:t>
            </a:r>
          </a:p>
          <a:p/>
          <a:p>
            <a:r>
              <a:t>Send all eight q bits to uo_out. We do not use the bidirectional pins: set uio_out and uio_oe to zero. Keep all required wrapper ports.</a:t>
            </a:r>
          </a:p>
          <a:p/>
          <a:p>
            <a:r>
              <a:t>Port = A named input or output of a Verilog module.</a:t>
            </a:r>
          </a:p>
          <a:p/>
          <a:p>
            <a:r>
              <a:t>Active low = The function is requested with 0 rather than 1.</a:t>
            </a:r>
          </a:p>
          <a:p/>
          <a:p>
            <a:r>
              <a:t>Pause and predict: Is ena the same signal as our shift enable?</a:t>
            </a:r>
          </a:p>
          <a:p/>
          <a:p>
            <a:r>
              <a:t>Answer: No. ena selects this project on the shared chip. Our shift enable is ui_in[1]. This core uses only ui_in[1] to decide whether to shift.</a:t>
            </a:r>
          </a:p>
          <a:p/>
          <a:p>
            <a:r>
              <a:t>Check: I can trace every used chip pin to a signal in my existing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5: 4. Plan how your signals reach the chip pins</a:t>
            </a:r>
          </a:p>
          <a:p/>
          <a:p>
            <a:r>
              <a:t>Your circuit has its own signal names. Tiny Tapeout expects a fixed set of ports. A wrapper is a small Verilog module that connects the two.</a:t>
            </a:r>
          </a:p>
          <a:p/>
          <a:p>
            <a:r>
              <a:t>Use ui_in[0] for serial_in and ui_in[1] for the circuit’s enable. Bits 2–7 are unused.</a:t>
            </a:r>
          </a:p>
          <a:p/>
          <a:p>
            <a:r>
              <a:t>Connect clk directly. The platform’s rst_n is active low: 0 requests reset. Our circuit’s rst is active high, so connect rst to ~rst_n.</a:t>
            </a:r>
          </a:p>
          <a:p/>
          <a:p>
            <a:r>
              <a:t>Send all eight q bits to uo_out. We do not use the bidirectional pins: set uio_out and uio_oe to zero. Keep all required wrapper ports.</a:t>
            </a:r>
          </a:p>
          <a:p/>
          <a:p>
            <a:r>
              <a:t>Port = A named input or output of a Verilog module.</a:t>
            </a:r>
          </a:p>
          <a:p/>
          <a:p>
            <a:r>
              <a:t>Active low = The function is requested with 0 rather than 1.</a:t>
            </a:r>
          </a:p>
          <a:p/>
          <a:p>
            <a:r>
              <a:t>Pause and predict: Is ena the same signal as our shift enable?</a:t>
            </a:r>
          </a:p>
          <a:p/>
          <a:p>
            <a:r>
              <a:t>Answer: No. ena selects this project on the shared chip. Our shift enable is ui_in[1]. This core uses only ui_in[1] to decide whether to shift.</a:t>
            </a:r>
          </a:p>
          <a:p/>
          <a:p>
            <a:r>
              <a:t>Check: I can trace every used chip pin to a signal in my existing design.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6: 5. Add the wrapper around your design</a:t>
            </a:r>
          </a:p>
          <a:p/>
          <a:p>
            <a:r>
              <a:t>Open the supplied project.v. It creates one instance of your shift register and connects the signals from page 5. The shift-register code itself stays reusable.</a:t>
            </a:r>
          </a:p>
          <a:p/>
          <a:p>
            <a:r>
              <a:t>Use the complete supplied project.v as the replacement for the template’s example.</a:t>
            </a:r>
          </a:p>
          <a:p/>
          <a:p>
            <a:r>
              <a:t>For this first run, keep tt_um_student_shift_register unchanged everywhere. For a later submission, choose your own unique name beginning tt_um_ and change all three locations on page 7.</a:t>
            </a:r>
          </a:p>
          <a:p/>
          <a:p>
            <a:r>
              <a:t>Notice that ~ means invert: ~rst_n converts the reset convention. uio_oe = 0 makes every bidirectional pin an input.</a:t>
            </a:r>
          </a:p>
          <a:p/>
          <a:p>
            <a:r>
              <a:t>Check: My wrapper has the eight required ports and instantiates shift_register with the intended connections.</a:t>
            </a:r>
          </a:p>
          <a:p/>
          <a:p>
            <a:r>
              <a:t>Tiny Tapeout interface rules: https://tinytapeout.com/hdl/important/</a:t>
            </a:r>
          </a:p>
          <a:p/>
          <a:p>
            <a:r>
              <a:t>Full code (src/project.v):</a:t>
            </a:r>
          </a:p>
          <a:p/>
          <a:p>
            <a:r>
              <a:t>`default_nettype none</a:t>
            </a:r>
          </a:p>
          <a:p/>
          <a:p>
            <a:r>
              <a:t>// Wrapper: connects the existing design to Tiny Tapeout's fixed ports.</a:t>
            </a:r>
          </a:p>
          <a:p>
            <a:r>
              <a:t>module tt_um_student_shift_register (</a:t>
            </a:r>
          </a:p>
          <a:p>
            <a:r>
              <a:t>    input  wire [7:0] ui_in,</a:t>
            </a:r>
          </a:p>
          <a:p>
            <a:r>
              <a:t>    output wire [7:0] uo_out,</a:t>
            </a:r>
          </a:p>
          <a:p>
            <a:r>
              <a:t>    input  wire [7:0] uio_in,</a:t>
            </a:r>
          </a:p>
          <a:p>
            <a:r>
              <a:t>    output wire [7:0] uio_out,</a:t>
            </a:r>
          </a:p>
          <a:p>
            <a:r>
              <a:t>    output wire [7:0] uio_oe,</a:t>
            </a:r>
          </a:p>
          <a:p>
            <a:r>
              <a:t>    input  wire       ena,</a:t>
            </a:r>
          </a:p>
          <a:p>
            <a:r>
              <a:t>    input  wire       clk,</a:t>
            </a:r>
          </a:p>
          <a:p>
            <a:r>
              <a:t>    input  wire       rst_n</a:t>
            </a:r>
          </a:p>
          <a:p>
            <a:r>
              <a:t>);</a:t>
            </a:r>
          </a:p>
          <a:p>
            <a:r>
              <a:t>    shift_register core (</a:t>
            </a:r>
          </a:p>
          <a:p>
            <a:r>
              <a:t>        .clk       (clk),</a:t>
            </a:r>
          </a:p>
          <a:p>
            <a:r>
              <a:t>        .rst       (~rst_n),  // Tiny Tapeout reset is low; core reset is high</a:t>
            </a:r>
          </a:p>
          <a:p>
            <a:r>
              <a:t>        .enable    (ui_in[1]),</a:t>
            </a:r>
          </a:p>
          <a:p>
            <a:r>
              <a:t>        .serial_in (ui_in[0]),</a:t>
            </a:r>
          </a:p>
          <a:p>
            <a:r>
              <a:t>        .q         (uo_out)</a:t>
            </a:r>
          </a:p>
          <a:p>
            <a:r>
              <a:t>    );</a:t>
            </a:r>
          </a:p>
          <a:p/>
          <a:p>
            <a:r>
              <a:t>    // Bidirectional pins are unused. A 0 in uio_oe means input direction.</a:t>
            </a:r>
          </a:p>
          <a:p>
            <a:r>
              <a:t>    assign uio_out = 8'b00000000;</a:t>
            </a:r>
          </a:p>
          <a:p>
            <a:r>
              <a:t>    assign uio_oe  = 8'b00000000;</a:t>
            </a:r>
          </a:p>
          <a:p/>
          <a:p>
            <a:r>
              <a:t>    // ena is Tiny Tapeout's project-selection signal, not shift enable.</a:t>
            </a:r>
          </a:p>
          <a:p>
            <a:r>
              <a:t>    wire _unused = &amp;{ena, ui_in[7:2], uio_in, 1'b0};</a:t>
            </a:r>
          </a:p>
          <a:p>
            <a:r>
              <a:t>endmodule</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7: 6. Tell both tools which files to use</a:t>
            </a:r>
          </a:p>
          <a:p/>
          <a:p>
            <a:r>
              <a:t>The layout builder and simulator read separate source lists. Both must find your core and wrapper. The top module is the outermost circuit the tools should build.</a:t>
            </a:r>
          </a:p>
          <a:p/>
          <a:p>
            <a:r>
              <a:t>In info.yaml, under project, use top_module: "tt_um_student_shift_register" and source_files: ["project.v", "shift_register.v"]. These filenames refer to files inside src.</a:t>
            </a:r>
          </a:p>
          <a:p/>
          <a:p>
            <a:r>
              <a:t>In test/Makefile, set PROJECT_SOURCES = project.v shift_register.v. Use the supplied complete Makefile so the surrounding test setup remains intact.</a:t>
            </a:r>
          </a:p>
          <a:p/>
          <a:p>
            <a:r>
              <a:t>In test/tb.v, the module instantiated as user_project must be tt_um_student_shift_register. The supplied tb.v already does this.</a:t>
            </a:r>
          </a:p>
          <a:p/>
          <a:p>
            <a:r>
              <a:t>Testbench = Simulation-only code that connects the design to its test. It is not manufactured.</a:t>
            </a:r>
          </a:p>
          <a:p/>
          <a:p>
            <a:r>
              <a:t>Check: All three top-module names match; both source lists contain both Verilog files.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7: 6. Tell both tools which files to use</a:t>
            </a:r>
          </a:p>
          <a:p/>
          <a:p>
            <a:r>
              <a:t>The layout builder and simulator read separate source lists. Both must find your core and wrapper. The top module is the outermost circuit the tools should build.</a:t>
            </a:r>
          </a:p>
          <a:p/>
          <a:p>
            <a:r>
              <a:t>In info.yaml, under project, use top_module: "tt_um_student_shift_register" and source_files: ["project.v", "shift_register.v"]. These filenames refer to files inside src.</a:t>
            </a:r>
          </a:p>
          <a:p/>
          <a:p>
            <a:r>
              <a:t>In test/Makefile, set PROJECT_SOURCES = project.v shift_register.v. Use the supplied complete Makefile so the surrounding test setup remains intact.</a:t>
            </a:r>
          </a:p>
          <a:p/>
          <a:p>
            <a:r>
              <a:t>In test/tb.v, the module instantiated as user_project must be tt_um_student_shift_register. The supplied tb.v already does this.</a:t>
            </a:r>
          </a:p>
          <a:p/>
          <a:p>
            <a:r>
              <a:t>Testbench = Simulation-only code that connects the design to its test. It is not manufactured.</a:t>
            </a:r>
          </a:p>
          <a:p/>
          <a:p>
            <a:r>
              <a:t>Check: All three top-module names match; both source lists contain both Verilog files.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8: 7. Describe the design and its clock</a:t>
            </a:r>
          </a:p>
          <a:p/>
          <a:p>
            <a:r>
              <a:t>The metadata identifies your project. The datasheet explains how someone can use its pins.</a:t>
            </a:r>
          </a:p>
          <a:p/>
          <a:p>
            <a:r>
              <a:t>Open the supplied info.yaml. Replace the example author with your name. Keep meaningful title and description text, language Verilog, and the pin labels that match page 5. Keep every required pin key.</a:t>
            </a:r>
          </a:p>
          <a:p/>
          <a:p>
            <a:r>
              <a:t>Open docs/info.md. Check its How it works, How to test and External hardware sections. It should say: reset clears on an edge; ui_in[1] enables shifting; ui_in[0] supplies the next bit.</a:t>
            </a:r>
          </a:p>
          <a:p/>
          <a:p>
            <a:r>
              <a:t>For the first exercise keep the supplied 50 MHz target and the current SKY configuration’s 20 ns clock period. The Python test uses 20 ns too. Metadata alone does not change the physical timing constraint.</a:t>
            </a:r>
          </a:p>
          <a:p/>
          <a:p>
            <a:r>
              <a:t>Metadata = Settings and descriptions about your project.</a:t>
            </a:r>
          </a:p>
          <a:p/>
          <a:p>
            <a:r>
              <a:t>50 MHz / 20 ns = 50 million clock cycles each second; one cycle lasts 20 nanoseconds.</a:t>
            </a:r>
          </a:p>
          <a:p/>
          <a:p>
            <a:r>
              <a:t>Check: My descriptions, pin map and clock settings agree with the actual design.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9: 8. Replace the example test with your test</a:t>
            </a:r>
          </a:p>
          <a:p/>
          <a:p>
            <a:r>
              <a:t>The template’s adder test cannot verify a shift register. Our Python test drives the wrapper’s pins and checks the output after clock edges.</a:t>
            </a:r>
          </a:p>
          <a:p/>
          <a:p>
            <a:r>
              <a:t>In the extracted folder, open test/test.py. Use this complete file to replace the template’s test/test.py. cocotb is the Python tool that talks to the Verilog simulator.</a:t>
            </a:r>
          </a:p>
          <a:p/>
          <a:p>
            <a:r>
              <a:t>Read the phases: reset, shift known bits, hold, shift more than eight bits so old data leaves, and reset while enable is 1. It also checks that unused outputs and bidirectional directions stay zero.</a:t>
            </a:r>
          </a:p>
          <a:p/>
          <a:p>
            <a:r>
              <a:t>For your own design, change the expected result rule and input sequence to match its written behaviour. Keep checks at the external ports so the same test can run on the gate-level circuit.</a:t>
            </a:r>
          </a:p>
          <a:p/>
          <a:p>
            <a:r>
              <a:t>Simulation = Running a model of the circuit before making hardware.</a:t>
            </a:r>
          </a:p>
          <a:p/>
          <a:p>
            <a:r>
              <a:t>Assertion = A check that stops the test when the observed result differs from the expected one.</a:t>
            </a:r>
          </a:p>
          <a:p/>
          <a:p>
            <a:r>
              <a:t>Pause and predict: After shifting 1 eight times from reset, what should the output be? What if enable then becomes 0?</a:t>
            </a:r>
          </a:p>
          <a:p/>
          <a:p>
            <a:r>
              <a:t>Answer: 11111111. With enable = 0 it stays 11111111, even when serial_in changes.</a:t>
            </a:r>
          </a:p>
          <a:p/>
          <a:p>
            <a:r>
              <a:t>Check: My test checks my circuit’s behaviour rather than the template’s example.</a:t>
            </a:r>
          </a:p>
          <a:p/>
          <a:p>
            <a:r>
              <a:t>Full code (test/test.py — expected-value rule):</a:t>
            </a:r>
          </a:p>
          <a:p/>
          <a:p>
            <a:r>
              <a:t># Shift the previous value and add the new bit.</a:t>
            </a:r>
          </a:p>
          <a:p>
            <a:r>
              <a:t>expected = ((expected &lt;&lt; 1) | bit) &amp; 0xFF</a:t>
            </a:r>
          </a:p>
          <a:p>
            <a:r>
              <a:t>assert await cycle(bit) == expected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9: 8. Replace the example test with your test</a:t>
            </a:r>
          </a:p>
          <a:p/>
          <a:p>
            <a:r>
              <a:t>The template’s adder test cannot verify a shift register. Our Python test drives the wrapper’s pins and checks the output after clock edges.</a:t>
            </a:r>
          </a:p>
          <a:p/>
          <a:p>
            <a:r>
              <a:t>In the extracted folder, open test/test.py. Use this complete file to replace the template’s test/test.py. cocotb is the Python tool that talks to the Verilog simulator.</a:t>
            </a:r>
          </a:p>
          <a:p/>
          <a:p>
            <a:r>
              <a:t>Read the phases: reset, shift known bits, hold, shift more than eight bits so old data leaves, and reset while enable is 1. It also checks that unused outputs and bidirectional directions stay zero.</a:t>
            </a:r>
          </a:p>
          <a:p/>
          <a:p>
            <a:r>
              <a:t>For your own design, change the expected result rule and input sequence to match its written behaviour. Keep checks at the external ports so the same test can run on the gate-level circuit.</a:t>
            </a:r>
          </a:p>
          <a:p/>
          <a:p>
            <a:r>
              <a:t>Simulation = Running a model of the circuit before making hardware.</a:t>
            </a:r>
          </a:p>
          <a:p/>
          <a:p>
            <a:r>
              <a:t>Assertion = A check that stops the test when the observed result differs from the expected one.</a:t>
            </a:r>
          </a:p>
          <a:p/>
          <a:p>
            <a:r>
              <a:t>Pause and predict: After shifting 1 eight times from reset, what should the output be? What if enable then becomes 0?</a:t>
            </a:r>
          </a:p>
          <a:p/>
          <a:p>
            <a:r>
              <a:t>Answer: 11111111. With enable = 0 it stays 11111111, even when serial_in changes.</a:t>
            </a:r>
          </a:p>
          <a:p/>
          <a:p>
            <a:r>
              <a:t>Check: My test checks my circuit’s behaviour rather than the template’s example.</a:t>
            </a:r>
          </a:p>
          <a:p/>
          <a:p>
            <a:r>
              <a:t>Full code (test/test.py — expected-value rule):</a:t>
            </a:r>
          </a:p>
          <a:p/>
          <a:p>
            <a:r>
              <a:t># Shift the previous value and add the new bit.</a:t>
            </a:r>
          </a:p>
          <a:p>
            <a:r>
              <a:t>expected = ((expected &lt;&lt; 1) | bit) &amp; 0xFF</a:t>
            </a:r>
          </a:p>
          <a:p>
            <a:r>
              <a:t>assert await cycle(bit) == expected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10: 9. Upload the complete seven-file adaptation</a:t>
            </a:r>
          </a:p>
          <a:p/>
          <a:p>
            <a:r>
              <a:t>Extract shift-register-starter.zip. Open its contents until you see info.yaml beside src, test and docs.</a:t>
            </a:r>
          </a:p>
          <a:p/>
          <a:p>
            <a:r>
              <a:t>In your own repository’s root, select Add file → Upload files. Drag info.yaml and the src, test and docs folders from INSIDE the extracted starter folder.</a:t>
            </a:r>
          </a:p>
          <a:p/>
          <a:p>
            <a:r>
              <a:t>Check the paths: src/shift_register.v, src/project.v, test/Makefile, test/tb.v, test/test.py, docs/info.md and info.yaml. There must be no extra starter-folder prefix.</a:t>
            </a:r>
          </a:p>
          <a:p/>
          <a:p>
            <a:r>
              <a:t>Enter Add shift register. For this personal practice repository choose Commit directly to main and save. A commit is a saved version. If GitHub requires a new branch, create a pull request and merge it into main. Check all seven files on main and note its commit identifier.</a:t>
            </a:r>
          </a:p>
          <a:p/>
          <a:p>
            <a:r>
              <a:t>Folder dragging is unavailable → Open each existing file, select the pencil, replace its contents and commit. For src/shift_register.v use Add file → Create new file inside src. Check workflows only after all seven files are saved.</a:t>
            </a:r>
          </a:p>
          <a:p/>
          <a:p>
            <a:r>
              <a:t>Check: All seven files are saved at the intended paths, and the template infrastructure is still present.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11: 10. Check that your shift register passes</a:t>
            </a:r>
          </a:p>
          <a:p/>
          <a:p>
            <a:r>
              <a:t>Each saved version can start checks. Open the run for the commit that contains your complete adaptation.</a:t>
            </a:r>
          </a:p>
          <a:p/>
          <a:p>
            <a:r>
              <a:t>Select Actions → test → the run for your final commit. Confirm its branch and commit identifier.</a:t>
            </a:r>
          </a:p>
          <a:p/>
          <a:p>
            <a:r>
              <a:t>Open the test job and expand Run tests. Read the final test summary: there must be no failures or errors. A green run from before your edit proves nothing about your new design.</a:t>
            </a:r>
          </a:p>
          <a:p/>
          <a:p>
            <a:r>
              <a:t>If it fails, open the first assertion or compilation error. Fix that cause and save a new commit. The help sheet on page 15 covers common causes.</a:t>
            </a:r>
          </a:p>
          <a:p/>
          <a:p>
            <a:r>
              <a:t>RTL test = A simulation of your Verilog source before it is converted into physical gates.</a:t>
            </a:r>
          </a:p>
          <a:p/>
          <a:p>
            <a:r>
              <a:t>Pause and predict: What does a passing test establish?</a:t>
            </a:r>
          </a:p>
          <a:p/>
          <a:p>
            <a:r>
              <a:t>Answer: The adapted circuit passed the cases and assertions you wrote. It does not prove every possible behaviour, timing corner or manufactured chip.</a:t>
            </a:r>
          </a:p>
          <a:p/>
          <a:p>
            <a:r>
              <a:t>Check: The RTL test passed for my exact final commit, with zero failures and errors.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11: 10. Check that your shift register passes</a:t>
            </a:r>
          </a:p>
          <a:p/>
          <a:p>
            <a:r>
              <a:t>Each saved version can start checks. Open the run for the commit that contains your complete adaptation.</a:t>
            </a:r>
          </a:p>
          <a:p/>
          <a:p>
            <a:r>
              <a:t>Select Actions → test → the run for your final commit. Confirm its branch and commit identifier.</a:t>
            </a:r>
          </a:p>
          <a:p/>
          <a:p>
            <a:r>
              <a:t>Open the test job and expand Run tests. Read the final test summary: there must be no failures or errors. A green run from before your edit proves nothing about your new design.</a:t>
            </a:r>
          </a:p>
          <a:p/>
          <a:p>
            <a:r>
              <a:t>If it fails, open the first assertion or compilation error. Fix that cause and save a new commit. The help sheet on page 15 covers common causes.</a:t>
            </a:r>
          </a:p>
          <a:p/>
          <a:p>
            <a:r>
              <a:t>RTL test = A simulation of your Verilog source before it is converted into physical gates.</a:t>
            </a:r>
          </a:p>
          <a:p/>
          <a:p>
            <a:r>
              <a:t>Pause and predict: What does a passing test establish?</a:t>
            </a:r>
          </a:p>
          <a:p/>
          <a:p>
            <a:r>
              <a:t>Answer: The adapted circuit passed the cases and assertions you wrote. It does not prove every possible behaviour, timing corner or manufactured chip.</a:t>
            </a:r>
          </a:p>
          <a:p/>
          <a:p>
            <a:r>
              <a:t>Check: The RTL test passed for my exact final commit, with zero failures and errors.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12: 11. Build, check and look at the layout</a:t>
            </a:r>
          </a:p>
          <a:p/>
          <a:p>
            <a:r>
              <a:t>The gds workflow turns Verilog into physical gates and wires. The docs workflow builds your datasheet. These run separately from the RTL test.</a:t>
            </a:r>
          </a:p>
          <a:p/>
          <a:p>
            <a:r>
              <a:t>Open the docs workflow for the same commit. Confirm it succeeds. On its Summary page, scroll to Artifacts and download PDF; extract it and open datasheet.pdf. Check its pin table.</a:t>
            </a:r>
          </a:p>
          <a:p/>
          <a:p>
            <a:r>
              <a:t>Open the gds workflow for that commit. Wait for the layout build, precheck, gate-level test and viewer jobs to complete successfully. Job labels can vary; open each job to see what ran.</a:t>
            </a:r>
          </a:p>
          <a:p/>
          <a:p>
            <a:r>
              <a:t>Open the published Pages/viewer link from the run or repository Deployments. Zoom into the layout. On the gds run’s Summary page, scroll to Artifacts: download tt_submission (layout package) and GDS_logs (reports). Artifact names may change in later templates.</a:t>
            </a:r>
          </a:p>
          <a:p/>
          <a:p>
            <a:r>
              <a:t>Artifact = A downloadable file produced by a workflow.</a:t>
            </a:r>
          </a:p>
          <a:p/>
          <a:p>
            <a:r>
              <a:t>Gate-level = The circuit represented by the actual logic cells chosen during the build.</a:t>
            </a:r>
          </a:p>
          <a:p/>
          <a:p>
            <a:r>
              <a:t>Check: RTL, docs and every required gds job passed for one commit; I can open its layout and artifacts.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12: 11. Build, check and look at the layout</a:t>
            </a:r>
          </a:p>
          <a:p/>
          <a:p>
            <a:r>
              <a:t>The gds workflow turns Verilog into physical gates and wires. The docs workflow builds your datasheet. These run separately from the RTL test.</a:t>
            </a:r>
          </a:p>
          <a:p/>
          <a:p>
            <a:r>
              <a:t>Open the docs workflow for the same commit. Confirm it succeeds. On its Summary page, scroll to Artifacts and download PDF; extract it and open datasheet.pdf. Check its pin table.</a:t>
            </a:r>
          </a:p>
          <a:p/>
          <a:p>
            <a:r>
              <a:t>Open the gds workflow for that commit. Wait for the layout build, precheck, gate-level test and viewer jobs to complete successfully. Job labels can vary; open each job to see what ran.</a:t>
            </a:r>
          </a:p>
          <a:p/>
          <a:p>
            <a:r>
              <a:t>Open the published Pages/viewer link from the run or repository Deployments. Zoom into the layout. On the gds run’s Summary page, scroll to Artifacts: download tt_submission (layout package) and GDS_logs (reports). Artifact names may change in later templates.</a:t>
            </a:r>
          </a:p>
          <a:p/>
          <a:p>
            <a:r>
              <a:t>Artifact = A downloadable file produced by a workflow.</a:t>
            </a:r>
          </a:p>
          <a:p/>
          <a:p>
            <a:r>
              <a:t>Gate-level = The circuit represented by the actual logic cells chosen during the build.</a:t>
            </a:r>
          </a:p>
          <a:p/>
          <a:p>
            <a:r>
              <a:t>Check: RTL, docs and every required gds job passed for one commit; I can open its layout and artifacts.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13: 12. See what changes for gate-level simulation</a:t>
            </a:r>
          </a:p>
          <a:p/>
          <a:p>
            <a:r>
              <a:t>Gate-Level Simulation (GLS) checks the circuit after the tools have converted your Verilog into logic cells. We run the same test at the same external pins.</a:t>
            </a:r>
          </a:p>
          <a:p/>
          <a:p>
            <a:r>
              <a:t>Keep test/test.py checking ui_in, rst_n and uo_out, as supplied. Internal names such as core.q can disappear when the circuit is built; the chip’s external ports remain the test interface.</a:t>
            </a:r>
          </a:p>
          <a:p/>
          <a:p>
            <a:r>
              <a:t>Keep the GL_TEST sections in the supplied test/tb.v. Gate-level cells need power connections: VPWR is tied to 1 and VGND to 0 in the simulation fixture.</a:t>
            </a:r>
          </a:p>
          <a:p/>
          <a:p>
            <a:r>
              <a:t>The gds workflow’s gl_test job downloads the generated netlist and matching SKY130 cell models. It selects the Makefile’s gate-level branch with GATES=yes. The cloud job supplies these dependencies; no local setup is needed.</a:t>
            </a:r>
          </a:p>
          <a:p/>
          <a:p>
            <a:r>
              <a:t>Netlist = A generated description of logic cells and the wires joining them.</a:t>
            </a:r>
          </a:p>
          <a:p/>
          <a:p>
            <a:r>
              <a:t>Check: My test uses the wrapper ports, and the supplied fixture and gate-level Makefile branch are intact.</a:t>
            </a:r>
          </a:p>
          <a:p/>
          <a:p>
            <a:r>
              <a:t>Official SKY gate-level test action: https://github.com/TinyTapeout/tt-gds-action/blob/ttsky26d/gl_test/action.yml</a:t>
            </a:r>
          </a:p>
          <a:p/>
          <a:p>
            <a:r>
              <a:t>Full code (test/tb.v — preserve this conditional connection):</a:t>
            </a:r>
          </a:p>
          <a:p/>
          <a:p>
            <a:r>
              <a:t>`ifdef GL_TEST</a:t>
            </a:r>
          </a:p>
          <a:p>
            <a:r>
              <a:t>    .VPWR(VPWR),</a:t>
            </a:r>
          </a:p>
          <a:p>
            <a:r>
              <a:t>    .VGND(VGND),</a:t>
            </a:r>
          </a:p>
          <a:p>
            <a:r>
              <a:t>`endif</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13: 12. See what changes for gate-level simulation</a:t>
            </a:r>
          </a:p>
          <a:p/>
          <a:p>
            <a:r>
              <a:t>Gate-Level Simulation (GLS) checks the circuit after the tools have converted your Verilog into logic cells. We run the same test at the same external pins.</a:t>
            </a:r>
          </a:p>
          <a:p/>
          <a:p>
            <a:r>
              <a:t>Keep test/test.py checking ui_in, rst_n and uo_out, as supplied. Internal names such as core.q can disappear when the circuit is built; the chip’s external ports remain the test interface.</a:t>
            </a:r>
          </a:p>
          <a:p/>
          <a:p>
            <a:r>
              <a:t>Keep the GL_TEST sections in the supplied test/tb.v. Gate-level cells need power connections: VPWR is tied to 1 and VGND to 0 in the simulation fixture.</a:t>
            </a:r>
          </a:p>
          <a:p/>
          <a:p>
            <a:r>
              <a:t>The gds workflow’s gl_test job downloads the generated netlist and matching SKY130 cell models. It selects the Makefile’s gate-level branch with GATES=yes. The cloud job supplies these dependencies; no local setup is needed.</a:t>
            </a:r>
          </a:p>
          <a:p/>
          <a:p>
            <a:r>
              <a:t>Netlist = A generated description of logic cells and the wires joining them.</a:t>
            </a:r>
          </a:p>
          <a:p/>
          <a:p>
            <a:r>
              <a:t>Check: My test uses the wrapper ports, and the supplied fixture and gate-level Makefile branch are intact.</a:t>
            </a:r>
          </a:p>
          <a:p/>
          <a:p>
            <a:r>
              <a:t>Official SKY gate-level test action: https://github.com/TinyTapeout/tt-gds-action/blob/ttsky26d/gl_test/action.yml</a:t>
            </a:r>
          </a:p>
          <a:p/>
          <a:p>
            <a:r>
              <a:t>Full code (test/tb.v — preserve this conditional connection):</a:t>
            </a:r>
          </a:p>
          <a:p/>
          <a:p>
            <a:r>
              <a:t>`ifdef GL_TEST</a:t>
            </a:r>
          </a:p>
          <a:p>
            <a:r>
              <a:t>    .VPWR(VPWR),</a:t>
            </a:r>
          </a:p>
          <a:p>
            <a:r>
              <a:t>    .VGND(VGND),</a:t>
            </a:r>
          </a:p>
          <a:p>
            <a:r>
              <a:t>`endif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14: 13. Open the GLS job and check its evidence</a:t>
            </a:r>
          </a:p>
          <a:p/>
          <a:p>
            <a:r>
              <a:t>The template starts GLS automatically after the GDS build succeeds. A successful RTL test and a successful GDS build do not replace this separate test.</a:t>
            </a:r>
          </a:p>
          <a:p/>
          <a:p>
            <a:r>
              <a:t>Open Actions → gds → the run for your complete commit. Select gl_test in Jobs. If it is waiting, let gds finish; if it was skipped, inspect the failed build first.</a:t>
            </a:r>
          </a:p>
          <a:p/>
          <a:p>
            <a:r>
              <a:t>Expand GL test, then Run tests. Read the cocotb summary. Expect PASS with zero failed tests. For this supplied test, the summary should report TESTS=1, PASS=1, FAIL=0. The whole gl_test job must also finish successfully.</a:t>
            </a:r>
          </a:p>
          <a:p/>
          <a:p>
            <a:r>
              <a:t>Return to the run’s Summary page. Under Artifacts, download gatelevel_test_results. Extract it and open results.xml with a text editor: check for test results with no failure or error entries. Keep the supplied tb.fst or tb.vcd waveform too.</a:t>
            </a:r>
          </a:p>
          <a:p/>
          <a:p>
            <a:r>
              <a:t>RTL passes, but GLS fails → Read the first failed assertion. Check reset, the three top-module names and GL_TEST power connections. If necessary inspect the downloaded waveform at the failing time. Compare the same external pins and expected values used by the RTL test.</a:t>
            </a:r>
          </a:p>
          <a:p/>
          <a:p>
            <a:r>
              <a:t>Pause and predict: Does this GLS result prove that every timing requirement is met?</a:t>
            </a:r>
          </a:p>
          <a:p/>
          <a:p>
            <a:r>
              <a:t>Answer: No. This is a functional gate-level test. Inspect the build’s separate timing reports as well; this walkthrough does not run an SDF timing-annotated simulation.</a:t>
            </a:r>
          </a:p>
          <a:p/>
          <a:p>
            <a:r>
              <a:t>Check: The gl_test job passed for the same commit; I saved its results XML and waveform.</a:t>
            </a:r>
          </a:p>
          <a:p/>
          <a:p>
            <a:r>
              <a:t>Open the genuine counter GLS example: https://github.com/mdkamrulislam-web/tt-sky130-counter/actions/runs/37693100748/job/113039438023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14: 13. Open the GLS job and check its evidence</a:t>
            </a:r>
          </a:p>
          <a:p/>
          <a:p>
            <a:r>
              <a:t>The template starts GLS automatically after the GDS build succeeds. A successful RTL test and a successful GDS build do not replace this separate test.</a:t>
            </a:r>
          </a:p>
          <a:p/>
          <a:p>
            <a:r>
              <a:t>Open Actions → gds → the run for your complete commit. Select gl_test in Jobs. If it is waiting, let gds finish; if it was skipped, inspect the failed build first.</a:t>
            </a:r>
          </a:p>
          <a:p/>
          <a:p>
            <a:r>
              <a:t>Expand GL test, then Run tests. Read the cocotb summary. Expect PASS with zero failed tests. For this supplied test, the summary should report TESTS=1, PASS=1, FAIL=0. The whole gl_test job must also finish successfully.</a:t>
            </a:r>
          </a:p>
          <a:p/>
          <a:p>
            <a:r>
              <a:t>Return to the run’s Summary page. Under Artifacts, download gatelevel_test_results. Extract it and open results.xml with a text editor: check for test results with no failure or error entries. Keep the supplied tb.fst or tb.vcd waveform too.</a:t>
            </a:r>
          </a:p>
          <a:p/>
          <a:p>
            <a:r>
              <a:t>RTL passes, but GLS fails → Read the first failed assertion. Check reset, the three top-module names and GL_TEST power connections. If necessary inspect the downloaded waveform at the failing time. Compare the same external pins and expected values used by the RTL test.</a:t>
            </a:r>
          </a:p>
          <a:p/>
          <a:p>
            <a:r>
              <a:t>Pause and predict: Does this GLS result prove that every timing requirement is met?</a:t>
            </a:r>
          </a:p>
          <a:p/>
          <a:p>
            <a:r>
              <a:t>Answer: No. This is a functional gate-level test. Inspect the build’s separate timing reports as well; this walkthrough does not run an SDF timing-annotated simulation.</a:t>
            </a:r>
          </a:p>
          <a:p/>
          <a:p>
            <a:r>
              <a:t>Check: The gl_test job passed for the same commit; I saved its results XML and waveform.</a:t>
            </a:r>
          </a:p>
          <a:p/>
          <a:p>
            <a:r>
              <a:t>Open the genuine counter GLS example: https://github.com/mdkamrulislam-web/tt-sky130-counter/actions/runs/37693100748/job/113039438023</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15: 14. Keep your result and use the guide again</a:t>
            </a:r>
          </a:p>
          <a:p/>
          <a:p>
            <a:r>
              <a:t>You have finished this exercise when your adapted circuit is tested and its checked layout is archived. Fabrication is a separate later step.</a:t>
            </a:r>
          </a:p>
          <a:p/>
          <a:p>
            <a:r>
              <a:t>Save the repository URL, commit identifier, test/gds/docs run links, downloaded GDS/reports and datasheet together. Match every item to the same commit.</a:t>
            </a:r>
          </a:p>
          <a:p/>
          <a:p>
            <a:r>
              <a:t>Use the checklist: pin map agrees; three names agree; two source lists agree; RTL and GLS pass; docs pass; all required gds jobs pass; layout and evidence are saved.</a:t>
            </a:r>
          </a:p>
          <a:p/>
          <a:p>
            <a:r>
              <a:t>For another existing Verilog design, reuse this route: describe its behaviour, map its pins, wrap it, list its sources and write its tests. For an approved fabrication submission, choose the matching shuttle and follow the submission app’s current checks.</a:t>
            </a:r>
          </a:p>
          <a:p/>
          <a:p>
            <a:r>
              <a:t>Unknown module / file not found → Page 7: check both source lists, filename case and the three top-module names.</a:t>
            </a:r>
          </a:p>
          <a:p/>
          <a:p>
            <a:r>
              <a:t>Reset or shift assertion fails → Pages 5 and 9: check reset polarity, ui_in bit numbers, shift direction and expected values.</a:t>
            </a:r>
          </a:p>
          <a:p/>
          <a:p>
            <a:r>
              <a:t>docs fails → Page 8: complete title/author/description and the three datasheet sections; preserve YAML indentation and pin keys.</a:t>
            </a:r>
          </a:p>
          <a:p/>
          <a:p>
            <a:r>
              <a:t>Viewer fails but layout succeeds → Page 4: set Pages Source to GitHub Actions. Follow the linked FAQ’s rerun procedure.</a:t>
            </a:r>
          </a:p>
          <a:p/>
          <a:p>
            <a:r>
              <a:t>Layout build or gate-level test fails → Open the first failing job’s log. Read synthesis/timing/geometry warnings. Correct the cause; unchanged reruns will not repair the design.</a:t>
            </a:r>
          </a:p>
          <a:p/>
          <a:p>
            <a:r>
              <a:t>Check: I have saved a checked layout package for one identifiable commit.</a:t>
            </a:r>
          </a:p>
          <a:p/>
          <a:p>
            <a:r>
              <a:t>Submission app — later, after approval: https://app.tinytapeout.com/</a:t>
            </a:r>
          </a:p>
          <a:p/>
          <a:p>
            <a:r>
              <a:t>Official test guidance: https://tinytapeout.com/hdl/testing/</a:t>
            </a:r>
          </a:p>
          <a:p/>
          <a:p>
            <a:r>
              <a:t>Workflow and viewer help: https://tinytapeout.com/faq/</a:t>
            </a:r>
          </a:p>
          <a:p/>
          <a:p>
            <a:r>
              <a:t>Creating repositories from templates: https://docs.github.com/en/repositories/creating-and-managing-repositories/creating-a-repository-from-a-template</a:t>
            </a:r>
          </a:p>
          <a:p/>
          <a:p>
            <a:r>
              <a:t>Uploading files: https://docs.github.com/en/repositories/working-with-files/managing-files/adding-a-file-to-a-repository</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Guide page 15: 14. Keep your result and use the guide again</a:t>
            </a:r>
          </a:p>
          <a:p/>
          <a:p>
            <a:r>
              <a:t>You have finished this exercise when your adapted circuit is tested and its checked layout is archived. Fabrication is a separate later step.</a:t>
            </a:r>
          </a:p>
          <a:p/>
          <a:p>
            <a:r>
              <a:t>Save the repository URL, commit identifier, test/gds/docs run links, downloaded GDS/reports and datasheet together. Match every item to the same commit.</a:t>
            </a:r>
          </a:p>
          <a:p/>
          <a:p>
            <a:r>
              <a:t>Use the checklist: pin map agrees; three names agree; two source lists agree; RTL and GLS pass; docs pass; all required gds jobs pass; layout and evidence are saved.</a:t>
            </a:r>
          </a:p>
          <a:p/>
          <a:p>
            <a:r>
              <a:t>For another existing Verilog design, reuse this route: describe its behaviour, map its pins, wrap it, list its sources and write its tests. For an approved fabrication submission, choose the matching shuttle and follow the submission app’s current checks.</a:t>
            </a:r>
          </a:p>
          <a:p/>
          <a:p>
            <a:r>
              <a:t>Unknown module / file not found → Page 7: check both source lists, filename case and the three top-module names.</a:t>
            </a:r>
          </a:p>
          <a:p/>
          <a:p>
            <a:r>
              <a:t>Reset or shift assertion fails → Pages 5 and 9: check reset polarity, ui_in bit numbers, shift direction and expected values.</a:t>
            </a:r>
          </a:p>
          <a:p/>
          <a:p>
            <a:r>
              <a:t>docs fails → Page 8: complete title/author/description and the three datasheet sections; preserve YAML indentation and pin keys.</a:t>
            </a:r>
          </a:p>
          <a:p/>
          <a:p>
            <a:r>
              <a:t>Viewer fails but layout succeeds → Page 4: set Pages Source to GitHub Actions. Follow the linked FAQ’s rerun procedure.</a:t>
            </a:r>
          </a:p>
          <a:p/>
          <a:p>
            <a:r>
              <a:t>Layout build or gate-level test fails → Open the first failing job’s log. Read synthesis/timing/geometry warnings. Correct the cause; unchanged reruns will not repair the design.</a:t>
            </a:r>
          </a:p>
          <a:p/>
          <a:p>
            <a:r>
              <a:t>Check: I have saved a checked layout package for one identifiable commit.</a:t>
            </a:r>
          </a:p>
          <a:p/>
          <a:p>
            <a:r>
              <a:t>Submission app — later, after approval: https://app.tinytapeout.com/</a:t>
            </a:r>
          </a:p>
          <a:p/>
          <a:p>
            <a:r>
              <a:t>Official test guidance: https://tinytapeout.com/hdl/testing/</a:t>
            </a:r>
          </a:p>
          <a:p/>
          <a:p>
            <a:r>
              <a:t>Workflow and viewer help: https://tinytapeout.com/faq/</a:t>
            </a:r>
          </a:p>
          <a:p/>
          <a:p>
            <a:r>
              <a:t>Creating repositories from templates: https://docs.github.com/en/repositories/creating-and-managing-repositories/creating-a-repository-from-a-template</a:t>
            </a:r>
          </a:p>
          <a:p/>
          <a:p>
            <a:r>
              <a:t>Uploading files: https://docs.github.com/en/repositories/working-with-files/managing-files/adding-a-file-to-a-repository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signup"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hdl/templates/" TargetMode="External"/><Relationship Id="rId3" Type="http://schemas.openxmlformats.org/officeDocument/2006/relationships/notesSlide" Target="../notesSlides/notesSlide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faq/#my-github-action-is-failing-on-the-pages-part" TargetMode="External"/><Relationship Id="rId3" Type="http://schemas.openxmlformats.org/officeDocument/2006/relationships/notesSlide" Target="../notesSlides/notesSlide5.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inytapeout.com/hdl/important/"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gds-action/blob/ttsky26d/gl_test/action.yml"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inyTapeout/tt-gds-action/blob/ttsky26d/gl_test/action.yml"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job/113039438023" TargetMode="External"/><Relationship Id="rId3" Type="http://schemas.openxmlformats.org/officeDocument/2006/relationships/notesSlide" Target="../notesSlides/notesSlide21.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dkamrulislam-web/tt-sky130-counter/actions/runs/37693100748/job/113039438023"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tinytapeout.com/"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pp.tinytapeout.com/" TargetMode="External"/><Relationship Id="rId3"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START HERE</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Your Verilog → a checked chip layout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Bring your working Verilog design. Leave with a tested Tiny Tapeout layout.</a:t>
            </a:r>
          </a:p>
        </p:txBody>
      </p:sp>
      <p:sp>
        <p:nvSpPr>
          <p:cNvPr id="9" name="Rounded Rectangle 8"/>
          <p:cNvSpPr/>
          <p:nvPr/>
        </p:nvSpPr>
        <p:spPr>
          <a:xfrm>
            <a:off x="530352"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Your Verilog</a:t>
            </a:r>
          </a:p>
        </p:txBody>
      </p:sp>
      <p:sp>
        <p:nvSpPr>
          <p:cNvPr id="11" name="TextBox 10"/>
          <p:cNvSpPr txBox="1"/>
          <p:nvPr/>
        </p:nvSpPr>
        <p:spPr>
          <a:xfrm>
            <a:off x="640080"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existing design</a:t>
            </a:r>
          </a:p>
        </p:txBody>
      </p:sp>
      <p:sp>
        <p:nvSpPr>
          <p:cNvPr id="12" name="Right Arrow 11"/>
          <p:cNvSpPr/>
          <p:nvPr/>
        </p:nvSpPr>
        <p:spPr>
          <a:xfrm>
            <a:off x="2615184"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2779776"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89504"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Connect pins</a:t>
            </a:r>
          </a:p>
        </p:txBody>
      </p:sp>
      <p:sp>
        <p:nvSpPr>
          <p:cNvPr id="15" name="TextBox 14"/>
          <p:cNvSpPr txBox="1"/>
          <p:nvPr/>
        </p:nvSpPr>
        <p:spPr>
          <a:xfrm>
            <a:off x="2889504"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Tiny Tapeout wrapper</a:t>
            </a:r>
          </a:p>
        </p:txBody>
      </p:sp>
      <p:sp>
        <p:nvSpPr>
          <p:cNvPr id="16" name="Right Arrow 15"/>
          <p:cNvSpPr/>
          <p:nvPr/>
        </p:nvSpPr>
        <p:spPr>
          <a:xfrm>
            <a:off x="4864607"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0"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38928"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Test</a:t>
            </a:r>
          </a:p>
        </p:txBody>
      </p:sp>
      <p:sp>
        <p:nvSpPr>
          <p:cNvPr id="19" name="TextBox 18"/>
          <p:cNvSpPr txBox="1"/>
          <p:nvPr/>
        </p:nvSpPr>
        <p:spPr>
          <a:xfrm>
            <a:off x="5138928"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check the behaviour</a:t>
            </a:r>
          </a:p>
        </p:txBody>
      </p:sp>
      <p:sp>
        <p:nvSpPr>
          <p:cNvPr id="20" name="Right Arrow 19"/>
          <p:cNvSpPr/>
          <p:nvPr/>
        </p:nvSpPr>
        <p:spPr>
          <a:xfrm>
            <a:off x="7114031"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278624"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88352"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Build layout</a:t>
            </a:r>
          </a:p>
        </p:txBody>
      </p:sp>
      <p:sp>
        <p:nvSpPr>
          <p:cNvPr id="23" name="TextBox 22"/>
          <p:cNvSpPr txBox="1"/>
          <p:nvPr/>
        </p:nvSpPr>
        <p:spPr>
          <a:xfrm>
            <a:off x="7388352"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GDS + checks</a:t>
            </a:r>
          </a:p>
        </p:txBody>
      </p:sp>
      <p:sp>
        <p:nvSpPr>
          <p:cNvPr id="24" name="Right Arrow 23"/>
          <p:cNvSpPr/>
          <p:nvPr/>
        </p:nvSpPr>
        <p:spPr>
          <a:xfrm>
            <a:off x="9363455" y="3195828"/>
            <a:ext cx="14630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528048" y="2606040"/>
            <a:ext cx="2066543" cy="130759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37776" y="2770632"/>
            <a:ext cx="1847087" cy="548640"/>
          </a:xfrm>
          <a:prstGeom prst="rect">
            <a:avLst/>
          </a:prstGeom>
          <a:noFill/>
        </p:spPr>
        <p:txBody>
          <a:bodyPr wrap="square" lIns="0" rIns="0" tIns="0" bIns="0" anchor="t">
            <a:spAutoFit/>
          </a:bodyPr>
          <a:lstStyle/>
          <a:p>
            <a:pPr>
              <a:spcAft>
                <a:spcPts val="800"/>
              </a:spcAft>
              <a:defRPr sz="1900" b="1">
                <a:solidFill>
                  <a:srgbClr val="16324F"/>
                </a:solidFill>
                <a:latin typeface="Calibri"/>
              </a:defRPr>
            </a:pPr>
            <a:r>
              <a:t>Save evidence</a:t>
            </a:r>
          </a:p>
        </p:txBody>
      </p:sp>
      <p:sp>
        <p:nvSpPr>
          <p:cNvPr id="27" name="TextBox 26"/>
          <p:cNvSpPr txBox="1"/>
          <p:nvPr/>
        </p:nvSpPr>
        <p:spPr>
          <a:xfrm>
            <a:off x="9637776" y="3374136"/>
            <a:ext cx="1847087" cy="484631"/>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ready for review</a:t>
            </a:r>
          </a:p>
        </p:txBody>
      </p:sp>
      <p:sp>
        <p:nvSpPr>
          <p:cNvPr id="28" name="TextBox 27"/>
          <p:cNvSpPr txBox="1"/>
          <p:nvPr/>
        </p:nvSpPr>
        <p:spPr>
          <a:xfrm>
            <a:off x="530352" y="3945636"/>
            <a:ext cx="11064240" cy="219456"/>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Recommended learning order • test, docs and gds workflows start independently.</a:t>
            </a:r>
          </a:p>
        </p:txBody>
      </p:sp>
      <p:sp>
        <p:nvSpPr>
          <p:cNvPr id="29" name="TextBox 28"/>
          <p:cNvSpPr txBox="1"/>
          <p:nvPr/>
        </p:nvSpPr>
        <p:spPr>
          <a:xfrm>
            <a:off x="566928" y="415137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30" name="TextBox 29"/>
          <p:cNvSpPr txBox="1"/>
          <p:nvPr/>
        </p:nvSpPr>
        <p:spPr>
          <a:xfrm>
            <a:off x="1042416" y="4151376"/>
            <a:ext cx="10497312" cy="62843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Local checkout: open root src/ and test/. For a new template repository, use the starter ZIP.</a:t>
            </a:r>
          </a:p>
        </p:txBody>
      </p:sp>
      <p:sp>
        <p:nvSpPr>
          <p:cNvPr id="31" name="TextBox 30"/>
          <p:cNvSpPr txBox="1"/>
          <p:nvPr/>
        </p:nvSpPr>
        <p:spPr>
          <a:xfrm>
            <a:off x="566928" y="488953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32" name="TextBox 31"/>
          <p:cNvSpPr txBox="1"/>
          <p:nvPr/>
        </p:nvSpPr>
        <p:spPr>
          <a:xfrm>
            <a:off x="1042416" y="4889536"/>
            <a:ext cx="10497312" cy="432271"/>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Follow guide pages 2–14, including GLS. Tick each checkpoint.</a:t>
            </a:r>
          </a:p>
        </p:txBody>
      </p:sp>
      <p:sp>
        <p:nvSpPr>
          <p:cNvPr id="33" name="Rounded Rectangle 32"/>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35" name="TextBox 34"/>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opened the guide, signed in to GitHub and found the starter ZIP.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KEEP YOUR CIRCUIT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 Start with the design you already have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Eight stored bits. One input bit. One clock edge at a time.</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89392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Extract the starter ZIP. Open src/shift_register.v.</a:t>
            </a:r>
          </a:p>
        </p:txBody>
      </p:sp>
      <p:sp>
        <p:nvSpPr>
          <p:cNvPr id="10" name="TextBox 9"/>
          <p:cNvSpPr txBox="1"/>
          <p:nvPr/>
        </p:nvSpPr>
        <p:spPr>
          <a:xfrm>
            <a:off x="548640" y="360969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609693"/>
            <a:ext cx="4480560" cy="75616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Reset clears; enable shifts; otherwise hold.</a:t>
            </a:r>
          </a:p>
        </p:txBody>
      </p:sp>
      <p:sp>
        <p:nvSpPr>
          <p:cNvPr id="12" name="TextBox 11"/>
          <p:cNvSpPr txBox="1"/>
          <p:nvPr/>
        </p:nvSpPr>
        <p:spPr>
          <a:xfrm>
            <a:off x="548640" y="447559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75590"/>
            <a:ext cx="4480560" cy="73648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Shift 1, 0, 1 in the HTML clock experiment.</a:t>
            </a:r>
          </a:p>
        </p:txBody>
      </p:sp>
      <p:sp>
        <p:nvSpPr>
          <p:cNvPr id="14" name="Rounded Rectangle 13"/>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src/shift_register.v</a:t>
            </a:r>
          </a:p>
        </p:txBody>
      </p:sp>
      <p:sp>
        <p:nvSpPr>
          <p:cNvPr id="16" name="TextBox 15"/>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always @(posedge clk) begin</a:t>
            </a:r>
          </a:p>
          <a:p>
            <a:pPr>
              <a:spcAft>
                <a:spcPts val="0"/>
              </a:spcAft>
              <a:defRPr sz="1400" b="0">
                <a:solidFill>
                  <a:srgbClr val="24384B"/>
                </a:solidFill>
                <a:latin typeface="Consolas"/>
              </a:defRPr>
            </a:pPr>
            <a:r>
              <a:t>        if (rst)</a:t>
            </a:r>
          </a:p>
          <a:p>
            <a:pPr>
              <a:spcAft>
                <a:spcPts val="0"/>
              </a:spcAft>
              <a:defRPr sz="1400" b="0">
                <a:solidFill>
                  <a:srgbClr val="24384B"/>
                </a:solidFill>
                <a:latin typeface="Consolas"/>
              </a:defRPr>
            </a:pPr>
            <a:r>
              <a:t>            q &lt;= 8'b00000000;</a:t>
            </a:r>
          </a:p>
          <a:p>
            <a:pPr>
              <a:spcAft>
                <a:spcPts val="0"/>
              </a:spcAft>
              <a:defRPr sz="1400" b="0">
                <a:solidFill>
                  <a:srgbClr val="24384B"/>
                </a:solidFill>
                <a:latin typeface="Consolas"/>
              </a:defRPr>
            </a:pPr>
            <a:r>
              <a:t>        else if (enable)</a:t>
            </a:r>
          </a:p>
          <a:p>
            <a:pPr>
              <a:spcAft>
                <a:spcPts val="0"/>
              </a:spcAft>
              <a:defRPr sz="1400" b="0">
                <a:solidFill>
                  <a:srgbClr val="24384B"/>
                </a:solidFill>
                <a:latin typeface="Consolas"/>
              </a:defRPr>
            </a:pPr>
            <a:r>
              <a:t>            q &lt;= {q[6:0], serial_in};</a:t>
            </a:r>
          </a:p>
          <a:p>
            <a:pPr>
              <a:spcAft>
                <a:spcPts val="0"/>
              </a:spcAft>
              <a:defRPr sz="1400" b="0">
                <a:solidFill>
                  <a:srgbClr val="24384B"/>
                </a:solidFill>
                <a:latin typeface="Consolas"/>
              </a:defRPr>
            </a:pPr>
            <a:r>
              <a:t>    end</a:t>
            </a:r>
          </a:p>
          <a:p>
            <a:pPr>
              <a:spcAft>
                <a:spcPts val="0"/>
              </a:spcAft>
              <a:defRPr sz="1400" b="0">
                <a:solidFill>
                  <a:srgbClr val="24384B"/>
                </a:solidFill>
                <a:latin typeface="Consolas"/>
              </a:defRPr>
            </a:pPr>
            <a:r>
              <a:t>endmodule</a:t>
            </a:r>
          </a:p>
        </p:txBody>
      </p:sp>
      <p:sp>
        <p:nvSpPr>
          <p:cNvPr id="17" name="TextBox 16"/>
          <p:cNvSpPr txBox="1"/>
          <p:nvPr/>
        </p:nvSpPr>
        <p:spPr>
          <a:xfrm>
            <a:off x="5916168" y="5093208"/>
            <a:ext cx="5568696" cy="237744"/>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Excerpt • full file in the guide and example download</a:t>
            </a:r>
          </a:p>
        </p:txBody>
      </p:sp>
      <p:sp>
        <p:nvSpPr>
          <p:cNvPr id="18" name="Rounded Rectangle 1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0" name="TextBox 1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know my circuit’s reset polarity, shift direction and enable behaviour.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KEEP YOUR CIRCUIT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 Start with the design you already have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3</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Starting at 00000000, what do inputs 1, 0, 1 produce after three enabled edges?</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00000001 → 00000010 → 00000101. A disabled edge keeps 00000101.</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know my circuit’s reset polarity, shift direction and enable behaviour.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GITHUB</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2. Make your own Tiny Tapeout project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4</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Make your own copy of the official SKY Verilog template.</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19337"/>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TinyTapeout/ttsky-verilog-template.</a:t>
            </a:r>
          </a:p>
        </p:txBody>
      </p:sp>
      <p:sp>
        <p:nvSpPr>
          <p:cNvPr id="11" name="TextBox 10"/>
          <p:cNvSpPr txBox="1"/>
          <p:nvPr/>
        </p:nvSpPr>
        <p:spPr>
          <a:xfrm>
            <a:off x="548640" y="3335105"/>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335105"/>
            <a:ext cx="4480560" cy="69224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Use this template → Create a new repository.</a:t>
            </a:r>
          </a:p>
        </p:txBody>
      </p:sp>
      <p:sp>
        <p:nvSpPr>
          <p:cNvPr id="13" name="TextBox 12"/>
          <p:cNvSpPr txBox="1"/>
          <p:nvPr/>
        </p:nvSpPr>
        <p:spPr>
          <a:xfrm>
            <a:off x="548640" y="4137076"/>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137076"/>
            <a:ext cx="4480560" cy="107500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Choose your account. Name: tt-shift-register. Visibility: Public.</a:t>
            </a:r>
          </a:p>
        </p:txBody>
      </p:sp>
      <p:pic>
        <p:nvPicPr>
          <p:cNvPr id="15" name="Picture 14" descr="template-menu.png"/>
          <p:cNvPicPr>
            <a:picLocks noChangeAspect="1"/>
          </p:cNvPicPr>
          <p:nvPr/>
        </p:nvPicPr>
        <p:blipFill>
          <a:blip r:embed="rId4"/>
          <a:stretch>
            <a:fillRect/>
          </a:stretch>
        </p:blipFill>
        <p:spPr>
          <a:xfrm>
            <a:off x="5938189" y="2606040"/>
            <a:ext cx="5497221" cy="2322576"/>
          </a:xfrm>
          <a:prstGeom prst="rect">
            <a:avLst/>
          </a:prstGeom>
        </p:spPr>
      </p:pic>
      <p:sp>
        <p:nvSpPr>
          <p:cNvPr id="16" name="TextBox 15"/>
          <p:cNvSpPr txBox="1"/>
          <p:nvPr/>
        </p:nvSpPr>
        <p:spPr>
          <a:xfrm>
            <a:off x="5760720" y="5038344"/>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GitHub’s official screenshot shows the template menu. Use this control on the SKY template page.</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repository belongs to my account and contains src, test, docs and info.yaml.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SETTINGS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3. Turn on the build and results page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4</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5</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Actions runs your tools. Pages shows the layout.</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7745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Actions. Enable workflows if asked.</a:t>
            </a:r>
          </a:p>
        </p:txBody>
      </p:sp>
      <p:sp>
        <p:nvSpPr>
          <p:cNvPr id="11" name="TextBox 10"/>
          <p:cNvSpPr txBox="1"/>
          <p:nvPr/>
        </p:nvSpPr>
        <p:spPr>
          <a:xfrm>
            <a:off x="548640" y="339321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393219"/>
            <a:ext cx="4480560" cy="71681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Settings → Pages → Source: GitHub Actions.</a:t>
            </a:r>
          </a:p>
        </p:txBody>
      </p:sp>
      <p:sp>
        <p:nvSpPr>
          <p:cNvPr id="13" name="TextBox 12"/>
          <p:cNvSpPr txBox="1"/>
          <p:nvPr/>
        </p:nvSpPr>
        <p:spPr>
          <a:xfrm>
            <a:off x="548640" y="4219757"/>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219757"/>
            <a:ext cx="4480560" cy="992322"/>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.github, src/config.json and test/requirements.txt.</a:t>
            </a:r>
          </a:p>
        </p:txBody>
      </p:sp>
      <p:pic>
        <p:nvPicPr>
          <p:cNvPr id="15" name="Picture 14" descr="pages-numbered.png"/>
          <p:cNvPicPr>
            <a:picLocks noChangeAspect="1"/>
          </p:cNvPicPr>
          <p:nvPr/>
        </p:nvPicPr>
        <p:blipFill>
          <a:blip r:embed="rId4"/>
          <a:stretch>
            <a:fillRect/>
          </a:stretch>
        </p:blipFill>
        <p:spPr>
          <a:xfrm>
            <a:off x="6205866" y="2606040"/>
            <a:ext cx="4961866" cy="2322576"/>
          </a:xfrm>
          <a:prstGeom prst="rect">
            <a:avLst/>
          </a:prstGeom>
        </p:spPr>
      </p:pic>
      <p:sp>
        <p:nvSpPr>
          <p:cNvPr id="16" name="TextBox 15"/>
          <p:cNvSpPr txBox="1"/>
          <p:nvPr/>
        </p:nvSpPr>
        <p:spPr>
          <a:xfrm>
            <a:off x="5760720" y="5038344"/>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1 Settings → 2 Pages → 3 GitHub Actions. Official FAQ screenshot; step 2 annotation added.</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Actions is available and Pages → Source says GitHub Actions.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THE IMPORTANT ADAPTATION</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4. Plan how your signals reach the chip pins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5</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6</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A wrapper connects your signal names to Tiny Tapeout’s fixed ports.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72197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ui_in[0] → serial input. ui_in[1] → shift enable.</a:t>
            </a:r>
          </a:p>
        </p:txBody>
      </p:sp>
      <p:sp>
        <p:nvSpPr>
          <p:cNvPr id="10" name="TextBox 9"/>
          <p:cNvSpPr txBox="1"/>
          <p:nvPr/>
        </p:nvSpPr>
        <p:spPr>
          <a:xfrm>
            <a:off x="548640" y="343774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437743"/>
            <a:ext cx="4480560" cy="925658"/>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Clock connects directly. Invert rst_n to make the core reset.</a:t>
            </a:r>
          </a:p>
        </p:txBody>
      </p:sp>
      <p:sp>
        <p:nvSpPr>
          <p:cNvPr id="12" name="TextBox 11"/>
          <p:cNvSpPr txBox="1"/>
          <p:nvPr/>
        </p:nvSpPr>
        <p:spPr>
          <a:xfrm>
            <a:off x="548640" y="447313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73130"/>
            <a:ext cx="4480560" cy="73894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q → uo_out. Set unused uio_out and uio_oe to zero.</a:t>
            </a:r>
          </a:p>
        </p:txBody>
      </p:sp>
      <p:sp>
        <p:nvSpPr>
          <p:cNvPr id="14" name="Rounded Rectangle 13"/>
          <p:cNvSpPr/>
          <p:nvPr/>
        </p:nvSpPr>
        <p:spPr>
          <a:xfrm>
            <a:off x="5596128" y="2606040"/>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678424" y="2697480"/>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ui_in[0]  serial input</a:t>
            </a:r>
          </a:p>
        </p:txBody>
      </p:sp>
      <p:sp>
        <p:nvSpPr>
          <p:cNvPr id="16" name="Right Arrow 15"/>
          <p:cNvSpPr/>
          <p:nvPr/>
        </p:nvSpPr>
        <p:spPr>
          <a:xfrm>
            <a:off x="7696961" y="2770632"/>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596128" y="3191256"/>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678424" y="3282696"/>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ui_in[1]  enable</a:t>
            </a:r>
          </a:p>
        </p:txBody>
      </p:sp>
      <p:sp>
        <p:nvSpPr>
          <p:cNvPr id="19" name="Right Arrow 18"/>
          <p:cNvSpPr/>
          <p:nvPr/>
        </p:nvSpPr>
        <p:spPr>
          <a:xfrm>
            <a:off x="7696961" y="3355848"/>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596128" y="3776472"/>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78424" y="3867911"/>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clk  clock</a:t>
            </a:r>
          </a:p>
        </p:txBody>
      </p:sp>
      <p:sp>
        <p:nvSpPr>
          <p:cNvPr id="22" name="Right Arrow 21"/>
          <p:cNvSpPr/>
          <p:nvPr/>
        </p:nvSpPr>
        <p:spPr>
          <a:xfrm>
            <a:off x="7696961" y="3941063"/>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596128" y="4361688"/>
            <a:ext cx="2064257" cy="46634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78424" y="4453127"/>
            <a:ext cx="1899665" cy="320040"/>
          </a:xfrm>
          <a:prstGeom prst="rect">
            <a:avLst/>
          </a:prstGeom>
          <a:noFill/>
        </p:spPr>
        <p:txBody>
          <a:bodyPr wrap="square" lIns="0" rIns="0" tIns="0" bIns="0" anchor="t">
            <a:spAutoFit/>
          </a:bodyPr>
          <a:lstStyle/>
          <a:p>
            <a:pPr>
              <a:spcAft>
                <a:spcPts val="800"/>
              </a:spcAft>
              <a:defRPr sz="1500" b="0">
                <a:solidFill>
                  <a:srgbClr val="16324F"/>
                </a:solidFill>
                <a:latin typeface="Calibri"/>
              </a:defRPr>
            </a:pPr>
            <a:r>
              <a:t>rst_n  active-low reset</a:t>
            </a:r>
          </a:p>
        </p:txBody>
      </p:sp>
      <p:sp>
        <p:nvSpPr>
          <p:cNvPr id="25" name="Right Arrow 24"/>
          <p:cNvSpPr/>
          <p:nvPr/>
        </p:nvSpPr>
        <p:spPr>
          <a:xfrm>
            <a:off x="7696961" y="4526279"/>
            <a:ext cx="324383"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678673" y="4407407"/>
            <a:ext cx="412851" cy="429768"/>
          </a:xfrm>
          <a:prstGeom prst="rect">
            <a:avLst/>
          </a:prstGeom>
          <a:noFill/>
        </p:spPr>
        <p:txBody>
          <a:bodyPr wrap="square" lIns="0" rIns="0" tIns="0" bIns="0" anchor="t">
            <a:spAutoFit/>
          </a:bodyPr>
          <a:lstStyle/>
          <a:p>
            <a:pPr>
              <a:spcAft>
                <a:spcPts val="800"/>
              </a:spcAft>
              <a:defRPr sz="2400" b="1">
                <a:solidFill>
                  <a:srgbClr val="D96A2B"/>
                </a:solidFill>
                <a:latin typeface="Calibri"/>
              </a:defRPr>
            </a:pPr>
            <a:r>
              <a:t>~</a:t>
            </a:r>
          </a:p>
        </p:txBody>
      </p:sp>
      <p:sp>
        <p:nvSpPr>
          <p:cNvPr id="27" name="Rounded Rectangle 26"/>
          <p:cNvSpPr/>
          <p:nvPr/>
        </p:nvSpPr>
        <p:spPr>
          <a:xfrm>
            <a:off x="8073237" y="2834640"/>
            <a:ext cx="1769364" cy="1737360"/>
          </a:xfrm>
          <a:prstGeom prst="roundRect">
            <a:avLst>
              <a:gd name="adj" fmla="val 8000"/>
            </a:avLst>
          </a:prstGeom>
          <a:solidFill>
            <a:srgbClr val="EAF4F3"/>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92109" y="3300984"/>
            <a:ext cx="1531620" cy="914400"/>
          </a:xfrm>
          <a:prstGeom prst="rect">
            <a:avLst/>
          </a:prstGeom>
          <a:noFill/>
        </p:spPr>
        <p:txBody>
          <a:bodyPr wrap="square" lIns="0" rIns="0" tIns="0" bIns="0" anchor="t">
            <a:spAutoFit/>
          </a:bodyPr>
          <a:lstStyle/>
          <a:p>
            <a:pPr>
              <a:spcAft>
                <a:spcPts val="800"/>
              </a:spcAft>
              <a:defRPr sz="2100" b="1">
                <a:solidFill>
                  <a:srgbClr val="16324F"/>
                </a:solidFill>
                <a:latin typeface="Calibri"/>
              </a:defRPr>
            </a:pPr>
            <a:r>
              <a:t>Your shift</a:t>
            </a:r>
          </a:p>
          <a:p>
            <a:pPr>
              <a:spcAft>
                <a:spcPts val="800"/>
              </a:spcAft>
              <a:defRPr sz="2100" b="1">
                <a:solidFill>
                  <a:srgbClr val="16324F"/>
                </a:solidFill>
                <a:latin typeface="Calibri"/>
              </a:defRPr>
            </a:pPr>
            <a:r>
              <a:t>register</a:t>
            </a:r>
          </a:p>
        </p:txBody>
      </p:sp>
      <p:sp>
        <p:nvSpPr>
          <p:cNvPr id="29" name="Right Arrow 28"/>
          <p:cNvSpPr/>
          <p:nvPr/>
        </p:nvSpPr>
        <p:spPr>
          <a:xfrm>
            <a:off x="9879177" y="3639312"/>
            <a:ext cx="235915"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10255453" y="3255264"/>
            <a:ext cx="1474470" cy="10241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328605" y="3438144"/>
            <a:ext cx="1328166" cy="731520"/>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uo_out</a:t>
            </a:r>
          </a:p>
          <a:p>
            <a:pPr>
              <a:spcAft>
                <a:spcPts val="800"/>
              </a:spcAft>
              <a:defRPr sz="1800" b="1">
                <a:solidFill>
                  <a:srgbClr val="16324F"/>
                </a:solidFill>
                <a:latin typeface="Calibri"/>
              </a:defRPr>
            </a:pPr>
            <a:r>
              <a:t>8 bits</a:t>
            </a:r>
          </a:p>
        </p:txBody>
      </p:sp>
      <p:sp>
        <p:nvSpPr>
          <p:cNvPr id="32" name="Rounded Rectangle 31"/>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34" name="TextBox 33"/>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can trace every used chip pin to a signal in my existing design.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THE IMPORTANT ADAPTATION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4. Plan how your signals reach the chip pins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5</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7</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Is ena the same signal as our shift enable?</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No. ena selects this project on the shared chip. Our shift enable is ui_in[1]. This core uses only ui_in[1] to decide whether to shift.</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can trace every used chip pin to a signal in my existing design.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src/project.v</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5. Add the wrapper around your design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6</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8</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Keep the existing circuit. Add one small module around it.</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94944"/>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Replace src/project.v with the supplied wrapper.</a:t>
            </a:r>
          </a:p>
        </p:txBody>
      </p:sp>
      <p:sp>
        <p:nvSpPr>
          <p:cNvPr id="11" name="TextBox 10"/>
          <p:cNvSpPr txBox="1"/>
          <p:nvPr/>
        </p:nvSpPr>
        <p:spPr>
          <a:xfrm>
            <a:off x="548640" y="341071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410712"/>
            <a:ext cx="4480560" cy="76200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tt_um_student_shift_register for this exercise.</a:t>
            </a:r>
          </a:p>
        </p:txBody>
      </p:sp>
      <p:sp>
        <p:nvSpPr>
          <p:cNvPr id="13" name="TextBox 12"/>
          <p:cNvSpPr txBox="1"/>
          <p:nvPr/>
        </p:nvSpPr>
        <p:spPr>
          <a:xfrm>
            <a:off x="548640" y="42824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282440"/>
            <a:ext cx="4480560" cy="92964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The instance below joins each circuit port to its chip signal.</a:t>
            </a:r>
          </a:p>
        </p:txBody>
      </p:sp>
      <p:sp>
        <p:nvSpPr>
          <p:cNvPr id="15" name="Rounded Rectangle 14"/>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src/project.v</a:t>
            </a:r>
          </a:p>
        </p:txBody>
      </p:sp>
      <p:sp>
        <p:nvSpPr>
          <p:cNvPr id="17" name="TextBox 16"/>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shift_register core (</a:t>
            </a:r>
          </a:p>
          <a:p>
            <a:pPr>
              <a:spcAft>
                <a:spcPts val="0"/>
              </a:spcAft>
              <a:defRPr sz="1400" b="0">
                <a:solidFill>
                  <a:srgbClr val="24384B"/>
                </a:solidFill>
                <a:latin typeface="Consolas"/>
              </a:defRPr>
            </a:pPr>
            <a:r>
              <a:t>        .clk       (clk),</a:t>
            </a:r>
          </a:p>
          <a:p>
            <a:pPr>
              <a:spcAft>
                <a:spcPts val="0"/>
              </a:spcAft>
              <a:defRPr sz="1400" b="0">
                <a:solidFill>
                  <a:srgbClr val="24384B"/>
                </a:solidFill>
                <a:latin typeface="Consolas"/>
              </a:defRPr>
            </a:pPr>
            <a:r>
              <a:t>        .rst       (~rst_n),</a:t>
            </a:r>
          </a:p>
          <a:p>
            <a:pPr>
              <a:spcAft>
                <a:spcPts val="0"/>
              </a:spcAft>
              <a:defRPr sz="1400" b="0">
                <a:solidFill>
                  <a:srgbClr val="24384B"/>
                </a:solidFill>
                <a:latin typeface="Consolas"/>
              </a:defRPr>
            </a:pPr>
            <a:r>
              <a:t>        .enable    (ui_in[1]),</a:t>
            </a:r>
          </a:p>
          <a:p>
            <a:pPr>
              <a:spcAft>
                <a:spcPts val="0"/>
              </a:spcAft>
              <a:defRPr sz="1400" b="0">
                <a:solidFill>
                  <a:srgbClr val="24384B"/>
                </a:solidFill>
                <a:latin typeface="Consolas"/>
              </a:defRPr>
            </a:pPr>
            <a:r>
              <a:t>        .serial_in (ui_in[0]),</a:t>
            </a:r>
          </a:p>
          <a:p>
            <a:pPr>
              <a:spcAft>
                <a:spcPts val="0"/>
              </a:spcAft>
              <a:defRPr sz="1400" b="0">
                <a:solidFill>
                  <a:srgbClr val="24384B"/>
                </a:solidFill>
                <a:latin typeface="Consolas"/>
              </a:defRPr>
            </a:pPr>
            <a:r>
              <a:t>        .q         (uo_out)</a:t>
            </a:r>
          </a:p>
          <a:p>
            <a:pPr>
              <a:spcAft>
                <a:spcPts val="0"/>
              </a:spcAft>
              <a:defRPr sz="1400" b="0">
                <a:solidFill>
                  <a:srgbClr val="24384B"/>
                </a:solidFill>
                <a:latin typeface="Consolas"/>
              </a:defRPr>
            </a:pPr>
            <a:r>
              <a:t>    );</a:t>
            </a:r>
          </a:p>
        </p:txBody>
      </p:sp>
      <p:sp>
        <p:nvSpPr>
          <p:cNvPr id="18" name="TextBox 17"/>
          <p:cNvSpPr txBox="1"/>
          <p:nvPr/>
        </p:nvSpPr>
        <p:spPr>
          <a:xfrm>
            <a:off x="5916168" y="5093208"/>
            <a:ext cx="5568696" cy="237744"/>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Excerpt • full file in the guide and example download</a:t>
            </a:r>
          </a:p>
        </p:txBody>
      </p:sp>
      <p:sp>
        <p:nvSpPr>
          <p:cNvPr id="19" name="Rounded Rectangle 18"/>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1" name="TextBox 20"/>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wrapper has the eight required ports and instantiates shift_register with the intended connections.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THREE NAMES, TWO LISTS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6. Tell both tools which files to use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7</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9</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Both tools need both files. Three top-module names must agree.</a:t>
            </a:r>
          </a:p>
        </p:txBody>
      </p:sp>
      <p:sp>
        <p:nvSpPr>
          <p:cNvPr id="8" name="Rounded Rectangle 7"/>
          <p:cNvSpPr/>
          <p:nvPr/>
        </p:nvSpPr>
        <p:spPr>
          <a:xfrm>
            <a:off x="530352"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src/project.v</a:t>
            </a:r>
          </a:p>
        </p:txBody>
      </p:sp>
      <p:sp>
        <p:nvSpPr>
          <p:cNvPr id="10" name="TextBox 9"/>
          <p:cNvSpPr txBox="1"/>
          <p:nvPr/>
        </p:nvSpPr>
        <p:spPr>
          <a:xfrm>
            <a:off x="621792"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module name</a:t>
            </a:r>
          </a:p>
        </p:txBody>
      </p:sp>
      <p:sp>
        <p:nvSpPr>
          <p:cNvPr id="11" name="Right Arrow 10"/>
          <p:cNvSpPr/>
          <p:nvPr/>
        </p:nvSpPr>
        <p:spPr>
          <a:xfrm>
            <a:off x="4099560" y="3012765"/>
            <a:ext cx="164592"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291584"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83024"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info.yaml</a:t>
            </a:r>
          </a:p>
        </p:txBody>
      </p:sp>
      <p:sp>
        <p:nvSpPr>
          <p:cNvPr id="14" name="TextBox 13"/>
          <p:cNvSpPr txBox="1"/>
          <p:nvPr/>
        </p:nvSpPr>
        <p:spPr>
          <a:xfrm>
            <a:off x="4383024"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top_module</a:t>
            </a:r>
          </a:p>
        </p:txBody>
      </p:sp>
      <p:sp>
        <p:nvSpPr>
          <p:cNvPr id="15" name="Right Arrow 14"/>
          <p:cNvSpPr/>
          <p:nvPr/>
        </p:nvSpPr>
        <p:spPr>
          <a:xfrm>
            <a:off x="7860791" y="3012765"/>
            <a:ext cx="164592"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052816" y="2606040"/>
            <a:ext cx="3541775" cy="915314"/>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44256" y="2715768"/>
            <a:ext cx="3358895" cy="347472"/>
          </a:xfrm>
          <a:prstGeom prst="rect">
            <a:avLst/>
          </a:prstGeom>
          <a:noFill/>
        </p:spPr>
        <p:txBody>
          <a:bodyPr wrap="square" lIns="0" rIns="0" tIns="0" bIns="0" anchor="t">
            <a:spAutoFit/>
          </a:bodyPr>
          <a:lstStyle/>
          <a:p>
            <a:pPr>
              <a:spcAft>
                <a:spcPts val="800"/>
              </a:spcAft>
              <a:defRPr sz="1800" b="1">
                <a:solidFill>
                  <a:srgbClr val="16324F"/>
                </a:solidFill>
                <a:latin typeface="Calibri"/>
              </a:defRPr>
            </a:pPr>
            <a:r>
              <a:t>test/tb.v</a:t>
            </a:r>
          </a:p>
        </p:txBody>
      </p:sp>
      <p:sp>
        <p:nvSpPr>
          <p:cNvPr id="18" name="TextBox 17"/>
          <p:cNvSpPr txBox="1"/>
          <p:nvPr/>
        </p:nvSpPr>
        <p:spPr>
          <a:xfrm>
            <a:off x="8144256" y="3081528"/>
            <a:ext cx="3358895" cy="320040"/>
          </a:xfrm>
          <a:prstGeom prst="rect">
            <a:avLst/>
          </a:prstGeom>
          <a:noFill/>
        </p:spPr>
        <p:txBody>
          <a:bodyPr wrap="square" lIns="0" rIns="0" tIns="0" bIns="0" anchor="t">
            <a:spAutoFit/>
          </a:bodyPr>
          <a:lstStyle/>
          <a:p>
            <a:pPr>
              <a:spcAft>
                <a:spcPts val="800"/>
              </a:spcAft>
              <a:defRPr sz="1600" b="0">
                <a:solidFill>
                  <a:srgbClr val="5E6D78"/>
                </a:solidFill>
                <a:latin typeface="Calibri"/>
              </a:defRPr>
            </a:pPr>
            <a:r>
              <a:t>instance name</a:t>
            </a:r>
          </a:p>
        </p:txBody>
      </p:sp>
      <p:sp>
        <p:nvSpPr>
          <p:cNvPr id="19" name="TextBox 18"/>
          <p:cNvSpPr txBox="1"/>
          <p:nvPr/>
        </p:nvSpPr>
        <p:spPr>
          <a:xfrm>
            <a:off x="530352" y="3612885"/>
            <a:ext cx="11064240" cy="411480"/>
          </a:xfrm>
          <a:prstGeom prst="rect">
            <a:avLst/>
          </a:prstGeom>
          <a:noFill/>
        </p:spPr>
        <p:txBody>
          <a:bodyPr wrap="square" lIns="0" rIns="0" tIns="0" bIns="0" anchor="t">
            <a:spAutoFit/>
          </a:bodyPr>
          <a:lstStyle/>
          <a:p>
            <a:pPr>
              <a:spcAft>
                <a:spcPts val="800"/>
              </a:spcAft>
              <a:defRPr sz="1800" b="1">
                <a:solidFill>
                  <a:srgbClr val="087F8C"/>
                </a:solidFill>
                <a:latin typeface="Calibri"/>
              </a:defRPr>
            </a:pPr>
            <a:r>
              <a:t>Both source lists: project.v + shift_register.v</a:t>
            </a:r>
          </a:p>
        </p:txBody>
      </p:sp>
      <p:sp>
        <p:nvSpPr>
          <p:cNvPr id="20" name="TextBox 19"/>
          <p:cNvSpPr txBox="1"/>
          <p:nvPr/>
        </p:nvSpPr>
        <p:spPr>
          <a:xfrm>
            <a:off x="566928" y="415137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21" name="TextBox 20"/>
          <p:cNvSpPr txBox="1"/>
          <p:nvPr/>
        </p:nvSpPr>
        <p:spPr>
          <a:xfrm>
            <a:off x="1042416" y="415137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One top name: tt_um_student_shift_register.</a:t>
            </a:r>
          </a:p>
        </p:txBody>
      </p:sp>
      <p:sp>
        <p:nvSpPr>
          <p:cNvPr id="22" name="TextBox 21"/>
          <p:cNvSpPr txBox="1"/>
          <p:nvPr/>
        </p:nvSpPr>
        <p:spPr>
          <a:xfrm>
            <a:off x="566928" y="4791456"/>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23" name="TextBox 22"/>
          <p:cNvSpPr txBox="1"/>
          <p:nvPr/>
        </p:nvSpPr>
        <p:spPr>
          <a:xfrm>
            <a:off x="1042416" y="4791456"/>
            <a:ext cx="10497312" cy="53035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Two source lists: project.v and shift_register.v.</a:t>
            </a:r>
          </a:p>
        </p:txBody>
      </p:sp>
      <p:sp>
        <p:nvSpPr>
          <p:cNvPr id="24" name="Rounded Rectangle 23"/>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6" name="TextBox 25"/>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three top-module names match; both source lists contain both Verilog files.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THREE NAMES, TWO LISTS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6. Tell both tools which files to use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7</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10</a:t>
            </a:r>
          </a:p>
        </p:txBody>
      </p:sp>
      <p:graphicFrame>
        <p:nvGraphicFramePr>
          <p:cNvPr id="7" name="Table 6"/>
          <p:cNvGraphicFramePr>
            <a:graphicFrameLocks noGrp="1"/>
          </p:cNvGraphicFramePr>
          <p:nvPr/>
        </p:nvGraphicFramePr>
        <p:xfrm>
          <a:off x="603504" y="1892807"/>
          <a:ext cx="10908792" cy="2852928"/>
        </p:xfrm>
        <a:graphic>
          <a:graphicData uri="http://schemas.openxmlformats.org/drawingml/2006/table">
            <a:tbl>
              <a:tblPr firstRow="1" bandRow="1">
                <a:tableStyleId>{5C22544A-7EE6-4342-B048-85BDC9FD1C3A}</a:tableStyleId>
              </a:tblPr>
              <a:tblGrid>
                <a:gridCol w="5454396"/>
                <a:gridCol w="5454396"/>
              </a:tblGrid>
              <a:tr h="475488">
                <a:tc>
                  <a:txBody>
                    <a:bodyPr/>
                    <a:lstStyle/>
                    <a:p>
                      <a:pPr>
                        <a:spcAft>
                          <a:spcPts val="0"/>
                        </a:spcAft>
                        <a:defRPr sz="1800" b="1">
                          <a:solidFill>
                            <a:srgbClr val="FFFFFF"/>
                          </a:solidFill>
                          <a:latin typeface="Calibri"/>
                        </a:defRPr>
                      </a:pPr>
                      <a:r>
                        <a:t>Location</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Must agree</a:t>
                      </a:r>
                    </a:p>
                  </a:txBody>
                  <a:tcPr marL="109728" marR="73152" marT="64008" marB="45720">
                    <a:solidFill>
                      <a:srgbClr val="16324F"/>
                    </a:solidFill>
                  </a:tcPr>
                </a:tc>
              </a:tr>
              <a:tr h="475488">
                <a:tc>
                  <a:txBody>
                    <a:bodyPr/>
                    <a:lstStyle/>
                    <a:p>
                      <a:pPr>
                        <a:spcAft>
                          <a:spcPts val="0"/>
                        </a:spcAft>
                        <a:defRPr sz="1800" b="0">
                          <a:solidFill>
                            <a:srgbClr val="24384B"/>
                          </a:solidFill>
                          <a:latin typeface="Calibri"/>
                        </a:defRPr>
                      </a:pPr>
                      <a:r>
                        <a:t>src/project.v</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module tt_um_student_shift_register</a:t>
                      </a:r>
                    </a:p>
                  </a:txBody>
                  <a:tcPr marL="109728" marR="73152" marT="64008" marB="45720">
                    <a:solidFill>
                      <a:srgbClr val="EAF4F3"/>
                    </a:solidFill>
                  </a:tcPr>
                </a:tc>
              </a:tr>
              <a:tr h="475488">
                <a:tc>
                  <a:txBody>
                    <a:bodyPr/>
                    <a:lstStyle/>
                    <a:p>
                      <a:pPr>
                        <a:spcAft>
                          <a:spcPts val="0"/>
                        </a:spcAft>
                        <a:defRPr sz="1800" b="0">
                          <a:solidFill>
                            <a:srgbClr val="24384B"/>
                          </a:solidFill>
                          <a:latin typeface="Calibri"/>
                        </a:defRPr>
                      </a:pPr>
                      <a:r>
                        <a:t>info.yaml</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top_module: tt_um_student_shift_register</a:t>
                      </a:r>
                    </a:p>
                  </a:txBody>
                  <a:tcPr marL="109728" marR="73152" marT="64008" marB="45720">
                    <a:solidFill>
                      <a:srgbClr val="FFFFFF"/>
                    </a:solidFill>
                  </a:tcPr>
                </a:tc>
              </a:tr>
              <a:tr h="475488">
                <a:tc>
                  <a:txBody>
                    <a:bodyPr/>
                    <a:lstStyle/>
                    <a:p>
                      <a:pPr>
                        <a:spcAft>
                          <a:spcPts val="0"/>
                        </a:spcAft>
                        <a:defRPr sz="1800" b="0">
                          <a:solidFill>
                            <a:srgbClr val="24384B"/>
                          </a:solidFill>
                          <a:latin typeface="Calibri"/>
                        </a:defRPr>
                      </a:pPr>
                      <a:r>
                        <a:t>test/tb.v</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tt_um_student_shift_register user_project</a:t>
                      </a:r>
                    </a:p>
                  </a:txBody>
                  <a:tcPr marL="109728" marR="73152" marT="64008" marB="45720">
                    <a:solidFill>
                      <a:srgbClr val="EAF4F3"/>
                    </a:solidFill>
                  </a:tcPr>
                </a:tc>
              </a:tr>
              <a:tr h="475488">
                <a:tc>
                  <a:txBody>
                    <a:bodyPr/>
                    <a:lstStyle/>
                    <a:p>
                      <a:pPr>
                        <a:spcAft>
                          <a:spcPts val="0"/>
                        </a:spcAft>
                        <a:defRPr sz="1800" b="0">
                          <a:solidFill>
                            <a:srgbClr val="24384B"/>
                          </a:solidFill>
                          <a:latin typeface="Calibri"/>
                        </a:defRPr>
                      </a:pPr>
                      <a:r>
                        <a:t>info.yaml source_files</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project.v + shift_register.v</a:t>
                      </a:r>
                    </a:p>
                  </a:txBody>
                  <a:tcPr marL="109728" marR="73152" marT="64008" marB="45720">
                    <a:solidFill>
                      <a:srgbClr val="FFFFFF"/>
                    </a:solidFill>
                  </a:tcPr>
                </a:tc>
              </a:tr>
              <a:tr h="475488">
                <a:tc>
                  <a:txBody>
                    <a:bodyPr/>
                    <a:lstStyle/>
                    <a:p>
                      <a:pPr>
                        <a:spcAft>
                          <a:spcPts val="0"/>
                        </a:spcAft>
                        <a:defRPr sz="1800" b="0">
                          <a:solidFill>
                            <a:srgbClr val="24384B"/>
                          </a:solidFill>
                          <a:latin typeface="Calibri"/>
                        </a:defRPr>
                      </a:pPr>
                      <a:r>
                        <a:t>test/Makefile PROJECT_SOURCES</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project.v + shift_register.v</a:t>
                      </a:r>
                    </a:p>
                  </a:txBody>
                  <a:tcPr marL="109728" marR="73152" marT="64008" marB="45720">
                    <a:solidFill>
                      <a:srgbClr val="EAF4F3"/>
                    </a:solidFill>
                  </a:tcPr>
                </a:tc>
              </a:tr>
            </a:tbl>
          </a:graphicData>
        </a:graphic>
      </p:graphicFrame>
      <p:sp>
        <p:nvSpPr>
          <p:cNvPr id="8" name="Rounded Rectangle 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0" name="TextBox 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three top-module names match; both source lists contain both Verilog files.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info.yaml AND docs/info.md</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7. Describe the design and its clock</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8</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11</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Describe how to use the circuit. Keep its clock settings consistent.</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906494"/>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info.yaml: your author name, title and correct pin labels.</a:t>
            </a:r>
          </a:p>
        </p:txBody>
      </p:sp>
      <p:sp>
        <p:nvSpPr>
          <p:cNvPr id="10" name="TextBox 9"/>
          <p:cNvSpPr txBox="1"/>
          <p:nvPr/>
        </p:nvSpPr>
        <p:spPr>
          <a:xfrm>
            <a:off x="548640" y="362226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622262"/>
            <a:ext cx="4480560" cy="92401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docs/info.md: behaviour, test procedure and hardware needs.</a:t>
            </a:r>
          </a:p>
        </p:txBody>
      </p:sp>
      <p:sp>
        <p:nvSpPr>
          <p:cNvPr id="12" name="TextBox 11"/>
          <p:cNvSpPr txBox="1"/>
          <p:nvPr/>
        </p:nvSpPr>
        <p:spPr>
          <a:xfrm>
            <a:off x="548640" y="4656006"/>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656006"/>
            <a:ext cx="4480560" cy="556073"/>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50 MHz target = 20 ns per clock cycle.</a:t>
            </a:r>
          </a:p>
        </p:txBody>
      </p:sp>
      <p:graphicFrame>
        <p:nvGraphicFramePr>
          <p:cNvPr id="14" name="Table 13"/>
          <p:cNvGraphicFramePr>
            <a:graphicFrameLocks noGrp="1"/>
          </p:cNvGraphicFramePr>
          <p:nvPr/>
        </p:nvGraphicFramePr>
        <p:xfrm>
          <a:off x="5577840" y="2606040"/>
          <a:ext cx="6071616" cy="2788920"/>
        </p:xfrm>
        <a:graphic>
          <a:graphicData uri="http://schemas.openxmlformats.org/drawingml/2006/table">
            <a:tbl>
              <a:tblPr firstRow="1" bandRow="1">
                <a:tableStyleId>{5C22544A-7EE6-4342-B048-85BDC9FD1C3A}</a:tableStyleId>
              </a:tblPr>
              <a:tblGrid>
                <a:gridCol w="3035808"/>
                <a:gridCol w="3035808"/>
              </a:tblGrid>
              <a:tr h="697230">
                <a:tc>
                  <a:txBody>
                    <a:bodyPr/>
                    <a:lstStyle/>
                    <a:p>
                      <a:pPr>
                        <a:spcAft>
                          <a:spcPts val="0"/>
                        </a:spcAft>
                        <a:defRPr sz="1800" b="1">
                          <a:solidFill>
                            <a:srgbClr val="FFFFFF"/>
                          </a:solidFill>
                          <a:latin typeface="Calibri"/>
                        </a:defRPr>
                      </a:pPr>
                      <a:r>
                        <a:t>Place</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Clock setting</a:t>
                      </a:r>
                    </a:p>
                  </a:txBody>
                  <a:tcPr marL="109728" marR="73152" marT="64008" marB="45720">
                    <a:solidFill>
                      <a:srgbClr val="16324F"/>
                    </a:solidFill>
                  </a:tcPr>
                </a:tc>
              </a:tr>
              <a:tr h="697230">
                <a:tc>
                  <a:txBody>
                    <a:bodyPr/>
                    <a:lstStyle/>
                    <a:p>
                      <a:pPr>
                        <a:spcAft>
                          <a:spcPts val="0"/>
                        </a:spcAft>
                        <a:defRPr sz="1800" b="0">
                          <a:solidFill>
                            <a:srgbClr val="24384B"/>
                          </a:solidFill>
                          <a:latin typeface="Calibri"/>
                        </a:defRPr>
                      </a:pPr>
                      <a:r>
                        <a:t>info.yaml</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clock_hz: 50000000</a:t>
                      </a:r>
                    </a:p>
                  </a:txBody>
                  <a:tcPr marL="109728" marR="73152" marT="64008" marB="45720">
                    <a:solidFill>
                      <a:srgbClr val="EAF4F3"/>
                    </a:solidFill>
                  </a:tcPr>
                </a:tc>
              </a:tr>
              <a:tr h="697230">
                <a:tc>
                  <a:txBody>
                    <a:bodyPr/>
                    <a:lstStyle/>
                    <a:p>
                      <a:pPr>
                        <a:spcAft>
                          <a:spcPts val="0"/>
                        </a:spcAft>
                        <a:defRPr sz="1800" b="0">
                          <a:solidFill>
                            <a:srgbClr val="24384B"/>
                          </a:solidFill>
                          <a:latin typeface="Calibri"/>
                        </a:defRPr>
                      </a:pPr>
                      <a:r>
                        <a:t>src/config.json (template)</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CLOCK_PERIOD: 20 (nanoseconds)</a:t>
                      </a:r>
                    </a:p>
                  </a:txBody>
                  <a:tcPr marL="109728" marR="73152" marT="64008" marB="45720">
                    <a:solidFill>
                      <a:srgbClr val="FFFFFF"/>
                    </a:solidFill>
                  </a:tcPr>
                </a:tc>
              </a:tr>
              <a:tr h="697230">
                <a:tc>
                  <a:txBody>
                    <a:bodyPr/>
                    <a:lstStyle/>
                    <a:p>
                      <a:pPr>
                        <a:spcAft>
                          <a:spcPts val="0"/>
                        </a:spcAft>
                        <a:defRPr sz="1800" b="0">
                          <a:solidFill>
                            <a:srgbClr val="24384B"/>
                          </a:solidFill>
                          <a:latin typeface="Calibri"/>
                        </a:defRPr>
                      </a:pPr>
                      <a:r>
                        <a:t>test/test.py cycle()</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10 ns low + 5 ns to sample + 5 ns = 20 ns</a:t>
                      </a:r>
                    </a:p>
                  </a:txBody>
                  <a:tcPr marL="109728" marR="73152" marT="64008" marB="45720">
                    <a:solidFill>
                      <a:srgbClr val="EAF4F3"/>
                    </a:solidFill>
                  </a:tcPr>
                </a:tc>
              </a:tr>
            </a:tbl>
          </a:graphicData>
        </a:graphic>
      </p:graphicFrame>
      <p:sp>
        <p:nvSpPr>
          <p:cNvPr id="15" name="Rounded Rectangle 14"/>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7" name="TextBox 16"/>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descriptions, pin map and clock settings agree with the actual design.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test/test.py</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8. Replace the example test with your test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9</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12</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Test your shift register through its external pins.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64180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Replace test/test.py with the supplied test.</a:t>
            </a:r>
          </a:p>
        </p:txBody>
      </p:sp>
      <p:sp>
        <p:nvSpPr>
          <p:cNvPr id="10" name="TextBox 9"/>
          <p:cNvSpPr txBox="1"/>
          <p:nvPr/>
        </p:nvSpPr>
        <p:spPr>
          <a:xfrm>
            <a:off x="548640" y="335757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357573"/>
            <a:ext cx="4480560" cy="94925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Check reset, shift, hold, old data leaving and reset priority.</a:t>
            </a:r>
          </a:p>
        </p:txBody>
      </p:sp>
      <p:sp>
        <p:nvSpPr>
          <p:cNvPr id="12" name="TextBox 11"/>
          <p:cNvSpPr txBox="1"/>
          <p:nvPr/>
        </p:nvSpPr>
        <p:spPr>
          <a:xfrm>
            <a:off x="548640" y="4416552"/>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416552"/>
            <a:ext cx="4480560" cy="795528"/>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Compare each observed output with the expected value.</a:t>
            </a:r>
          </a:p>
        </p:txBody>
      </p:sp>
      <p:sp>
        <p:nvSpPr>
          <p:cNvPr id="14" name="Rounded Rectangle 13"/>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test/test.py — expected-value rule</a:t>
            </a:r>
          </a:p>
        </p:txBody>
      </p:sp>
      <p:sp>
        <p:nvSpPr>
          <p:cNvPr id="16" name="TextBox 15"/>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 Shift the previous value and add the new bit.</a:t>
            </a:r>
          </a:p>
          <a:p>
            <a:pPr>
              <a:spcAft>
                <a:spcPts val="0"/>
              </a:spcAft>
              <a:defRPr sz="1400" b="0">
                <a:solidFill>
                  <a:srgbClr val="24384B"/>
                </a:solidFill>
                <a:latin typeface="Consolas"/>
              </a:defRPr>
            </a:pPr>
            <a:r>
              <a:t>expected = ((expected &lt;&lt; 1) | bit) &amp; 0xFF</a:t>
            </a:r>
          </a:p>
          <a:p>
            <a:pPr>
              <a:spcAft>
                <a:spcPts val="0"/>
              </a:spcAft>
              <a:defRPr sz="1400" b="0">
                <a:solidFill>
                  <a:srgbClr val="24384B"/>
                </a:solidFill>
                <a:latin typeface="Consolas"/>
              </a:defRPr>
            </a:pPr>
            <a:r>
              <a:t>assert await cycle(bit) == expected</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checks my circuit’s behaviour rather than the template’s example.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EDIT • test/test.py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8. Replace the example test with your test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9</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13</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After shifting 1 eight times from reset, what should the output be? What if enable then becomes 0?</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11111111. With enable = 0 it stays 11111111, even when serial_in changes.</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checks my circuit’s behaviour rather than the template’s example.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CODE</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9. Upload the complete seven-file adaptation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10</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14</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Upload the contents of the extracted starter into your repository root.</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37974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Code → Add file → Upload files.</a:t>
            </a:r>
          </a:p>
        </p:txBody>
      </p:sp>
      <p:sp>
        <p:nvSpPr>
          <p:cNvPr id="10" name="TextBox 9"/>
          <p:cNvSpPr txBox="1"/>
          <p:nvPr/>
        </p:nvSpPr>
        <p:spPr>
          <a:xfrm>
            <a:off x="548640" y="309550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095509"/>
            <a:ext cx="4480560" cy="869211"/>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Drag info.yaml plus src, test and docs. Check all seven paths.</a:t>
            </a:r>
          </a:p>
        </p:txBody>
      </p:sp>
      <p:sp>
        <p:nvSpPr>
          <p:cNvPr id="12" name="TextBox 11"/>
          <p:cNvSpPr txBox="1"/>
          <p:nvPr/>
        </p:nvSpPr>
        <p:spPr>
          <a:xfrm>
            <a:off x="548640" y="4074449"/>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074449"/>
            <a:ext cx="4480560" cy="1137630"/>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Commit to main: Add shift register. If needed, create and merge a pull request.</a:t>
            </a:r>
          </a:p>
        </p:txBody>
      </p:sp>
      <p:pic>
        <p:nvPicPr>
          <p:cNvPr id="14" name="Picture 13" descr="upload.png"/>
          <p:cNvPicPr>
            <a:picLocks noChangeAspect="1"/>
          </p:cNvPicPr>
          <p:nvPr/>
        </p:nvPicPr>
        <p:blipFill>
          <a:blip r:embed="rId3"/>
          <a:stretch>
            <a:fillRect/>
          </a:stretch>
        </p:blipFill>
        <p:spPr>
          <a:xfrm>
            <a:off x="5760720" y="2606040"/>
            <a:ext cx="5852160" cy="1023328"/>
          </a:xfrm>
          <a:prstGeom prst="rect">
            <a:avLst/>
          </a:prstGeom>
        </p:spPr>
      </p:pic>
      <p:sp>
        <p:nvSpPr>
          <p:cNvPr id="15" name="TextBox 14"/>
          <p:cNvSpPr txBox="1"/>
          <p:nvPr/>
        </p:nvSpPr>
        <p:spPr>
          <a:xfrm>
            <a:off x="5760720" y="3739096"/>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GitHub’s official Add file screenshot locates the upload control. Upload into your repository root.</a:t>
            </a:r>
          </a:p>
        </p:txBody>
      </p:sp>
      <p:sp>
        <p:nvSpPr>
          <p:cNvPr id="16" name="Rounded Rectangle 15"/>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8" name="TextBox 17"/>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All seven files are saved at the intended paths, and the template infrastructure is still present.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test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10. Check that your shift register passes</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11</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15</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Read the test result for the commit containing all seven files.</a:t>
            </a:r>
          </a:p>
        </p:txBody>
      </p:sp>
      <p:sp>
        <p:nvSpPr>
          <p:cNvPr id="8" name="TextBox 7"/>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9" name="TextBox 8"/>
          <p:cNvSpPr txBox="1"/>
          <p:nvPr/>
        </p:nvSpPr>
        <p:spPr>
          <a:xfrm>
            <a:off x="1024128" y="2606040"/>
            <a:ext cx="4480560" cy="627665"/>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Actions → test → your final commit’s run.</a:t>
            </a:r>
          </a:p>
        </p:txBody>
      </p:sp>
      <p:sp>
        <p:nvSpPr>
          <p:cNvPr id="10" name="TextBox 9"/>
          <p:cNvSpPr txBox="1"/>
          <p:nvPr/>
        </p:nvSpPr>
        <p:spPr>
          <a:xfrm>
            <a:off x="548640" y="3343433"/>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1" name="TextBox 10"/>
          <p:cNvSpPr txBox="1"/>
          <p:nvPr/>
        </p:nvSpPr>
        <p:spPr>
          <a:xfrm>
            <a:off x="1024128" y="3343433"/>
            <a:ext cx="4480560" cy="87945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Open the test job → Run tests. Zero failures or errors.</a:t>
            </a:r>
          </a:p>
        </p:txBody>
      </p:sp>
      <p:sp>
        <p:nvSpPr>
          <p:cNvPr id="12" name="TextBox 11"/>
          <p:cNvSpPr txBox="1"/>
          <p:nvPr/>
        </p:nvSpPr>
        <p:spPr>
          <a:xfrm>
            <a:off x="548640" y="433262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3" name="TextBox 12"/>
          <p:cNvSpPr txBox="1"/>
          <p:nvPr/>
        </p:nvSpPr>
        <p:spPr>
          <a:xfrm>
            <a:off x="1024128" y="4332620"/>
            <a:ext cx="4480560" cy="879459"/>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If it fails, fix the first error and save a new commit.</a:t>
            </a:r>
          </a:p>
        </p:txBody>
      </p:sp>
      <p:pic>
        <p:nvPicPr>
          <p:cNvPr id="14" name="Picture 13" descr="actions.png"/>
          <p:cNvPicPr>
            <a:picLocks noChangeAspect="1"/>
          </p:cNvPicPr>
          <p:nvPr/>
        </p:nvPicPr>
        <p:blipFill>
          <a:blip r:embed="rId3"/>
          <a:stretch>
            <a:fillRect/>
          </a:stretch>
        </p:blipFill>
        <p:spPr>
          <a:xfrm>
            <a:off x="6730946" y="2606040"/>
            <a:ext cx="3911706" cy="2322576"/>
          </a:xfrm>
          <a:prstGeom prst="rect">
            <a:avLst/>
          </a:prstGeom>
        </p:spPr>
      </p:pic>
      <p:sp>
        <p:nvSpPr>
          <p:cNvPr id="15" name="TextBox 14"/>
          <p:cNvSpPr txBox="1"/>
          <p:nvPr/>
        </p:nvSpPr>
        <p:spPr>
          <a:xfrm>
            <a:off x="5760720" y="5038344"/>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Official TEMPLATE Actions screen, for navigation only. Its red crosses are failed template runs, not your result. Your shift-register run has its own commit and result.</a:t>
            </a:r>
          </a:p>
        </p:txBody>
      </p:sp>
      <p:sp>
        <p:nvSpPr>
          <p:cNvPr id="16" name="Rounded Rectangle 15"/>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8" name="TextBox 17"/>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RTL test passed for my exact final commit, with zero failures and errors.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test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10. Check that your shift register passes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11</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16</a:t>
            </a:r>
          </a:p>
        </p:txBody>
      </p:sp>
      <p:sp>
        <p:nvSpPr>
          <p:cNvPr id="7" name="Rounded Rectangle 6"/>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9" name="TextBox 8"/>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What does a passing test establish?</a:t>
            </a:r>
          </a:p>
        </p:txBody>
      </p:sp>
      <p:sp>
        <p:nvSpPr>
          <p:cNvPr id="10" name="TextBox 9"/>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The adapted circuit passed the cases and assertions you wrote. It does not prove every possible behaviour, timing corner or manufactured chip.</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RTL test passed for my exact final commit, with zero failures and errors.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docs</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11. Build, check and look at the layout</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17</a:t>
            </a:r>
          </a:p>
        </p:txBody>
      </p:sp>
      <p:sp>
        <p:nvSpPr>
          <p:cNvPr id="7" name="TextBox 6"/>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Verilog becomes physical gates and wires. Check every required job.</a:t>
            </a:r>
          </a:p>
        </p:txBody>
      </p:sp>
      <p:sp>
        <p:nvSpPr>
          <p:cNvPr id="8" name="Rounded Rectangle 7"/>
          <p:cNvSpPr/>
          <p:nvPr/>
        </p:nvSpPr>
        <p:spPr>
          <a:xfrm>
            <a:off x="530352" y="3383280"/>
            <a:ext cx="2212848"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3503" y="3438144"/>
            <a:ext cx="2066543"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Commit / push</a:t>
            </a:r>
          </a:p>
        </p:txBody>
      </p:sp>
      <p:sp>
        <p:nvSpPr>
          <p:cNvPr id="10" name="TextBox 9"/>
          <p:cNvSpPr txBox="1"/>
          <p:nvPr/>
        </p:nvSpPr>
        <p:spPr>
          <a:xfrm>
            <a:off x="603503" y="3694176"/>
            <a:ext cx="2066543"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same saved version</a:t>
            </a:r>
          </a:p>
        </p:txBody>
      </p:sp>
      <p:sp>
        <p:nvSpPr>
          <p:cNvPr id="11" name="Rounded Rectangle 10"/>
          <p:cNvSpPr/>
          <p:nvPr/>
        </p:nvSpPr>
        <p:spPr>
          <a:xfrm>
            <a:off x="3628339" y="2468880"/>
            <a:ext cx="2766060"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701491" y="2523744"/>
            <a:ext cx="2619756"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RTL test</a:t>
            </a:r>
          </a:p>
        </p:txBody>
      </p:sp>
      <p:sp>
        <p:nvSpPr>
          <p:cNvPr id="13" name="TextBox 12"/>
          <p:cNvSpPr txBox="1"/>
          <p:nvPr/>
        </p:nvSpPr>
        <p:spPr>
          <a:xfrm>
            <a:off x="3701491" y="2779776"/>
            <a:ext cx="2619756"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source behaviour</a:t>
            </a:r>
          </a:p>
        </p:txBody>
      </p:sp>
      <p:sp>
        <p:nvSpPr>
          <p:cNvPr id="14" name="Rounded Rectangle 13"/>
          <p:cNvSpPr/>
          <p:nvPr/>
        </p:nvSpPr>
        <p:spPr>
          <a:xfrm>
            <a:off x="3628339" y="3246120"/>
            <a:ext cx="2766060"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01491" y="3300984"/>
            <a:ext cx="2619756"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docs</a:t>
            </a:r>
          </a:p>
        </p:txBody>
      </p:sp>
      <p:sp>
        <p:nvSpPr>
          <p:cNvPr id="16" name="TextBox 15"/>
          <p:cNvSpPr txBox="1"/>
          <p:nvPr/>
        </p:nvSpPr>
        <p:spPr>
          <a:xfrm>
            <a:off x="3701491" y="3557016"/>
            <a:ext cx="2619756"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build the datasheet</a:t>
            </a:r>
          </a:p>
        </p:txBody>
      </p:sp>
      <p:sp>
        <p:nvSpPr>
          <p:cNvPr id="17" name="Rounded Rectangle 16"/>
          <p:cNvSpPr/>
          <p:nvPr/>
        </p:nvSpPr>
        <p:spPr>
          <a:xfrm>
            <a:off x="3628339" y="4023360"/>
            <a:ext cx="2766060"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701491" y="4078224"/>
            <a:ext cx="2619756"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GDS build</a:t>
            </a:r>
          </a:p>
        </p:txBody>
      </p:sp>
      <p:sp>
        <p:nvSpPr>
          <p:cNvPr id="19" name="TextBox 18"/>
          <p:cNvSpPr txBox="1"/>
          <p:nvPr/>
        </p:nvSpPr>
        <p:spPr>
          <a:xfrm>
            <a:off x="3701491" y="4334256"/>
            <a:ext cx="2619756"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gates + wires</a:t>
            </a:r>
          </a:p>
        </p:txBody>
      </p:sp>
      <p:sp>
        <p:nvSpPr>
          <p:cNvPr id="20" name="Rounded Rectangle 19"/>
          <p:cNvSpPr/>
          <p:nvPr/>
        </p:nvSpPr>
        <p:spPr>
          <a:xfrm>
            <a:off x="7943392" y="3063240"/>
            <a:ext cx="3540556"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16544" y="3118104"/>
            <a:ext cx="3394252"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Precheck</a:t>
            </a:r>
          </a:p>
        </p:txBody>
      </p:sp>
      <p:sp>
        <p:nvSpPr>
          <p:cNvPr id="22" name="TextBox 21"/>
          <p:cNvSpPr txBox="1"/>
          <p:nvPr/>
        </p:nvSpPr>
        <p:spPr>
          <a:xfrm>
            <a:off x="8016544" y="3374136"/>
            <a:ext cx="3394252"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integration rules</a:t>
            </a:r>
          </a:p>
        </p:txBody>
      </p:sp>
      <p:sp>
        <p:nvSpPr>
          <p:cNvPr id="23" name="Rounded Rectangle 22"/>
          <p:cNvSpPr/>
          <p:nvPr/>
        </p:nvSpPr>
        <p:spPr>
          <a:xfrm>
            <a:off x="7943392" y="3840480"/>
            <a:ext cx="3540556"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016544" y="3895344"/>
            <a:ext cx="3394252"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Gate-level test (GLS)</a:t>
            </a:r>
          </a:p>
        </p:txBody>
      </p:sp>
      <p:sp>
        <p:nvSpPr>
          <p:cNvPr id="25" name="TextBox 24"/>
          <p:cNvSpPr txBox="1"/>
          <p:nvPr/>
        </p:nvSpPr>
        <p:spPr>
          <a:xfrm>
            <a:off x="8016544" y="4151376"/>
            <a:ext cx="3394252"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same test on logic cells</a:t>
            </a:r>
          </a:p>
        </p:txBody>
      </p:sp>
      <p:sp>
        <p:nvSpPr>
          <p:cNvPr id="26" name="Rounded Rectangle 25"/>
          <p:cNvSpPr/>
          <p:nvPr/>
        </p:nvSpPr>
        <p:spPr>
          <a:xfrm>
            <a:off x="7943392" y="4617720"/>
            <a:ext cx="3540556" cy="566928"/>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016544" y="4672584"/>
            <a:ext cx="3394252" cy="265176"/>
          </a:xfrm>
          <a:prstGeom prst="rect">
            <a:avLst/>
          </a:prstGeom>
          <a:noFill/>
        </p:spPr>
        <p:txBody>
          <a:bodyPr wrap="square" lIns="0" rIns="0" tIns="0" bIns="0" anchor="t">
            <a:spAutoFit/>
          </a:bodyPr>
          <a:lstStyle/>
          <a:p>
            <a:pPr>
              <a:spcAft>
                <a:spcPts val="800"/>
              </a:spcAft>
              <a:defRPr sz="1700" b="1">
                <a:solidFill>
                  <a:srgbClr val="16324F"/>
                </a:solidFill>
                <a:latin typeface="Calibri"/>
              </a:defRPr>
            </a:pPr>
            <a:r>
              <a:t>Viewer</a:t>
            </a:r>
          </a:p>
        </p:txBody>
      </p:sp>
      <p:sp>
        <p:nvSpPr>
          <p:cNvPr id="28" name="TextBox 27"/>
          <p:cNvSpPr txBox="1"/>
          <p:nvPr/>
        </p:nvSpPr>
        <p:spPr>
          <a:xfrm>
            <a:off x="8016544" y="4928616"/>
            <a:ext cx="3394252" cy="210312"/>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publish layout</a:t>
            </a:r>
          </a:p>
        </p:txBody>
      </p:sp>
      <p:cxnSp>
        <p:nvCxnSpPr>
          <p:cNvPr id="29" name="Connector 28"/>
          <p:cNvCxnSpPr/>
          <p:nvPr/>
        </p:nvCxnSpPr>
        <p:spPr>
          <a:xfrm>
            <a:off x="2743200" y="3666744"/>
            <a:ext cx="387248"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130448" y="2752344"/>
            <a:ext cx="0" cy="155448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31" name="Right Arrow 30"/>
          <p:cNvSpPr/>
          <p:nvPr/>
        </p:nvSpPr>
        <p:spPr>
          <a:xfrm>
            <a:off x="3130448" y="2688336"/>
            <a:ext cx="470458"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ight Arrow 31"/>
          <p:cNvSpPr/>
          <p:nvPr/>
        </p:nvSpPr>
        <p:spPr>
          <a:xfrm>
            <a:off x="3130448" y="3465576"/>
            <a:ext cx="470458"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ight Arrow 32"/>
          <p:cNvSpPr/>
          <p:nvPr/>
        </p:nvSpPr>
        <p:spPr>
          <a:xfrm>
            <a:off x="3130448" y="4242816"/>
            <a:ext cx="470458"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6394399" y="4306824"/>
            <a:ext cx="774497" cy="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7168896" y="3346704"/>
            <a:ext cx="0" cy="1554480"/>
          </a:xfrm>
          <a:prstGeom prst="line">
            <a:avLst/>
          </a:prstGeom>
          <a:ln w="19050">
            <a:solidFill>
              <a:srgbClr val="087F8C"/>
            </a:solidFill>
          </a:ln>
        </p:spPr>
        <p:style>
          <a:lnRef idx="2">
            <a:schemeClr val="accent1"/>
          </a:lnRef>
          <a:fillRef idx="0">
            <a:schemeClr val="accent1"/>
          </a:fillRef>
          <a:effectRef idx="1">
            <a:schemeClr val="accent1"/>
          </a:effectRef>
          <a:fontRef idx="minor">
            <a:schemeClr val="tx1"/>
          </a:fontRef>
        </p:style>
      </p:cxnSp>
      <p:sp>
        <p:nvSpPr>
          <p:cNvPr id="36" name="Right Arrow 35"/>
          <p:cNvSpPr/>
          <p:nvPr/>
        </p:nvSpPr>
        <p:spPr>
          <a:xfrm>
            <a:off x="7168896" y="3282696"/>
            <a:ext cx="74706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ight Arrow 36"/>
          <p:cNvSpPr/>
          <p:nvPr/>
        </p:nvSpPr>
        <p:spPr>
          <a:xfrm>
            <a:off x="7168896" y="4059935"/>
            <a:ext cx="74706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ight Arrow 37"/>
          <p:cNvSpPr/>
          <p:nvPr/>
        </p:nvSpPr>
        <p:spPr>
          <a:xfrm>
            <a:off x="7168896" y="4837176"/>
            <a:ext cx="747064" cy="128016"/>
          </a:xfrm>
          <a:prstGeom prst="rightArrow">
            <a:avLst/>
          </a:prstGeom>
          <a:solidFill>
            <a:srgbClr val="087F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5349240"/>
            <a:ext cx="10972800" cy="384048"/>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Check every required job for one commit. The GLS walkthrough follows.</a:t>
            </a:r>
          </a:p>
        </p:txBody>
      </p:sp>
      <p:sp>
        <p:nvSpPr>
          <p:cNvPr id="40" name="Rounded Rectangle 39"/>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42" name="TextBox 41"/>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RTL, docs and every required gds job passed for one commit; I can open its layout and artifacts.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docs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11. Build, check and look at the layout — in practice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12</a:t>
            </a:r>
          </a:p>
        </p:txBody>
      </p:sp>
      <p:sp>
        <p:nvSpPr>
          <p:cNvPr id="6" name="TextBox 5"/>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18</a:t>
            </a:r>
          </a:p>
        </p:txBody>
      </p:sp>
      <p:graphicFrame>
        <p:nvGraphicFramePr>
          <p:cNvPr id="7" name="Table 6"/>
          <p:cNvGraphicFramePr>
            <a:graphicFrameLocks noGrp="1"/>
          </p:cNvGraphicFramePr>
          <p:nvPr/>
        </p:nvGraphicFramePr>
        <p:xfrm>
          <a:off x="603504" y="1892807"/>
          <a:ext cx="10908792" cy="2852928"/>
        </p:xfrm>
        <a:graphic>
          <a:graphicData uri="http://schemas.openxmlformats.org/drawingml/2006/table">
            <a:tbl>
              <a:tblPr firstRow="1" bandRow="1">
                <a:tableStyleId>{5C22544A-7EE6-4342-B048-85BDC9FD1C3A}</a:tableStyleId>
              </a:tblPr>
              <a:tblGrid>
                <a:gridCol w="5454396"/>
                <a:gridCol w="5454396"/>
              </a:tblGrid>
              <a:tr h="570585">
                <a:tc>
                  <a:txBody>
                    <a:bodyPr/>
                    <a:lstStyle/>
                    <a:p>
                      <a:pPr>
                        <a:spcAft>
                          <a:spcPts val="0"/>
                        </a:spcAft>
                        <a:defRPr sz="1800" b="1">
                          <a:solidFill>
                            <a:srgbClr val="FFFFFF"/>
                          </a:solidFill>
                          <a:latin typeface="Calibri"/>
                        </a:defRPr>
                      </a:pPr>
                      <a:r>
                        <a:t>Check</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Plain meaning</a:t>
                      </a:r>
                    </a:p>
                  </a:txBody>
                  <a:tcPr marL="109728" marR="73152" marT="64008" marB="45720">
                    <a:solidFill>
                      <a:srgbClr val="16324F"/>
                    </a:solidFill>
                  </a:tcPr>
                </a:tc>
              </a:tr>
              <a:tr h="570585">
                <a:tc>
                  <a:txBody>
                    <a:bodyPr/>
                    <a:lstStyle/>
                    <a:p>
                      <a:pPr>
                        <a:spcAft>
                          <a:spcPts val="0"/>
                        </a:spcAft>
                        <a:defRPr sz="1800" b="0">
                          <a:solidFill>
                            <a:srgbClr val="24384B"/>
                          </a:solidFill>
                          <a:latin typeface="Calibri"/>
                        </a:defRPr>
                      </a:pPr>
                      <a:r>
                        <a:t>Layout build</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Place gates and connect them; inspect timing and geometry reports</a:t>
                      </a:r>
                    </a:p>
                  </a:txBody>
                  <a:tcPr marL="109728" marR="73152" marT="64008" marB="45720">
                    <a:solidFill>
                      <a:srgbClr val="EAF4F3"/>
                    </a:solidFill>
                  </a:tcPr>
                </a:tc>
              </a:tr>
              <a:tr h="570585">
                <a:tc>
                  <a:txBody>
                    <a:bodyPr/>
                    <a:lstStyle/>
                    <a:p>
                      <a:pPr>
                        <a:spcAft>
                          <a:spcPts val="0"/>
                        </a:spcAft>
                        <a:defRPr sz="1800" b="0">
                          <a:solidFill>
                            <a:srgbClr val="24384B"/>
                          </a:solidFill>
                          <a:latin typeface="Calibri"/>
                        </a:defRPr>
                      </a:pPr>
                      <a:r>
                        <a:t>Precheck</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Check the design fits Tiny Tapeout’s integration rules</a:t>
                      </a:r>
                    </a:p>
                  </a:txBody>
                  <a:tcPr marL="109728" marR="73152" marT="64008" marB="45720">
                    <a:solidFill>
                      <a:srgbClr val="FFFFFF"/>
                    </a:solidFill>
                  </a:tcPr>
                </a:tc>
              </a:tr>
              <a:tr h="570585">
                <a:tc>
                  <a:txBody>
                    <a:bodyPr/>
                    <a:lstStyle/>
                    <a:p>
                      <a:pPr>
                        <a:spcAft>
                          <a:spcPts val="0"/>
                        </a:spcAft>
                        <a:defRPr sz="1800" b="0">
                          <a:solidFill>
                            <a:srgbClr val="24384B"/>
                          </a:solidFill>
                          <a:latin typeface="Calibri"/>
                        </a:defRPr>
                      </a:pPr>
                      <a:r>
                        <a:t>Gate-level test</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Run your test against the generated gate connections</a:t>
                      </a:r>
                    </a:p>
                  </a:txBody>
                  <a:tcPr marL="109728" marR="73152" marT="64008" marB="45720">
                    <a:solidFill>
                      <a:srgbClr val="EAF4F3"/>
                    </a:solidFill>
                  </a:tcPr>
                </a:tc>
              </a:tr>
              <a:tr h="570588">
                <a:tc>
                  <a:txBody>
                    <a:bodyPr/>
                    <a:lstStyle/>
                    <a:p>
                      <a:pPr>
                        <a:spcAft>
                          <a:spcPts val="0"/>
                        </a:spcAft>
                        <a:defRPr sz="1800" b="0">
                          <a:solidFill>
                            <a:srgbClr val="24384B"/>
                          </a:solidFill>
                          <a:latin typeface="Calibri"/>
                        </a:defRPr>
                      </a:pPr>
                      <a:r>
                        <a:t>Viewer</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Publish an image/browser view of the layout</a:t>
                      </a:r>
                    </a:p>
                  </a:txBody>
                  <a:tcPr marL="109728" marR="73152" marT="64008" marB="45720">
                    <a:solidFill>
                      <a:srgbClr val="FFFFFF"/>
                    </a:solidFill>
                  </a:tcPr>
                </a:tc>
              </a:tr>
            </a:tbl>
          </a:graphicData>
        </a:graphic>
      </p:graphicFrame>
      <p:sp>
        <p:nvSpPr>
          <p:cNvPr id="8" name="TextBox 7"/>
          <p:cNvSpPr txBox="1"/>
          <p:nvPr/>
        </p:nvSpPr>
        <p:spPr>
          <a:xfrm>
            <a:off x="713232" y="4965192"/>
            <a:ext cx="10625328" cy="50292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Open the layout. Download tt_submission and GDS_logs.</a:t>
            </a:r>
          </a:p>
        </p:txBody>
      </p:sp>
      <p:sp>
        <p:nvSpPr>
          <p:cNvPr id="9" name="Rounded Rectangle 8"/>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1" name="TextBox 10"/>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RTL, docs and every required gds job passed for one commit; I can open its layout and artifacts.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GLS • SAME TEST, GENERATED CIRCUIT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12. See what changes for gate-level simulation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19</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GLS runs your test against generated logic cells and their connections.</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01</a:t>
            </a:r>
          </a:p>
        </p:txBody>
      </p:sp>
      <p:sp>
        <p:nvSpPr>
          <p:cNvPr id="10" name="TextBox 9"/>
          <p:cNvSpPr txBox="1"/>
          <p:nvPr/>
        </p:nvSpPr>
        <p:spPr>
          <a:xfrm>
            <a:off x="1024128" y="2606040"/>
            <a:ext cx="4480560" cy="674827"/>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the same test/test.py and external port checks.</a:t>
            </a:r>
          </a:p>
        </p:txBody>
      </p:sp>
      <p:sp>
        <p:nvSpPr>
          <p:cNvPr id="11" name="TextBox 10"/>
          <p:cNvSpPr txBox="1"/>
          <p:nvPr/>
        </p:nvSpPr>
        <p:spPr>
          <a:xfrm>
            <a:off x="548640" y="3390595"/>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02</a:t>
            </a:r>
          </a:p>
        </p:txBody>
      </p:sp>
      <p:sp>
        <p:nvSpPr>
          <p:cNvPr id="12" name="TextBox 11"/>
          <p:cNvSpPr txBox="1"/>
          <p:nvPr/>
        </p:nvSpPr>
        <p:spPr>
          <a:xfrm>
            <a:off x="1024128" y="3390595"/>
            <a:ext cx="4480560" cy="689914"/>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Keep the GL_TEST fixture’s VPWR and VGND connections.</a:t>
            </a:r>
          </a:p>
        </p:txBody>
      </p:sp>
      <p:sp>
        <p:nvSpPr>
          <p:cNvPr id="13" name="TextBox 12"/>
          <p:cNvSpPr txBox="1"/>
          <p:nvPr/>
        </p:nvSpPr>
        <p:spPr>
          <a:xfrm>
            <a:off x="548640" y="4190238"/>
            <a:ext cx="384048" cy="365760"/>
          </a:xfrm>
          <a:prstGeom prst="rect">
            <a:avLst/>
          </a:prstGeom>
          <a:noFill/>
        </p:spPr>
        <p:txBody>
          <a:bodyPr wrap="square" lIns="0" rIns="0" tIns="0" bIns="0" anchor="t">
            <a:spAutoFit/>
          </a:bodyPr>
          <a:lstStyle/>
          <a:p>
            <a:pPr>
              <a:spcAft>
                <a:spcPts val="800"/>
              </a:spcAft>
              <a:defRPr sz="2000" b="1">
                <a:solidFill>
                  <a:srgbClr val="087F8C"/>
                </a:solidFill>
                <a:latin typeface="Calibri"/>
              </a:defRPr>
            </a:pPr>
            <a:r>
              <a:t>03</a:t>
            </a:r>
          </a:p>
        </p:txBody>
      </p:sp>
      <p:sp>
        <p:nvSpPr>
          <p:cNvPr id="14" name="TextBox 13"/>
          <p:cNvSpPr txBox="1"/>
          <p:nvPr/>
        </p:nvSpPr>
        <p:spPr>
          <a:xfrm>
            <a:off x="1024128" y="4190238"/>
            <a:ext cx="4480560" cy="1021842"/>
          </a:xfrm>
          <a:prstGeom prst="rect">
            <a:avLst/>
          </a:prstGeom>
          <a:noFill/>
        </p:spPr>
        <p:txBody>
          <a:bodyPr wrap="square" lIns="0" rIns="0" tIns="0" bIns="0" anchor="t">
            <a:spAutoFit/>
          </a:bodyPr>
          <a:lstStyle/>
          <a:p>
            <a:pPr>
              <a:spcAft>
                <a:spcPts val="800"/>
              </a:spcAft>
              <a:defRPr sz="2000" b="0">
                <a:solidFill>
                  <a:srgbClr val="24384B"/>
                </a:solidFill>
                <a:latin typeface="Calibri"/>
              </a:defRPr>
            </a:pPr>
            <a:r>
              <a:t>The cloud job supplies the netlist and cell models; GATES=yes selects them.</a:t>
            </a:r>
          </a:p>
        </p:txBody>
      </p:sp>
      <p:sp>
        <p:nvSpPr>
          <p:cNvPr id="15" name="Rounded Rectangle 14"/>
          <p:cNvSpPr/>
          <p:nvPr/>
        </p:nvSpPr>
        <p:spPr>
          <a:xfrm>
            <a:off x="5760720" y="2606040"/>
            <a:ext cx="5879592" cy="2779776"/>
          </a:xfrm>
          <a:prstGeom prst="roundRect">
            <a:avLst>
              <a:gd name="adj" fmla="val 8000"/>
            </a:avLst>
          </a:prstGeom>
          <a:solidFill>
            <a:srgbClr val="F0F3F5"/>
          </a:solidFill>
          <a:ln w="12700">
            <a:solidFill>
              <a:srgbClr val="E0E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16168" y="2724912"/>
            <a:ext cx="5568696" cy="320040"/>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test/tb.v — preserve this conditional connection</a:t>
            </a:r>
          </a:p>
        </p:txBody>
      </p:sp>
      <p:sp>
        <p:nvSpPr>
          <p:cNvPr id="17" name="TextBox 16"/>
          <p:cNvSpPr txBox="1"/>
          <p:nvPr/>
        </p:nvSpPr>
        <p:spPr>
          <a:xfrm>
            <a:off x="5916168" y="3154680"/>
            <a:ext cx="5568696" cy="1929384"/>
          </a:xfrm>
          <a:prstGeom prst="rect">
            <a:avLst/>
          </a:prstGeom>
          <a:noFill/>
        </p:spPr>
        <p:txBody>
          <a:bodyPr wrap="none" lIns="0" rIns="0" tIns="0" bIns="0" anchor="t">
            <a:spAutoFit/>
          </a:bodyPr>
          <a:lstStyle/>
          <a:p>
            <a:pPr>
              <a:spcAft>
                <a:spcPts val="0"/>
              </a:spcAft>
              <a:defRPr sz="1400" b="0">
                <a:solidFill>
                  <a:srgbClr val="24384B"/>
                </a:solidFill>
                <a:latin typeface="Consolas"/>
              </a:defRPr>
            </a:pPr>
            <a:r>
              <a:t>`ifdef GL_TEST</a:t>
            </a:r>
          </a:p>
          <a:p>
            <a:pPr>
              <a:spcAft>
                <a:spcPts val="0"/>
              </a:spcAft>
              <a:defRPr sz="1400" b="0">
                <a:solidFill>
                  <a:srgbClr val="24384B"/>
                </a:solidFill>
                <a:latin typeface="Consolas"/>
              </a:defRPr>
            </a:pPr>
            <a:r>
              <a:t>    .VPWR(VPWR),</a:t>
            </a:r>
          </a:p>
          <a:p>
            <a:pPr>
              <a:spcAft>
                <a:spcPts val="0"/>
              </a:spcAft>
              <a:defRPr sz="1400" b="0">
                <a:solidFill>
                  <a:srgbClr val="24384B"/>
                </a:solidFill>
                <a:latin typeface="Consolas"/>
              </a:defRPr>
            </a:pPr>
            <a:r>
              <a:t>    .VGND(VGND),</a:t>
            </a:r>
          </a:p>
          <a:p>
            <a:pPr>
              <a:spcAft>
                <a:spcPts val="0"/>
              </a:spcAft>
              <a:defRPr sz="1400" b="0">
                <a:solidFill>
                  <a:srgbClr val="24384B"/>
                </a:solidFill>
                <a:latin typeface="Consolas"/>
              </a:defRPr>
            </a:pPr>
            <a:r>
              <a:t>`endif</a:t>
            </a:r>
          </a:p>
        </p:txBody>
      </p:sp>
      <p:sp>
        <p:nvSpPr>
          <p:cNvPr id="18" name="Rounded Rectangle 17"/>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0" name="TextBox 19"/>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uses the wrapper ports, and the supplied fixture and gate-level Makefile branch are intact.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GLS • SAME TEST, GENERATED CIRCUIT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12. See what changes for gate-level simulation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13</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20</a:t>
            </a:r>
          </a:p>
        </p:txBody>
      </p:sp>
      <p:graphicFrame>
        <p:nvGraphicFramePr>
          <p:cNvPr id="8" name="Table 7"/>
          <p:cNvGraphicFramePr>
            <a:graphicFrameLocks noGrp="1"/>
          </p:cNvGraphicFramePr>
          <p:nvPr/>
        </p:nvGraphicFramePr>
        <p:xfrm>
          <a:off x="594360" y="1874519"/>
          <a:ext cx="7360920" cy="3566160"/>
        </p:xfrm>
        <a:graphic>
          <a:graphicData uri="http://schemas.openxmlformats.org/drawingml/2006/table">
            <a:tbl>
              <a:tblPr firstRow="1" bandRow="1">
                <a:tableStyleId>{5C22544A-7EE6-4342-B048-85BDC9FD1C3A}</a:tableStyleId>
              </a:tblPr>
              <a:tblGrid>
                <a:gridCol w="3680460"/>
                <a:gridCol w="3680460"/>
              </a:tblGrid>
              <a:tr h="713232">
                <a:tc>
                  <a:txBody>
                    <a:bodyPr/>
                    <a:lstStyle/>
                    <a:p>
                      <a:pPr>
                        <a:spcAft>
                          <a:spcPts val="0"/>
                        </a:spcAft>
                        <a:defRPr sz="1800" b="1">
                          <a:solidFill>
                            <a:srgbClr val="FFFFFF"/>
                          </a:solidFill>
                          <a:latin typeface="Calibri"/>
                        </a:defRPr>
                      </a:pPr>
                      <a:r>
                        <a:t>RTL simulation</a:t>
                      </a:r>
                    </a:p>
                  </a:txBody>
                  <a:tcPr marL="109728" marR="73152" marT="64008" marB="45720">
                    <a:solidFill>
                      <a:srgbClr val="16324F"/>
                    </a:solidFill>
                  </a:tcPr>
                </a:tc>
                <a:tc>
                  <a:txBody>
                    <a:bodyPr/>
                    <a:lstStyle/>
                    <a:p>
                      <a:pPr>
                        <a:spcAft>
                          <a:spcPts val="0"/>
                        </a:spcAft>
                        <a:defRPr sz="1800" b="1">
                          <a:solidFill>
                            <a:srgbClr val="FFFFFF"/>
                          </a:solidFill>
                          <a:latin typeface="Calibri"/>
                        </a:defRPr>
                      </a:pPr>
                      <a:r>
                        <a:t>Gate-level simulation</a:t>
                      </a:r>
                    </a:p>
                  </a:txBody>
                  <a:tcPr marL="109728" marR="73152" marT="64008" marB="45720">
                    <a:solidFill>
                      <a:srgbClr val="16324F"/>
                    </a:solidFill>
                  </a:tcPr>
                </a:tc>
              </a:tr>
              <a:tr h="713232">
                <a:tc>
                  <a:txBody>
                    <a:bodyPr/>
                    <a:lstStyle/>
                    <a:p>
                      <a:pPr>
                        <a:spcAft>
                          <a:spcPts val="0"/>
                        </a:spcAft>
                        <a:defRPr sz="1800" b="0">
                          <a:solidFill>
                            <a:srgbClr val="24384B"/>
                          </a:solidFill>
                          <a:latin typeface="Calibri"/>
                        </a:defRPr>
                      </a:pPr>
                      <a:r>
                        <a:t>Your source Verilog</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Generated gate_level_netlist.v</a:t>
                      </a:r>
                    </a:p>
                  </a:txBody>
                  <a:tcPr marL="109728" marR="73152" marT="64008" marB="45720">
                    <a:solidFill>
                      <a:srgbClr val="EAF4F3"/>
                    </a:solidFill>
                  </a:tcPr>
                </a:tc>
              </a:tr>
              <a:tr h="713232">
                <a:tc>
                  <a:txBody>
                    <a:bodyPr/>
                    <a:lstStyle/>
                    <a:p>
                      <a:pPr>
                        <a:spcAft>
                          <a:spcPts val="0"/>
                        </a:spcAft>
                        <a:defRPr sz="1800" b="0">
                          <a:solidFill>
                            <a:srgbClr val="24384B"/>
                          </a:solidFill>
                          <a:latin typeface="Calibri"/>
                        </a:defRPr>
                      </a:pPr>
                      <a:r>
                        <a:t>Behaviour described in your code</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Logic cells connected by the build</a:t>
                      </a:r>
                    </a:p>
                  </a:txBody>
                  <a:tcPr marL="109728" marR="73152" marT="64008" marB="45720">
                    <a:solidFill>
                      <a:srgbClr val="FFFFFF"/>
                    </a:solidFill>
                  </a:tcPr>
                </a:tc>
              </a:tr>
              <a:tr h="713232">
                <a:tc>
                  <a:txBody>
                    <a:bodyPr/>
                    <a:lstStyle/>
                    <a:p>
                      <a:pPr>
                        <a:spcAft>
                          <a:spcPts val="0"/>
                        </a:spcAft>
                        <a:defRPr sz="1800" b="0">
                          <a:solidFill>
                            <a:srgbClr val="24384B"/>
                          </a:solidFill>
                          <a:latin typeface="Calibri"/>
                        </a:defRPr>
                      </a:pPr>
                      <a:r>
                        <a:t>Same test/test.py</a:t>
                      </a:r>
                    </a:p>
                  </a:txBody>
                  <a:tcPr marL="109728" marR="73152" marT="64008" marB="45720">
                    <a:solidFill>
                      <a:srgbClr val="EAF4F3"/>
                    </a:solidFill>
                  </a:tcPr>
                </a:tc>
                <a:tc>
                  <a:txBody>
                    <a:bodyPr/>
                    <a:lstStyle/>
                    <a:p>
                      <a:pPr>
                        <a:spcAft>
                          <a:spcPts val="0"/>
                        </a:spcAft>
                        <a:defRPr sz="1800" b="0">
                          <a:solidFill>
                            <a:srgbClr val="24384B"/>
                          </a:solidFill>
                          <a:latin typeface="Calibri"/>
                        </a:defRPr>
                      </a:pPr>
                      <a:r>
                        <a:t>Same test/test.py</a:t>
                      </a:r>
                    </a:p>
                  </a:txBody>
                  <a:tcPr marL="109728" marR="73152" marT="64008" marB="45720">
                    <a:solidFill>
                      <a:srgbClr val="EAF4F3"/>
                    </a:solidFill>
                  </a:tcPr>
                </a:tc>
              </a:tr>
              <a:tr h="713232">
                <a:tc>
                  <a:txBody>
                    <a:bodyPr/>
                    <a:lstStyle/>
                    <a:p>
                      <a:pPr>
                        <a:spcAft>
                          <a:spcPts val="0"/>
                        </a:spcAft>
                        <a:defRPr sz="1800" b="0">
                          <a:solidFill>
                            <a:srgbClr val="24384B"/>
                          </a:solidFill>
                          <a:latin typeface="Calibri"/>
                        </a:defRPr>
                      </a:pPr>
                      <a:r>
                        <a:t>No extra cell power pins</a:t>
                      </a:r>
                    </a:p>
                  </a:txBody>
                  <a:tcPr marL="109728" marR="73152" marT="64008" marB="45720">
                    <a:solidFill>
                      <a:srgbClr val="FFFFFF"/>
                    </a:solidFill>
                  </a:tcPr>
                </a:tc>
                <a:tc>
                  <a:txBody>
                    <a:bodyPr/>
                    <a:lstStyle/>
                    <a:p>
                      <a:pPr>
                        <a:spcAft>
                          <a:spcPts val="0"/>
                        </a:spcAft>
                        <a:defRPr sz="1800" b="0">
                          <a:solidFill>
                            <a:srgbClr val="24384B"/>
                          </a:solidFill>
                          <a:latin typeface="Calibri"/>
                        </a:defRPr>
                      </a:pPr>
                      <a:r>
                        <a:t>GL_TEST fixture connects VPWR and VGND</a:t>
                      </a:r>
                    </a:p>
                  </a:txBody>
                  <a:tcPr marL="109728" marR="73152" marT="64008" marB="45720">
                    <a:solidFill>
                      <a:srgbClr val="FFFFFF"/>
                    </a:solidFill>
                  </a:tcPr>
                </a:tc>
              </a:tr>
            </a:tbl>
          </a:graphicData>
        </a:graphic>
      </p:graphicFrame>
      <p:sp>
        <p:nvSpPr>
          <p:cNvPr id="9" name="TextBox 8"/>
          <p:cNvSpPr txBox="1"/>
          <p:nvPr/>
        </p:nvSpPr>
        <p:spPr>
          <a:xfrm>
            <a:off x="8229600" y="2011680"/>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10" name="TextBox 9"/>
          <p:cNvSpPr txBox="1"/>
          <p:nvPr/>
        </p:nvSpPr>
        <p:spPr>
          <a:xfrm>
            <a:off x="8705088" y="2011680"/>
            <a:ext cx="2871216" cy="309067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Netlist = A generated description of logic cells and the wires joining them.</a:t>
            </a:r>
          </a:p>
        </p:txBody>
      </p:sp>
      <p:sp>
        <p:nvSpPr>
          <p:cNvPr id="11" name="Rounded Rectangle 10"/>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3" name="TextBox 12"/>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My test uses the wrapper ports, and the supplied fixture and gate-level Makefile branch are intact.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gl_test</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13. Open the GLS job and check its evidence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14</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21</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Open the gate-level job for the same commit as your RTL test.</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01</a:t>
            </a:r>
          </a:p>
        </p:txBody>
      </p:sp>
      <p:sp>
        <p:nvSpPr>
          <p:cNvPr id="10" name="TextBox 9"/>
          <p:cNvSpPr txBox="1"/>
          <p:nvPr/>
        </p:nvSpPr>
        <p:spPr>
          <a:xfrm>
            <a:off x="1024128" y="2606040"/>
            <a:ext cx="4480560" cy="684111"/>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Actions → gds → your run → gl_test → GL test → Run tests.</a:t>
            </a:r>
          </a:p>
        </p:txBody>
      </p:sp>
      <p:sp>
        <p:nvSpPr>
          <p:cNvPr id="11" name="TextBox 10"/>
          <p:cNvSpPr txBox="1"/>
          <p:nvPr/>
        </p:nvSpPr>
        <p:spPr>
          <a:xfrm>
            <a:off x="548640" y="3399879"/>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02</a:t>
            </a:r>
          </a:p>
        </p:txBody>
      </p:sp>
      <p:sp>
        <p:nvSpPr>
          <p:cNvPr id="12" name="TextBox 11"/>
          <p:cNvSpPr txBox="1"/>
          <p:nvPr/>
        </p:nvSpPr>
        <p:spPr>
          <a:xfrm>
            <a:off x="1024128" y="3399879"/>
            <a:ext cx="4480560" cy="753746"/>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Read TESTS=1 PASS=1 FAIL=0 and confirm the whole job succeeds.</a:t>
            </a:r>
          </a:p>
        </p:txBody>
      </p:sp>
      <p:sp>
        <p:nvSpPr>
          <p:cNvPr id="13" name="TextBox 12"/>
          <p:cNvSpPr txBox="1"/>
          <p:nvPr/>
        </p:nvSpPr>
        <p:spPr>
          <a:xfrm>
            <a:off x="548640" y="4263354"/>
            <a:ext cx="384048" cy="365760"/>
          </a:xfrm>
          <a:prstGeom prst="rect">
            <a:avLst/>
          </a:prstGeom>
          <a:noFill/>
        </p:spPr>
        <p:txBody>
          <a:bodyPr wrap="square" lIns="0" rIns="0" tIns="0" bIns="0" anchor="t">
            <a:spAutoFit/>
          </a:bodyPr>
          <a:lstStyle/>
          <a:p>
            <a:pPr>
              <a:spcAft>
                <a:spcPts val="800"/>
              </a:spcAft>
              <a:defRPr sz="1900" b="1">
                <a:solidFill>
                  <a:srgbClr val="087F8C"/>
                </a:solidFill>
                <a:latin typeface="Calibri"/>
              </a:defRPr>
            </a:pPr>
            <a:r>
              <a:t>03</a:t>
            </a:r>
          </a:p>
        </p:txBody>
      </p:sp>
      <p:sp>
        <p:nvSpPr>
          <p:cNvPr id="14" name="TextBox 13"/>
          <p:cNvSpPr txBox="1"/>
          <p:nvPr/>
        </p:nvSpPr>
        <p:spPr>
          <a:xfrm>
            <a:off x="1024128" y="4263354"/>
            <a:ext cx="4480560" cy="948725"/>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Summary → Artifacts → gatelevel_test_results: save results.xml and waveform.</a:t>
            </a:r>
          </a:p>
        </p:txBody>
      </p:sp>
      <p:pic>
        <p:nvPicPr>
          <p:cNvPr id="15" name="Picture 14" descr="gls-job.png"/>
          <p:cNvPicPr>
            <a:picLocks noChangeAspect="1"/>
          </p:cNvPicPr>
          <p:nvPr/>
        </p:nvPicPr>
        <p:blipFill>
          <a:blip r:embed="rId4"/>
          <a:stretch>
            <a:fillRect/>
          </a:stretch>
        </p:blipFill>
        <p:spPr>
          <a:xfrm>
            <a:off x="5760720" y="2606040"/>
            <a:ext cx="5852160" cy="2006454"/>
          </a:xfrm>
          <a:prstGeom prst="rect">
            <a:avLst/>
          </a:prstGeom>
        </p:spPr>
      </p:pic>
      <p:sp>
        <p:nvSpPr>
          <p:cNvPr id="16" name="TextBox 15"/>
          <p:cNvSpPr txBox="1"/>
          <p:nvPr/>
        </p:nvSpPr>
        <p:spPr>
          <a:xfrm>
            <a:off x="5760720" y="4722222"/>
            <a:ext cx="5852160" cy="493776"/>
          </a:xfrm>
          <a:prstGeom prst="rect">
            <a:avLst/>
          </a:prstGeom>
          <a:noFill/>
        </p:spPr>
        <p:txBody>
          <a:bodyPr wrap="square" lIns="0" rIns="0" tIns="0" bIns="0" anchor="t">
            <a:spAutoFit/>
          </a:bodyPr>
          <a:lstStyle/>
          <a:p>
            <a:pPr>
              <a:spcAft>
                <a:spcPts val="800"/>
              </a:spcAft>
              <a:defRPr sz="1200" b="0">
                <a:solidFill>
                  <a:srgbClr val="5E6D78"/>
                </a:solidFill>
                <a:latin typeface="Calibri"/>
              </a:defRPr>
            </a:pPr>
            <a:r>
              <a:t>Genuine successful gl_test job from the earlier COUNTER example at commit 61ef06b. It shows where to open GL test; it is not a shift-register result.</a:t>
            </a:r>
          </a:p>
        </p:txBody>
      </p:sp>
      <p:sp>
        <p:nvSpPr>
          <p:cNvPr id="17" name="Rounded Rectangle 16"/>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9" name="TextBox 18"/>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gl_test job passed for the same commit; I saved its results XML and waveform.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BROWSER • ACTIONS → gds → gl_test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13. Open the GLS job and check its evidence</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14</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22</a:t>
            </a:r>
          </a:p>
        </p:txBody>
      </p:sp>
      <p:sp>
        <p:nvSpPr>
          <p:cNvPr id="8" name="Rounded Rectangle 7"/>
          <p:cNvSpPr/>
          <p:nvPr/>
        </p:nvSpPr>
        <p:spPr>
          <a:xfrm>
            <a:off x="530352" y="1819656"/>
            <a:ext cx="11091672" cy="1664208"/>
          </a:xfrm>
          <a:prstGeom prst="roundRect">
            <a:avLst>
              <a:gd name="adj" fmla="val 8000"/>
            </a:avLst>
          </a:prstGeom>
          <a:solidFill>
            <a:srgbClr val="FFF0E3"/>
          </a:solidFill>
          <a:ln w="12700">
            <a:solidFill>
              <a:srgbClr val="FFF0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2011680"/>
            <a:ext cx="10607040" cy="384048"/>
          </a:xfrm>
          <a:prstGeom prst="rect">
            <a:avLst/>
          </a:prstGeom>
          <a:noFill/>
        </p:spPr>
        <p:txBody>
          <a:bodyPr wrap="square" lIns="0" rIns="0" tIns="0" bIns="0" anchor="t">
            <a:spAutoFit/>
          </a:bodyPr>
          <a:lstStyle/>
          <a:p>
            <a:pPr>
              <a:spcAft>
                <a:spcPts val="800"/>
              </a:spcAft>
              <a:defRPr sz="1600" b="1">
                <a:solidFill>
                  <a:srgbClr val="D96A2B"/>
                </a:solidFill>
                <a:latin typeface="Calibri"/>
              </a:defRPr>
            </a:pPr>
            <a:r>
              <a:t>PAUSE &amp; PREDICT</a:t>
            </a:r>
          </a:p>
        </p:txBody>
      </p:sp>
      <p:sp>
        <p:nvSpPr>
          <p:cNvPr id="10" name="TextBox 9"/>
          <p:cNvSpPr txBox="1"/>
          <p:nvPr/>
        </p:nvSpPr>
        <p:spPr>
          <a:xfrm>
            <a:off x="749808" y="2468880"/>
            <a:ext cx="10607040" cy="987552"/>
          </a:xfrm>
          <a:prstGeom prst="rect">
            <a:avLst/>
          </a:prstGeom>
          <a:noFill/>
        </p:spPr>
        <p:txBody>
          <a:bodyPr wrap="square" lIns="0" rIns="0" tIns="0" bIns="0" anchor="t">
            <a:spAutoFit/>
          </a:bodyPr>
          <a:lstStyle/>
          <a:p>
            <a:pPr>
              <a:spcAft>
                <a:spcPts val="800"/>
              </a:spcAft>
              <a:defRPr sz="2600" b="1">
                <a:solidFill>
                  <a:srgbClr val="16324F"/>
                </a:solidFill>
                <a:latin typeface="Calibri"/>
              </a:defRPr>
            </a:pPr>
            <a:r>
              <a:t>Does this GLS result prove that every timing requirement is met?</a:t>
            </a:r>
          </a:p>
        </p:txBody>
      </p:sp>
      <p:sp>
        <p:nvSpPr>
          <p:cNvPr id="11" name="TextBox 10"/>
          <p:cNvSpPr txBox="1"/>
          <p:nvPr/>
        </p:nvSpPr>
        <p:spPr>
          <a:xfrm>
            <a:off x="749808" y="3849624"/>
            <a:ext cx="10652760" cy="1389888"/>
          </a:xfrm>
          <a:prstGeom prst="rect">
            <a:avLst/>
          </a:prstGeom>
          <a:noFill/>
        </p:spPr>
        <p:txBody>
          <a:bodyPr wrap="square" lIns="0" rIns="0" tIns="0" bIns="0" anchor="t">
            <a:spAutoFit/>
          </a:bodyPr>
          <a:lstStyle/>
          <a:p>
            <a:pPr>
              <a:spcAft>
                <a:spcPts val="800"/>
              </a:spcAft>
              <a:defRPr sz="2200" b="0">
                <a:solidFill>
                  <a:srgbClr val="24384B"/>
                </a:solidFill>
                <a:latin typeface="Calibri"/>
              </a:defRPr>
            </a:pPr>
            <a:r>
              <a:t>Answer: No. This is a functional gate-level test. Inspect the build’s separate timing reports as well; this walkthrough does not run an SDF timing-annotated simulation.</a:t>
            </a:r>
          </a:p>
        </p:txBody>
      </p:sp>
      <p:sp>
        <p:nvSpPr>
          <p:cNvPr id="12" name="Rounded Rectangle 11"/>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4" name="TextBox 13"/>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The gl_test job passed for the same commit; I saved its results XML and waveform.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FINISH • CHECKLIST AND HELP</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14. Keep your result and use the guide again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15</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23</a:t>
            </a:r>
          </a:p>
        </p:txBody>
      </p:sp>
      <p:sp>
        <p:nvSpPr>
          <p:cNvPr id="8" name="TextBox 7"/>
          <p:cNvSpPr txBox="1"/>
          <p:nvPr/>
        </p:nvSpPr>
        <p:spPr>
          <a:xfrm>
            <a:off x="530352" y="1728216"/>
            <a:ext cx="11000232" cy="713232"/>
          </a:xfrm>
          <a:prstGeom prst="rect">
            <a:avLst/>
          </a:prstGeom>
          <a:noFill/>
        </p:spPr>
        <p:txBody>
          <a:bodyPr wrap="square" lIns="0" rIns="0" tIns="0" bIns="0" anchor="t">
            <a:spAutoFit/>
          </a:bodyPr>
          <a:lstStyle/>
          <a:p>
            <a:pPr>
              <a:spcAft>
                <a:spcPts val="800"/>
              </a:spcAft>
              <a:defRPr sz="1900" b="0">
                <a:solidFill>
                  <a:srgbClr val="5E6D78"/>
                </a:solidFill>
                <a:latin typeface="Calibri"/>
              </a:defRPr>
            </a:pPr>
            <a:r>
              <a:t>Save one identifiable result: circuit, checks, layout and evidence.</a:t>
            </a:r>
          </a:p>
        </p:txBody>
      </p:sp>
      <p:sp>
        <p:nvSpPr>
          <p:cNvPr id="9" name="TextBox 8"/>
          <p:cNvSpPr txBox="1"/>
          <p:nvPr/>
        </p:nvSpPr>
        <p:spPr>
          <a:xfrm>
            <a:off x="548640" y="2606040"/>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01</a:t>
            </a:r>
          </a:p>
        </p:txBody>
      </p:sp>
      <p:sp>
        <p:nvSpPr>
          <p:cNvPr id="10" name="TextBox 9"/>
          <p:cNvSpPr txBox="1"/>
          <p:nvPr/>
        </p:nvSpPr>
        <p:spPr>
          <a:xfrm>
            <a:off x="1024128" y="2606040"/>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Keep repository, commit and workflow links together.</a:t>
            </a:r>
          </a:p>
        </p:txBody>
      </p:sp>
      <p:sp>
        <p:nvSpPr>
          <p:cNvPr id="11" name="TextBox 10"/>
          <p:cNvSpPr txBox="1"/>
          <p:nvPr/>
        </p:nvSpPr>
        <p:spPr>
          <a:xfrm>
            <a:off x="548640" y="3517392"/>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02</a:t>
            </a:r>
          </a:p>
        </p:txBody>
      </p:sp>
      <p:sp>
        <p:nvSpPr>
          <p:cNvPr id="12" name="TextBox 11"/>
          <p:cNvSpPr txBox="1"/>
          <p:nvPr/>
        </p:nvSpPr>
        <p:spPr>
          <a:xfrm>
            <a:off x="1024128" y="3517392"/>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Save the GDS, reports and datasheet for that same commit.</a:t>
            </a:r>
          </a:p>
        </p:txBody>
      </p:sp>
      <p:sp>
        <p:nvSpPr>
          <p:cNvPr id="13" name="TextBox 12"/>
          <p:cNvSpPr txBox="1"/>
          <p:nvPr/>
        </p:nvSpPr>
        <p:spPr>
          <a:xfrm>
            <a:off x="548640" y="4428744"/>
            <a:ext cx="384048" cy="365760"/>
          </a:xfrm>
          <a:prstGeom prst="rect">
            <a:avLst/>
          </a:prstGeom>
          <a:noFill/>
        </p:spPr>
        <p:txBody>
          <a:bodyPr wrap="square" lIns="0" rIns="0" tIns="0" bIns="0" anchor="t">
            <a:spAutoFit/>
          </a:bodyPr>
          <a:lstStyle/>
          <a:p>
            <a:pPr>
              <a:spcAft>
                <a:spcPts val="800"/>
              </a:spcAft>
              <a:defRPr sz="2100" b="1">
                <a:solidFill>
                  <a:srgbClr val="087F8C"/>
                </a:solidFill>
                <a:latin typeface="Calibri"/>
              </a:defRPr>
            </a:pPr>
            <a:r>
              <a:t>03</a:t>
            </a:r>
          </a:p>
        </p:txBody>
      </p:sp>
      <p:sp>
        <p:nvSpPr>
          <p:cNvPr id="14" name="TextBox 13"/>
          <p:cNvSpPr txBox="1"/>
          <p:nvPr/>
        </p:nvSpPr>
        <p:spPr>
          <a:xfrm>
            <a:off x="1024128" y="4428744"/>
            <a:ext cx="10396728" cy="801624"/>
          </a:xfrm>
          <a:prstGeom prst="rect">
            <a:avLst/>
          </a:prstGeom>
          <a:noFill/>
        </p:spPr>
        <p:txBody>
          <a:bodyPr wrap="square" lIns="0" rIns="0" tIns="0" bIns="0" anchor="t">
            <a:spAutoFit/>
          </a:bodyPr>
          <a:lstStyle/>
          <a:p>
            <a:pPr>
              <a:spcAft>
                <a:spcPts val="800"/>
              </a:spcAft>
              <a:defRPr sz="2100" b="0">
                <a:solidFill>
                  <a:srgbClr val="24384B"/>
                </a:solidFill>
                <a:latin typeface="Calibri"/>
              </a:defRPr>
            </a:pPr>
            <a:r>
              <a:t>For your next design: map → wrap → list sources → test → build.</a:t>
            </a:r>
          </a:p>
        </p:txBody>
      </p:sp>
      <p:sp>
        <p:nvSpPr>
          <p:cNvPr id="15" name="Rounded Rectangle 14"/>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17" name="TextBox 16"/>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saved a checked layout package for one identifiable commit.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1"/>
        </a:solidFill>
        <a:effectLst/>
      </p:bgPr>
    </p:bg>
    <p:spTree>
      <p:nvGrpSpPr>
        <p:cNvPr id="1" name=""/>
        <p:cNvGrpSpPr/>
        <p:nvPr/>
      </p:nvGrpSpPr>
      <p:grpSpPr/>
      <p:sp>
        <p:nvSpPr>
          <p:cNvPr id="2" name="Rectangle 1"/>
          <p:cNvSpPr/>
          <p:nvPr/>
        </p:nvSpPr>
        <p:spPr>
          <a:xfrm>
            <a:off x="0" y="0"/>
            <a:ext cx="146304" cy="6858000"/>
          </a:xfrm>
          <a:prstGeom prst="rect">
            <a:avLst/>
          </a:prstGeom>
          <a:solidFill>
            <a:srgbClr val="087F8C"/>
          </a:solidFill>
          <a:ln w="12700">
            <a:solidFill>
              <a:srgbClr val="087F8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12064" y="265176"/>
            <a:ext cx="10789920" cy="292608"/>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t>FINISH • CHECKLIST AND HELP  /  DETAIL</a:t>
            </a:r>
          </a:p>
        </p:txBody>
      </p:sp>
      <p:sp>
        <p:nvSpPr>
          <p:cNvPr id="4" name="TextBox 3"/>
          <p:cNvSpPr txBox="1"/>
          <p:nvPr/>
        </p:nvSpPr>
        <p:spPr>
          <a:xfrm>
            <a:off x="512064" y="768096"/>
            <a:ext cx="10972800" cy="877824"/>
          </a:xfrm>
          <a:prstGeom prst="rect">
            <a:avLst/>
          </a:prstGeom>
          <a:noFill/>
        </p:spPr>
        <p:txBody>
          <a:bodyPr wrap="square" lIns="0" rIns="0" tIns="0" bIns="0" anchor="t">
            <a:spAutoFit/>
          </a:bodyPr>
          <a:lstStyle/>
          <a:p>
            <a:pPr>
              <a:spcAft>
                <a:spcPts val="800"/>
              </a:spcAft>
              <a:defRPr sz="3100" b="1">
                <a:solidFill>
                  <a:srgbClr val="16324F"/>
                </a:solidFill>
                <a:latin typeface="Calibri"/>
              </a:defRPr>
            </a:pPr>
            <a:r>
              <a:t>14. Keep your result and use the guide again</a:t>
            </a:r>
          </a:p>
        </p:txBody>
      </p:sp>
      <p:sp>
        <p:nvSpPr>
          <p:cNvPr id="5" name="TextBox 4"/>
          <p:cNvSpPr txBox="1"/>
          <p:nvPr/>
        </p:nvSpPr>
        <p:spPr>
          <a:xfrm>
            <a:off x="530352" y="6446520"/>
            <a:ext cx="9966960" cy="182880"/>
          </a:xfrm>
          <a:prstGeom prst="rect">
            <a:avLst/>
          </a:prstGeom>
          <a:noFill/>
        </p:spPr>
        <p:txBody>
          <a:bodyPr wrap="square" lIns="0" rIns="0" tIns="0" bIns="0" anchor="t">
            <a:spAutoFit/>
          </a:bodyPr>
          <a:lstStyle/>
          <a:p>
            <a:pPr>
              <a:spcAft>
                <a:spcPts val="800"/>
              </a:spcAft>
              <a:defRPr sz="1000" b="0">
                <a:solidFill>
                  <a:srgbClr val="5E6D78"/>
                </a:solidFill>
                <a:latin typeface="Calibri"/>
              </a:defRPr>
            </a:pPr>
            <a:r>
              <a:t>SHIFT REGISTER QUICKSTART  •  Guide page 15</a:t>
            </a:r>
          </a:p>
        </p:txBody>
      </p:sp>
      <p:sp>
        <p:nvSpPr>
          <p:cNvPr id="6" name="TextBox 5"/>
          <p:cNvSpPr txBox="1"/>
          <p:nvPr/>
        </p:nvSpPr>
        <p:spPr>
          <a:xfrm>
            <a:off x="7955279" y="6405372"/>
            <a:ext cx="2779776" cy="274320"/>
          </a:xfrm>
          <a:prstGeom prst="rect">
            <a:avLst/>
          </a:prstGeom>
          <a:noFill/>
        </p:spPr>
        <p:txBody>
          <a:bodyPr wrap="square" lIns="0" rIns="0" tIns="0" bIns="0" anchor="t">
            <a:spAutoFit/>
          </a:bodyPr>
          <a:lstStyle/>
          <a:p>
            <a:pPr>
              <a:spcAft>
                <a:spcPts val="800"/>
              </a:spcAft>
              <a:defRPr sz="1200" b="1">
                <a:solidFill>
                  <a:srgbClr val="087F8C"/>
                </a:solidFill>
                <a:latin typeface="Calibri"/>
              </a:defRPr>
            </a:pPr>
            <a:r>
              <a:rPr>
                <a:hlinkClick r:id="rId2"/>
              </a:rPr>
              <a:t>Open reference ↗</a:t>
            </a:r>
          </a:p>
        </p:txBody>
      </p:sp>
      <p:sp>
        <p:nvSpPr>
          <p:cNvPr id="7" name="TextBox 6"/>
          <p:cNvSpPr txBox="1"/>
          <p:nvPr/>
        </p:nvSpPr>
        <p:spPr>
          <a:xfrm>
            <a:off x="11064240" y="6400800"/>
            <a:ext cx="585216" cy="274320"/>
          </a:xfrm>
          <a:prstGeom prst="rect">
            <a:avLst/>
          </a:prstGeom>
          <a:noFill/>
        </p:spPr>
        <p:txBody>
          <a:bodyPr wrap="square" lIns="0" rIns="0" tIns="0" bIns="0" anchor="t">
            <a:spAutoFit/>
          </a:bodyPr>
          <a:lstStyle/>
          <a:p>
            <a:pPr>
              <a:spcAft>
                <a:spcPts val="800"/>
              </a:spcAft>
              <a:defRPr sz="1100" b="0">
                <a:solidFill>
                  <a:srgbClr val="5E6D78"/>
                </a:solidFill>
                <a:latin typeface="Calibri"/>
              </a:defRPr>
            </a:pPr>
            <a:r>
              <a:t>24</a:t>
            </a:r>
          </a:p>
        </p:txBody>
      </p:sp>
      <p:sp>
        <p:nvSpPr>
          <p:cNvPr id="8" name="Rounded Rectangle 7"/>
          <p:cNvSpPr/>
          <p:nvPr/>
        </p:nvSpPr>
        <p:spPr>
          <a:xfrm>
            <a:off x="640080" y="1883664"/>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4671" y="2039112"/>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Unknown module / missing file</a:t>
            </a:r>
          </a:p>
        </p:txBody>
      </p:sp>
      <p:sp>
        <p:nvSpPr>
          <p:cNvPr id="10" name="TextBox 9"/>
          <p:cNvSpPr txBox="1"/>
          <p:nvPr/>
        </p:nvSpPr>
        <p:spPr>
          <a:xfrm>
            <a:off x="804671" y="2514600"/>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Check the three names and both source lists. Guide page 7.</a:t>
            </a:r>
          </a:p>
        </p:txBody>
      </p:sp>
      <p:sp>
        <p:nvSpPr>
          <p:cNvPr id="11" name="Rounded Rectangle 10"/>
          <p:cNvSpPr/>
          <p:nvPr/>
        </p:nvSpPr>
        <p:spPr>
          <a:xfrm>
            <a:off x="6172200" y="1883664"/>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36792" y="2039112"/>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Reset / shift assertion fails</a:t>
            </a:r>
          </a:p>
        </p:txBody>
      </p:sp>
      <p:sp>
        <p:nvSpPr>
          <p:cNvPr id="13" name="TextBox 12"/>
          <p:cNvSpPr txBox="1"/>
          <p:nvPr/>
        </p:nvSpPr>
        <p:spPr>
          <a:xfrm>
            <a:off x="6336792" y="2514600"/>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Check pin bits, reset polarity and expected values. Pages 5 and 9.</a:t>
            </a:r>
          </a:p>
        </p:txBody>
      </p:sp>
      <p:sp>
        <p:nvSpPr>
          <p:cNvPr id="14" name="Rounded Rectangle 13"/>
          <p:cNvSpPr/>
          <p:nvPr/>
        </p:nvSpPr>
        <p:spPr>
          <a:xfrm>
            <a:off x="640080" y="3566160"/>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1" y="3721608"/>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Documentation fails</a:t>
            </a:r>
          </a:p>
        </p:txBody>
      </p:sp>
      <p:sp>
        <p:nvSpPr>
          <p:cNvPr id="16" name="TextBox 15"/>
          <p:cNvSpPr txBox="1"/>
          <p:nvPr/>
        </p:nvSpPr>
        <p:spPr>
          <a:xfrm>
            <a:off x="804671" y="4197096"/>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Complete metadata, sections and pin keys. Keep YAML indentation. Page 8.</a:t>
            </a:r>
          </a:p>
        </p:txBody>
      </p:sp>
      <p:sp>
        <p:nvSpPr>
          <p:cNvPr id="17" name="Rounded Rectangle 16"/>
          <p:cNvSpPr/>
          <p:nvPr/>
        </p:nvSpPr>
        <p:spPr>
          <a:xfrm>
            <a:off x="6172200" y="3566160"/>
            <a:ext cx="5230368" cy="1444752"/>
          </a:xfrm>
          <a:prstGeom prst="roundRect">
            <a:avLst>
              <a:gd name="adj" fmla="val 8000"/>
            </a:avLst>
          </a:prstGeom>
          <a:solidFill>
            <a:srgbClr val="FFFFFF"/>
          </a:solidFill>
          <a:ln w="12700">
            <a:solidFill>
              <a:srgbClr val="D8E0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3721608"/>
            <a:ext cx="4882896" cy="384048"/>
          </a:xfrm>
          <a:prstGeom prst="rect">
            <a:avLst/>
          </a:prstGeom>
          <a:noFill/>
        </p:spPr>
        <p:txBody>
          <a:bodyPr wrap="square" lIns="0" rIns="0" tIns="0" bIns="0" anchor="t">
            <a:spAutoFit/>
          </a:bodyPr>
          <a:lstStyle/>
          <a:p>
            <a:pPr>
              <a:spcAft>
                <a:spcPts val="800"/>
              </a:spcAft>
              <a:defRPr sz="1900" b="1">
                <a:solidFill>
                  <a:srgbClr val="D96A2B"/>
                </a:solidFill>
                <a:latin typeface="Calibri"/>
              </a:defRPr>
            </a:pPr>
            <a:r>
              <a:t>Layout / viewer / gate test fails</a:t>
            </a:r>
          </a:p>
        </p:txBody>
      </p:sp>
      <p:sp>
        <p:nvSpPr>
          <p:cNvPr id="19" name="TextBox 18"/>
          <p:cNvSpPr txBox="1"/>
          <p:nvPr/>
        </p:nvSpPr>
        <p:spPr>
          <a:xfrm>
            <a:off x="6336792" y="4197096"/>
            <a:ext cx="4882896" cy="667512"/>
          </a:xfrm>
          <a:prstGeom prst="rect">
            <a:avLst/>
          </a:prstGeom>
          <a:noFill/>
        </p:spPr>
        <p:txBody>
          <a:bodyPr wrap="square" lIns="0" rIns="0" tIns="0" bIns="0" anchor="t">
            <a:spAutoFit/>
          </a:bodyPr>
          <a:lstStyle/>
          <a:p>
            <a:pPr>
              <a:spcAft>
                <a:spcPts val="800"/>
              </a:spcAft>
              <a:defRPr sz="1900" b="0">
                <a:solidFill>
                  <a:srgbClr val="24384B"/>
                </a:solidFill>
                <a:latin typeface="Calibri"/>
              </a:defRPr>
            </a:pPr>
            <a:r>
              <a:t>Open the first failing job. See GLS on pages 13–14 and help on page 15.</a:t>
            </a:r>
          </a:p>
        </p:txBody>
      </p:sp>
      <p:sp>
        <p:nvSpPr>
          <p:cNvPr id="20" name="Rounded Rectangle 19"/>
          <p:cNvSpPr/>
          <p:nvPr/>
        </p:nvSpPr>
        <p:spPr>
          <a:xfrm>
            <a:off x="502920" y="5669280"/>
            <a:ext cx="11155680" cy="603504"/>
          </a:xfrm>
          <a:prstGeom prst="roundRect">
            <a:avLst>
              <a:gd name="adj" fmla="val 8000"/>
            </a:avLst>
          </a:prstGeom>
          <a:solidFill>
            <a:srgbClr val="EAF4F3"/>
          </a:solidFill>
          <a:ln w="12700">
            <a:solidFill>
              <a:srgbClr val="EAF4F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5769864"/>
            <a:ext cx="1042415" cy="301752"/>
          </a:xfrm>
          <a:prstGeom prst="rect">
            <a:avLst/>
          </a:prstGeom>
          <a:noFill/>
        </p:spPr>
        <p:txBody>
          <a:bodyPr wrap="square" lIns="0" rIns="0" tIns="0" bIns="0" anchor="t">
            <a:spAutoFit/>
          </a:bodyPr>
          <a:lstStyle/>
          <a:p>
            <a:pPr>
              <a:spcAft>
                <a:spcPts val="800"/>
              </a:spcAft>
              <a:defRPr sz="1400" b="1">
                <a:solidFill>
                  <a:srgbClr val="087F8C"/>
                </a:solidFill>
                <a:latin typeface="Calibri"/>
              </a:defRPr>
            </a:pPr>
            <a:r>
              <a:t>CHECK</a:t>
            </a:r>
          </a:p>
        </p:txBody>
      </p:sp>
      <p:sp>
        <p:nvSpPr>
          <p:cNvPr id="22" name="TextBox 21"/>
          <p:cNvSpPr txBox="1"/>
          <p:nvPr/>
        </p:nvSpPr>
        <p:spPr>
          <a:xfrm>
            <a:off x="1755648" y="5760720"/>
            <a:ext cx="9665208" cy="393192"/>
          </a:xfrm>
          <a:prstGeom prst="rect">
            <a:avLst/>
          </a:prstGeom>
          <a:noFill/>
        </p:spPr>
        <p:txBody>
          <a:bodyPr wrap="square" lIns="0" rIns="0" tIns="0" bIns="0" anchor="t">
            <a:spAutoFit/>
          </a:bodyPr>
          <a:lstStyle/>
          <a:p>
            <a:pPr>
              <a:spcAft>
                <a:spcPts val="800"/>
              </a:spcAft>
              <a:defRPr sz="1600" b="0">
                <a:solidFill>
                  <a:srgbClr val="24384B"/>
                </a:solidFill>
                <a:latin typeface="Calibri"/>
              </a:defRPr>
            </a:pPr>
            <a:r>
              <a:t>I have saved a checked layout package for one identifiable commit.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Your Verilog to Tiny Tapeout</dc:title>
  <dc:subject>Compact practical lesson, with editable flowcharts and guide references</dc:subject>
  <dc:creator>EE6019 Research Project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