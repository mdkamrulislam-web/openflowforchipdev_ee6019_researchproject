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 Your Verilog → a checked chip layout</a:t>
            </a:r>
          </a:p>
          <a:p/>
          <a:p>
            <a:r>
              <a:t>You already have a working Verilog design. This guide shows how to put it inside Tiny Tapeout, test the connections and build its layout. We use an eight-bit shift register throughout.</a:t>
            </a:r>
          </a:p>
          <a:p/>
          <a:p>
            <a:r>
              <a:t>Keep this guide beside your browser. Use the interactive HTML version for the clock experiment and tick each checkpoint as you finish.</a:t>
            </a:r>
          </a:p>
          <a:p/>
          <a:p>
            <a:r>
              <a:t>Sign in to a free GitHub account. Download shift-register-starter.zip and extract it: on Windows, right-click → Extract All. Open the extracted folder containing info.yaml, src, test and docs. GitHub stores your project and runs the tools.</a:t>
            </a:r>
          </a:p>
          <a:p/>
          <a:p>
            <a:r>
              <a:t>Follow pages 2–14 in order. Pages 13–14 cover gate-level simulation (GLS); page 15 is your final checklist and help sheet. You need no chip board or local tool installation for this browser route.</a:t>
            </a:r>
          </a:p>
          <a:p/>
          <a:p>
            <a:r>
              <a:t>Tiny Tapeout = A service that combines small circuit designs on a shared chip. Its template includes the build tools.</a:t>
            </a:r>
          </a:p>
          <a:p/>
          <a:p>
            <a:r>
              <a:t>Layout = The shapes and wires used to manufacture the circuit. GDS is the file format that stores them.</a:t>
            </a:r>
          </a:p>
          <a:p/>
          <a:p>
            <a:r>
              <a:t>Check: I have opened the guide, signed in to GitHub and found the starter ZIP.</a:t>
            </a:r>
          </a:p>
          <a:p/>
          <a:p>
            <a:r>
              <a:t>Open GitHub / create a free account: https://github.com/signup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3: 2. Make your own Tiny Tapeout project</a:t>
            </a:r>
          </a:p>
          <a:p/>
          <a:p>
            <a:r>
              <a:t>A template is a ready-made set of folders and automation. A repository is your own saved project on GitHub.</a:t>
            </a:r>
          </a:p>
          <a:p/>
          <a:p>
            <a:r>
              <a:t>Open the official HDL templates page below. Choose the SKY Verilog template used in this lesson. Confirm the repository is TinyTapeout/ttsky-verilog-template.</a:t>
            </a:r>
          </a:p>
          <a:p/>
          <a:p>
            <a:r>
              <a:t>Sign in. Select Use this template → Create a new repository. Choose your own account as Owner.</a:t>
            </a:r>
          </a:p>
          <a:p/>
          <a:p>
            <a:r>
              <a:t>Name it tt-shift-register, choose Public, and create it. Check that the new page begins with YOUR username. All later edits happen in this new repository.</a:t>
            </a:r>
          </a:p>
          <a:p/>
          <a:p>
            <a:r>
              <a:t>Check: My repository belongs to my account and contains src, test, docs and info.yaml.</a:t>
            </a:r>
          </a:p>
          <a:p/>
          <a:p>
            <a:r>
              <a:t>Official Tiny Tapeout templates: https://tinytapeout.com/hdl/templates/</a:t>
            </a:r>
          </a:p>
          <a:p/>
          <a:p>
            <a:r>
              <a:t>SKY Verilog template: https://github.com/TinyTapeout/ttsky-verilog-template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4: 3. Turn on the build and results page</a:t>
            </a:r>
          </a:p>
          <a:p/>
          <a:p>
            <a:r>
              <a:t>GitHub Actions runs the checks for you. GitHub Pages displays the finished layout in a browser.</a:t>
            </a:r>
          </a:p>
          <a:p/>
          <a:p>
            <a:r>
              <a:t>In your new repository, open Actions. If you see an enable-workflows banner, enable it; otherwise continue.</a:t>
            </a:r>
          </a:p>
          <a:p/>
          <a:p>
            <a:r>
              <a:t>Open Settings → Pages. Under Build and deployment, change Source to GitHub Actions.</a:t>
            </a:r>
          </a:p>
          <a:p/>
          <a:p>
            <a:r>
              <a:t>Return to Code. Keep the template’s .github folder, src/config.json and test/requirements.txt. The starter changes your design files, while these files supply the tools.</a:t>
            </a:r>
          </a:p>
          <a:p/>
          <a:p>
            <a:r>
              <a:t>Workflow = A saved recipe of jobs that GitHub runs, such as test or gds.</a:t>
            </a:r>
          </a:p>
          <a:p/>
          <a:p>
            <a:r>
              <a:t>Check: Actions is available and Pages → Source says GitHub Actions.</a:t>
            </a:r>
          </a:p>
          <a:p/>
          <a:p>
            <a:r>
              <a:t>Pages troubleshooting: https://tinytapeout.com/faq/#my-github-action-is-failing-on-the-pages-part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6: 5. Add the wrapper around your design</a:t>
            </a:r>
          </a:p>
          <a:p/>
          <a:p>
            <a:r>
              <a:t>Open the supplied project.v. It creates one instance of your shift register and connects the signals from page 5. The shift-register code itself stays reusable.</a:t>
            </a:r>
          </a:p>
          <a:p/>
          <a:p>
            <a:r>
              <a:t>Use the complete supplied project.v as the replacement for the template’s example.</a:t>
            </a:r>
          </a:p>
          <a:p/>
          <a:p>
            <a:r>
              <a:t>For this first run, keep tt_um_student_shift_register unchanged everywhere. For a later submission, choose your own unique name beginning tt_um_ and change all three locations on page 7.</a:t>
            </a:r>
          </a:p>
          <a:p/>
          <a:p>
            <a:r>
              <a:t>Notice that ~ means invert: ~rst_n converts the reset convention. uio_oe = 0 makes every bidirectional pin an input.</a:t>
            </a:r>
          </a:p>
          <a:p/>
          <a:p>
            <a:r>
              <a:t>Check: My wrapper has the eight required ports and instantiates shift_register with the intended connections.</a:t>
            </a:r>
          </a:p>
          <a:p/>
          <a:p>
            <a:r>
              <a:t>Tiny Tapeout interface rules: https://tinytapeout.com/hdl/important/</a:t>
            </a:r>
          </a:p>
          <a:p/>
          <a:p>
            <a:r>
              <a:t>Full code (src/project.v):</a:t>
            </a:r>
          </a:p>
          <a:p/>
          <a:p>
            <a:r>
              <a:t>`default_nettype none</a:t>
            </a:r>
          </a:p>
          <a:p/>
          <a:p>
            <a:r>
              <a:t>// Wrapper: connects the existing design to Tiny Tapeout's fixed ports.</a:t>
            </a:r>
          </a:p>
          <a:p>
            <a:r>
              <a:t>module tt_um_student_shift_register (</a:t>
            </a:r>
          </a:p>
          <a:p>
            <a:r>
              <a:t>    input  wire [7:0] ui_in,</a:t>
            </a:r>
          </a:p>
          <a:p>
            <a:r>
              <a:t>    output wire [7:0] uo_out,</a:t>
            </a:r>
          </a:p>
          <a:p>
            <a:r>
              <a:t>    input  wire [7:0] uio_in,</a:t>
            </a:r>
          </a:p>
          <a:p>
            <a:r>
              <a:t>    output wire [7:0] uio_out,</a:t>
            </a:r>
          </a:p>
          <a:p>
            <a:r>
              <a:t>    output wire [7:0] uio_oe,</a:t>
            </a:r>
          </a:p>
          <a:p>
            <a:r>
              <a:t>    input  wire       ena,</a:t>
            </a:r>
          </a:p>
          <a:p>
            <a:r>
              <a:t>    input  wire       clk,</a:t>
            </a:r>
          </a:p>
          <a:p>
            <a:r>
              <a:t>    input  wire       rst_n</a:t>
            </a:r>
          </a:p>
          <a:p>
            <a:r>
              <a:t>);</a:t>
            </a:r>
          </a:p>
          <a:p>
            <a:r>
              <a:t>    shift_register core (</a:t>
            </a:r>
          </a:p>
          <a:p>
            <a:r>
              <a:t>        .clk       (clk),</a:t>
            </a:r>
          </a:p>
          <a:p>
            <a:r>
              <a:t>        .rst       (~rst_n),  // Tiny Tapeout reset is low; core reset is high</a:t>
            </a:r>
          </a:p>
          <a:p>
            <a:r>
              <a:t>        .enable    (ui_in[1]),</a:t>
            </a:r>
          </a:p>
          <a:p>
            <a:r>
              <a:t>        .serial_in (ui_in[0]),</a:t>
            </a:r>
          </a:p>
          <a:p>
            <a:r>
              <a:t>        .q         (uo_out)</a:t>
            </a:r>
          </a:p>
          <a:p>
            <a:r>
              <a:t>    );</a:t>
            </a:r>
          </a:p>
          <a:p/>
          <a:p>
            <a:r>
              <a:t>    // Bidirectional pins are unused. A 0 in uio_oe means input direction.</a:t>
            </a:r>
          </a:p>
          <a:p>
            <a:r>
              <a:t>    assign uio_out = 8'b00000000;</a:t>
            </a:r>
          </a:p>
          <a:p>
            <a:r>
              <a:t>    assign uio_oe  = 8'b00000000;</a:t>
            </a:r>
          </a:p>
          <a:p/>
          <a:p>
            <a:r>
              <a:t>    // ena is Tiny Tapeout's project-selection signal, not shift enable.</a:t>
            </a:r>
          </a:p>
          <a:p>
            <a:r>
              <a:t>    wire _unused = &amp;{ena, ui_in[7:2], uio_in, 1'b0};</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8: 7. Describe the design and its clock</a:t>
            </a:r>
          </a:p>
          <a:p/>
          <a:p>
            <a:r>
              <a:t>The metadata identifies your project. The datasheet explains how someone can use its pins.</a:t>
            </a:r>
          </a:p>
          <a:p/>
          <a:p>
            <a:r>
              <a:t>Open the supplied info.yaml. Replace the example author with your name. Keep meaningful title and description text, language Verilog, and the pin labels that match page 5. Keep every required pin key.</a:t>
            </a:r>
          </a:p>
          <a:p/>
          <a:p>
            <a:r>
              <a:t>Open docs/info.md. Check its How it works, How to test and External hardware sections. It should say: reset clears on an edge; ui_in[1] enables shifting; ui_in[0] supplies the next bit.</a:t>
            </a:r>
          </a:p>
          <a:p/>
          <a:p>
            <a:r>
              <a:t>For the first exercise keep the supplied 50 MHz target and the current SKY configuration’s 20 ns clock period. The Python test uses 20 ns too. Metadata alone does not change the physical timing constraint.</a:t>
            </a:r>
          </a:p>
          <a:p/>
          <a:p>
            <a:r>
              <a:t>Metadata = Settings and descriptions about your project.</a:t>
            </a:r>
          </a:p>
          <a:p/>
          <a:p>
            <a:r>
              <a:t>50 MHz / 20 ns = 50 million clock cycles each second; one cycle lasts 20 nanoseconds.</a:t>
            </a:r>
          </a:p>
          <a:p/>
          <a:p>
            <a:r>
              <a:t>Check: My descriptions, pin map and clock settings agree with the actual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10: 9. Upload the complete seven-file adaptation</a:t>
            </a:r>
          </a:p>
          <a:p/>
          <a:p>
            <a:r>
              <a:t>Extract shift-register-starter.zip. Open its contents until you see info.yaml beside src, test and docs.</a:t>
            </a:r>
          </a:p>
          <a:p/>
          <a:p>
            <a:r>
              <a:t>In your own repository’s root, select Add file → Upload files. Drag info.yaml and the src, test and docs folders from INSIDE the extracted starter folder.</a:t>
            </a:r>
          </a:p>
          <a:p/>
          <a:p>
            <a:r>
              <a:t>Check the paths: src/shift_register.v, src/project.v, test/Makefile, test/tb.v, test/test.py, docs/info.md and info.yaml. There must be no extra starter-folder prefix.</a:t>
            </a:r>
          </a:p>
          <a:p/>
          <a:p>
            <a:r>
              <a:t>Enter Add shift register. For this personal practice repository choose Commit directly to main and save. A commit is a saved version. If GitHub requires a new branch, create a pull request and merge it into main. Check all seven files on main and note its commit identifier.</a:t>
            </a:r>
          </a:p>
          <a:p/>
          <a:p>
            <a:r>
              <a:t>Folder dragging is unavailable → Open each existing file, select the pencil, replace its contents and commit. For src/shift_register.v use Add file → Create new file inside src. Check workflows only after all seven files are saved.</a:t>
            </a:r>
          </a:p>
          <a:p/>
          <a:p>
            <a:r>
              <a:t>Check: All seven files are saved at the intended paths, and the template infrastructure is still present.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15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15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See what changes for gate-level simulation</a:t>
            </a:r>
          </a:p>
          <a:p/>
          <a:p>
            <a:r>
              <a:t>Gate-Level Simulation (GLS) checks the circuit after the tools have converted your Verilog into logic cells. We run the same test at the same external pins.</a:t>
            </a:r>
          </a:p>
          <a:p/>
          <a:p>
            <a:r>
              <a:t>Keep test/test.py checking ui_in, rst_n and uo_out, as supplied. Internal names such as core.q can disappear when the circuit is built; the chip’s external ports remain the test interface.</a:t>
            </a:r>
          </a:p>
          <a:p/>
          <a:p>
            <a:r>
              <a:t>Keep the GL_TEST sections in the supplied test/tb.v. Gate-level cells need power connections: VPWR is tied to 1 and VGND to 0 in the simulation fixture.</a:t>
            </a:r>
          </a:p>
          <a:p/>
          <a:p>
            <a:r>
              <a:t>The gds workflow’s gl_test job downloads the generated netlist and matching SKY130 cell models. It selects the Makefile’s gate-level branch with GATES=yes. The cloud job supplies these dependencies; no local setup is needed.</a:t>
            </a:r>
          </a:p>
          <a:p/>
          <a:p>
            <a:r>
              <a:t>Netlist = A generated description of logic cells and the wires joining them.</a:t>
            </a:r>
          </a:p>
          <a:p/>
          <a:p>
            <a:r>
              <a:t>Check: My test uses the wrapper ports, and the supplied fixture and gate-level Makefile branch are intact.</a:t>
            </a:r>
          </a:p>
          <a:p/>
          <a:p>
            <a:r>
              <a:t>Official SKY gate-level test action: https://github.com/TinyTapeout/tt-gds-action/blob/ttsky26d/gl_test/action.yml</a:t>
            </a:r>
          </a:p>
          <a:p/>
          <a:p>
            <a:r>
              <a:t>Full code (test/tb.v — preserve this conditional connection):</a:t>
            </a:r>
          </a:p>
          <a:p/>
          <a:p>
            <a:r>
              <a:t>`ifdef GL_TEST</a:t>
            </a:r>
          </a:p>
          <a:p>
            <a:r>
              <a:t>    .VPWR(VPWR),</a:t>
            </a:r>
          </a:p>
          <a:p>
            <a:r>
              <a:t>    .VGND(VGND),</a:t>
            </a:r>
          </a:p>
          <a:p>
            <a:r>
              <a:t>`endif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See what changes for gate-level simulation</a:t>
            </a:r>
          </a:p>
          <a:p/>
          <a:p>
            <a:r>
              <a:t>Gate-Level Simulation (GLS) checks the circuit after the tools have converted your Verilog into logic cells. We run the same test at the same external pins.</a:t>
            </a:r>
          </a:p>
          <a:p/>
          <a:p>
            <a:r>
              <a:t>Keep test/test.py checking ui_in, rst_n and uo_out, as supplied. Internal names such as core.q can disappear when the circuit is built; the chip’s external ports remain the test interface.</a:t>
            </a:r>
          </a:p>
          <a:p/>
          <a:p>
            <a:r>
              <a:t>Keep the GL_TEST sections in the supplied test/tb.v. Gate-level cells need power connections: VPWR is tied to 1 and VGND to 0 in the simulation fixture.</a:t>
            </a:r>
          </a:p>
          <a:p/>
          <a:p>
            <a:r>
              <a:t>The gds workflow’s gl_test job downloads the generated netlist and matching SKY130 cell models. It selects the Makefile’s gate-level branch with GATES=yes. The cloud job supplies these dependencies; no local setup is needed.</a:t>
            </a:r>
          </a:p>
          <a:p/>
          <a:p>
            <a:r>
              <a:t>Netlist = A generated description of logic cells and the wires joining them.</a:t>
            </a:r>
          </a:p>
          <a:p/>
          <a:p>
            <a:r>
              <a:t>Check: My test uses the wrapper ports, and the supplied fixture and gate-level Makefile branch are intact.</a:t>
            </a:r>
          </a:p>
          <a:p/>
          <a:p>
            <a:r>
              <a:t>Official SKY gate-level test action: https://github.com/TinyTapeout/tt-gds-action/blob/ttsky26d/gl_test/action.yml</a:t>
            </a:r>
          </a:p>
          <a:p/>
          <a:p>
            <a:r>
              <a:t>Full code (test/tb.v — preserve this conditional connection):</a:t>
            </a:r>
          </a:p>
          <a:p/>
          <a:p>
            <a:r>
              <a:t>`ifdef GL_TEST</a:t>
            </a:r>
          </a:p>
          <a:p>
            <a:r>
              <a:t>    .VPWR(VPWR),</a:t>
            </a:r>
          </a:p>
          <a:p>
            <a:r>
              <a:t>    .VGND(VGND),</a:t>
            </a:r>
          </a:p>
          <a:p>
            <a:r>
              <a:t>`endif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14: 13. Open the GLS job and check its evidence</a:t>
            </a:r>
          </a:p>
          <a:p/>
          <a:p>
            <a:r>
              <a:t>The template starts GLS automatically after the GDS build succeeds. A successful RTL test and a successful GDS build do not replace this separate test.</a:t>
            </a:r>
          </a:p>
          <a:p/>
          <a:p>
            <a:r>
              <a:t>Open Actions → gds → the run for your complete commit. Select gl_test in Jobs. If it is waiting, let gds finish; if it was skipped, inspect the failed build first.</a:t>
            </a:r>
          </a:p>
          <a:p/>
          <a:p>
            <a:r>
              <a:t>Expand GL test, then Run tests. Read the cocotb summary. Expect PASS with zero failed tests. For this supplied test, the summary should report TESTS=1, PASS=1, FAIL=0. The whole gl_test job must also finish successfully.</a:t>
            </a:r>
          </a:p>
          <a:p/>
          <a:p>
            <a:r>
              <a:t>Return to the run’s Summary page. Under Artifacts, download gatelevel_test_results. Extract it and open results.xml with a text editor: check for test results with no failure or error entries. Keep the supplied tb.fst or tb.vcd waveform too.</a:t>
            </a:r>
          </a:p>
          <a:p/>
          <a:p>
            <a:r>
              <a:t>RTL passes, but GLS fails → Read the first failed assertion. Check reset, the three top-module names and GL_TEST power connections. If necessary inspect the downloaded waveform at the failing time. Compare the same external pins and expected values used by the RTL test.</a:t>
            </a:r>
          </a:p>
          <a:p/>
          <a:p>
            <a:r>
              <a:t>Pause and predict: Does this GLS result prove that every timing requirement is met?</a:t>
            </a:r>
          </a:p>
          <a:p/>
          <a:p>
            <a:r>
              <a:t>Answer: No. This is a functional gate-level test. Inspect the build’s separate timing reports as well; this walkthrough does not run an SDF timing-annotated simulation.</a:t>
            </a:r>
          </a:p>
          <a:p/>
          <a:p>
            <a:r>
              <a:t>Check: The gl_test job passed for the same commit; I saved its results XML and waveform.</a:t>
            </a:r>
          </a:p>
          <a:p/>
          <a:p>
            <a:r>
              <a:t>Open the genuine counter GLS example: https://github.com/mdkamrulislam-web/tt-sky130-counter/actions/runs/37693100748/job/113039438023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14: 13. Open the GLS job and check its evidence</a:t>
            </a:r>
          </a:p>
          <a:p/>
          <a:p>
            <a:r>
              <a:t>The template starts GLS automatically after the GDS build succeeds. A successful RTL test and a successful GDS build do not replace this separate test.</a:t>
            </a:r>
          </a:p>
          <a:p/>
          <a:p>
            <a:r>
              <a:t>Open Actions → gds → the run for your complete commit. Select gl_test in Jobs. If it is waiting, let gds finish; if it was skipped, inspect the failed build first.</a:t>
            </a:r>
          </a:p>
          <a:p/>
          <a:p>
            <a:r>
              <a:t>Expand GL test, then Run tests. Read the cocotb summary. Expect PASS with zero failed tests. For this supplied test, the summary should report TESTS=1, PASS=1, FAIL=0. The whole gl_test job must also finish successfully.</a:t>
            </a:r>
          </a:p>
          <a:p/>
          <a:p>
            <a:r>
              <a:t>Return to the run’s Summary page. Under Artifacts, download gatelevel_test_results. Extract it and open results.xml with a text editor: check for test results with no failure or error entries. Keep the supplied tb.fst or tb.vcd waveform too.</a:t>
            </a:r>
          </a:p>
          <a:p/>
          <a:p>
            <a:r>
              <a:t>RTL passes, but GLS fails → Read the first failed assertion. Check reset, the three top-module names and GL_TEST power connections. If necessary inspect the downloaded waveform at the failing time. Compare the same external pins and expected values used by the RTL test.</a:t>
            </a:r>
          </a:p>
          <a:p/>
          <a:p>
            <a:r>
              <a:t>Pause and predict: Does this GLS result prove that every timing requirement is met?</a:t>
            </a:r>
          </a:p>
          <a:p/>
          <a:p>
            <a:r>
              <a:t>Answer: No. This is a functional gate-level test. Inspect the build’s separate timing reports as well; this walkthrough does not run an SDF timing-annotated simulation.</a:t>
            </a:r>
          </a:p>
          <a:p/>
          <a:p>
            <a:r>
              <a:t>Check: The gl_test job passed for the same commit; I saved its results XML and waveform.</a:t>
            </a:r>
          </a:p>
          <a:p/>
          <a:p>
            <a:r>
              <a:t>Open the genuine counter GLS example: https://github.com/mdkamrulislam-web/tt-sky130-counter/actions/runs/37693100748/job/113039438023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15: 14.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RTL and GLS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15: 14.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RTL and GLS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gnup"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templates/" TargetMode="Externa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my-github-action-is-failing-on-the-pages-part" TargetMode="Externa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important/"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gds-action/blob/ttsky26d/gl_test/action.yml"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gds-action/blob/ttsky26d/gl_test/action.yml"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job/113039438023" TargetMode="External"/><Relationship Id="rId3" Type="http://schemas.openxmlformats.org/officeDocument/2006/relationships/notesSlide" Target="../notesSlides/notesSlide2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job/113039438023"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START HERE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Your Verilog → a checked chip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Bring your working Verilog design. Leave with a tested Tiny Tapeout layout.</a:t>
            </a:r>
          </a:p>
        </p:txBody>
      </p:sp>
      <p:sp>
        <p:nvSpPr>
          <p:cNvPr id="9" name="Rounded Rectangle 8"/>
          <p:cNvSpPr/>
          <p:nvPr/>
        </p:nvSpPr>
        <p:spPr>
          <a:xfrm>
            <a:off x="530352"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Your Verilog</a:t>
            </a:r>
          </a:p>
        </p:txBody>
      </p:sp>
      <p:sp>
        <p:nvSpPr>
          <p:cNvPr id="11" name="TextBox 10"/>
          <p:cNvSpPr txBox="1"/>
          <p:nvPr/>
        </p:nvSpPr>
        <p:spPr>
          <a:xfrm>
            <a:off x="640080"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existing design</a:t>
            </a:r>
          </a:p>
        </p:txBody>
      </p:sp>
      <p:sp>
        <p:nvSpPr>
          <p:cNvPr id="12" name="Right Arrow 11"/>
          <p:cNvSpPr/>
          <p:nvPr/>
        </p:nvSpPr>
        <p:spPr>
          <a:xfrm>
            <a:off x="2615184"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79776"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Connect pins</a:t>
            </a:r>
          </a:p>
        </p:txBody>
      </p:sp>
      <p:sp>
        <p:nvSpPr>
          <p:cNvPr id="15" name="TextBox 14"/>
          <p:cNvSpPr txBox="1"/>
          <p:nvPr/>
        </p:nvSpPr>
        <p:spPr>
          <a:xfrm>
            <a:off x="2889504"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Tiny Tapeout wrapper</a:t>
            </a:r>
          </a:p>
        </p:txBody>
      </p:sp>
      <p:sp>
        <p:nvSpPr>
          <p:cNvPr id="16" name="Right Arrow 15"/>
          <p:cNvSpPr/>
          <p:nvPr/>
        </p:nvSpPr>
        <p:spPr>
          <a:xfrm>
            <a:off x="4864607"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0"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Test</a:t>
            </a:r>
          </a:p>
        </p:txBody>
      </p:sp>
      <p:sp>
        <p:nvSpPr>
          <p:cNvPr id="19" name="TextBox 18"/>
          <p:cNvSpPr txBox="1"/>
          <p:nvPr/>
        </p:nvSpPr>
        <p:spPr>
          <a:xfrm>
            <a:off x="5138928"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check the behaviour</a:t>
            </a:r>
          </a:p>
        </p:txBody>
      </p:sp>
      <p:sp>
        <p:nvSpPr>
          <p:cNvPr id="20" name="Right Arrow 19"/>
          <p:cNvSpPr/>
          <p:nvPr/>
        </p:nvSpPr>
        <p:spPr>
          <a:xfrm>
            <a:off x="7114031"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78624"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88352"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Build layout</a:t>
            </a:r>
          </a:p>
        </p:txBody>
      </p:sp>
      <p:sp>
        <p:nvSpPr>
          <p:cNvPr id="23" name="TextBox 22"/>
          <p:cNvSpPr txBox="1"/>
          <p:nvPr/>
        </p:nvSpPr>
        <p:spPr>
          <a:xfrm>
            <a:off x="7388352"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GDS + checks</a:t>
            </a:r>
          </a:p>
        </p:txBody>
      </p:sp>
      <p:sp>
        <p:nvSpPr>
          <p:cNvPr id="24" name="Right Arrow 23"/>
          <p:cNvSpPr/>
          <p:nvPr/>
        </p:nvSpPr>
        <p:spPr>
          <a:xfrm>
            <a:off x="9363455"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28048"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37776"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Save evidence</a:t>
            </a:r>
          </a:p>
        </p:txBody>
      </p:sp>
      <p:sp>
        <p:nvSpPr>
          <p:cNvPr id="27" name="TextBox 26"/>
          <p:cNvSpPr txBox="1"/>
          <p:nvPr/>
        </p:nvSpPr>
        <p:spPr>
          <a:xfrm>
            <a:off x="9637776"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ready for review</a:t>
            </a:r>
          </a:p>
        </p:txBody>
      </p:sp>
      <p:sp>
        <p:nvSpPr>
          <p:cNvPr id="28" name="TextBox 27"/>
          <p:cNvSpPr txBox="1"/>
          <p:nvPr/>
        </p:nvSpPr>
        <p:spPr>
          <a:xfrm>
            <a:off x="530352" y="3945636"/>
            <a:ext cx="11064240" cy="219456"/>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Recommended learning order • test, docs and gds workflows start independently.</a:t>
            </a:r>
          </a:p>
        </p:txBody>
      </p:sp>
      <p:sp>
        <p:nvSpPr>
          <p:cNvPr id="29" name="TextBox 28"/>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30" name="TextBox 29"/>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Open the HTML guide and the starter ZIP beside GitHub.</a:t>
            </a:r>
          </a:p>
        </p:txBody>
      </p:sp>
      <p:sp>
        <p:nvSpPr>
          <p:cNvPr id="31" name="TextBox 30"/>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32" name="TextBox 31"/>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Follow guide pages 2–14, including GLS. Tick each checkpoint.</a:t>
            </a:r>
          </a:p>
        </p:txBody>
      </p:sp>
      <p:sp>
        <p:nvSpPr>
          <p:cNvPr id="33" name="Rounded Rectangle 32"/>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5" name="TextBox 34"/>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opened the guide, signed in to GitHub and found the starter ZIP.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Eight stored bits. One input bit. One clock edge at a time.</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89392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Extract the starter ZIP. Open src/shift_register.v.</a:t>
            </a:r>
          </a:p>
        </p:txBody>
      </p:sp>
      <p:sp>
        <p:nvSpPr>
          <p:cNvPr id="10" name="TextBox 9"/>
          <p:cNvSpPr txBox="1"/>
          <p:nvPr/>
        </p:nvSpPr>
        <p:spPr>
          <a:xfrm>
            <a:off x="548640" y="360969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09693"/>
            <a:ext cx="4480560" cy="75616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Reset clears; enable shifts; otherwise hold.</a:t>
            </a:r>
          </a:p>
        </p:txBody>
      </p:sp>
      <p:sp>
        <p:nvSpPr>
          <p:cNvPr id="12" name="TextBox 11"/>
          <p:cNvSpPr txBox="1"/>
          <p:nvPr/>
        </p:nvSpPr>
        <p:spPr>
          <a:xfrm>
            <a:off x="548640" y="447559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5590"/>
            <a:ext cx="4480560" cy="73648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Shift 1, 0, 1 in the HTML clock experiment.</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src/shift_register.v</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always @(posedge clk) begin</a:t>
            </a:r>
          </a:p>
          <a:p>
            <a:pPr>
              <a:spcAft>
                <a:spcPts val="0"/>
              </a:spcAft>
              <a:defRPr sz="1400" b="0">
                <a:solidFill>
                  <a:srgbClr val="24384B"/>
                </a:solidFill>
                <a:latin typeface="Consolas"/>
              </a:defRPr>
            </a:pPr>
            <a:r>
              <a:t>        if (rst)</a:t>
            </a:r>
          </a:p>
          <a:p>
            <a:pPr>
              <a:spcAft>
                <a:spcPts val="0"/>
              </a:spcAft>
              <a:defRPr sz="1400" b="0">
                <a:solidFill>
                  <a:srgbClr val="24384B"/>
                </a:solidFill>
                <a:latin typeface="Consolas"/>
              </a:defRPr>
            </a:pPr>
            <a:r>
              <a:t>            q &lt;= 8'b00000000;</a:t>
            </a:r>
          </a:p>
          <a:p>
            <a:pPr>
              <a:spcAft>
                <a:spcPts val="0"/>
              </a:spcAft>
              <a:defRPr sz="1400" b="0">
                <a:solidFill>
                  <a:srgbClr val="24384B"/>
                </a:solidFill>
                <a:latin typeface="Consolas"/>
              </a:defRPr>
            </a:pPr>
            <a:r>
              <a:t>        else if (enable)</a:t>
            </a:r>
          </a:p>
          <a:p>
            <a:pPr>
              <a:spcAft>
                <a:spcPts val="0"/>
              </a:spcAft>
              <a:defRPr sz="1400" b="0">
                <a:solidFill>
                  <a:srgbClr val="24384B"/>
                </a:solidFill>
                <a:latin typeface="Consolas"/>
              </a:defRPr>
            </a:pPr>
            <a:r>
              <a:t>            q &lt;= {q[6:0], serial_in};</a:t>
            </a:r>
          </a:p>
          <a:p>
            <a:pPr>
              <a:spcAft>
                <a:spcPts val="0"/>
              </a:spcAft>
              <a:defRPr sz="1400" b="0">
                <a:solidFill>
                  <a:srgbClr val="24384B"/>
                </a:solidFill>
                <a:latin typeface="Consolas"/>
              </a:defRPr>
            </a:pPr>
            <a:r>
              <a:t>    end</a:t>
            </a:r>
          </a:p>
          <a:p>
            <a:pPr>
              <a:spcAft>
                <a:spcPts val="0"/>
              </a:spcAft>
              <a:defRPr sz="1400" b="0">
                <a:solidFill>
                  <a:srgbClr val="24384B"/>
                </a:solidFill>
                <a:latin typeface="Consolas"/>
              </a:defRPr>
            </a:pPr>
            <a:r>
              <a:t>endmodule</a:t>
            </a:r>
          </a:p>
        </p:txBody>
      </p:sp>
      <p:sp>
        <p:nvSpPr>
          <p:cNvPr id="17" name="TextBox 16"/>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8" name="Rounded Rectangle 1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0" name="TextBox 1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Starting at 00000000, what do inputs 1, 0, 1 produce after three enabled edges?</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00000001 → 00000010 → 00000101. A disabled edge keeps 00000101.</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GITHUB</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2. Make your own Tiny Tapeout project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4</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Make your own copy of the official SKY Verilog template.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19337"/>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TinyTapeout/ttsky-verilog-template.</a:t>
            </a:r>
          </a:p>
        </p:txBody>
      </p:sp>
      <p:sp>
        <p:nvSpPr>
          <p:cNvPr id="11" name="TextBox 10"/>
          <p:cNvSpPr txBox="1"/>
          <p:nvPr/>
        </p:nvSpPr>
        <p:spPr>
          <a:xfrm>
            <a:off x="548640" y="3335105"/>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35105"/>
            <a:ext cx="4480560" cy="69224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Use this template → Create a new repository.</a:t>
            </a:r>
          </a:p>
        </p:txBody>
      </p:sp>
      <p:sp>
        <p:nvSpPr>
          <p:cNvPr id="13" name="TextBox 12"/>
          <p:cNvSpPr txBox="1"/>
          <p:nvPr/>
        </p:nvSpPr>
        <p:spPr>
          <a:xfrm>
            <a:off x="548640" y="413707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137076"/>
            <a:ext cx="4480560" cy="107500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Choose your account. Name: tt-shift-register. Visibility: Public.</a:t>
            </a:r>
          </a:p>
        </p:txBody>
      </p:sp>
      <p:pic>
        <p:nvPicPr>
          <p:cNvPr id="15" name="Picture 14" descr="template-menu.png"/>
          <p:cNvPicPr>
            <a:picLocks noChangeAspect="1"/>
          </p:cNvPicPr>
          <p:nvPr/>
        </p:nvPicPr>
        <p:blipFill>
          <a:blip r:embed="rId4"/>
          <a:stretch>
            <a:fillRect/>
          </a:stretch>
        </p:blipFill>
        <p:spPr>
          <a:xfrm>
            <a:off x="5938189" y="2606040"/>
            <a:ext cx="5497221" cy="2322576"/>
          </a:xfrm>
          <a:prstGeom prst="rect">
            <a:avLst/>
          </a:prstGeom>
        </p:spPr>
      </p:pic>
      <p:sp>
        <p:nvSpPr>
          <p:cNvPr id="16" name="TextBox 15"/>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screenshot shows the template menu. Use this control on the SKY template page.</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repository belongs to my account and contains src, test, docs and info.yaml.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SETTINGS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3. Turn on the build and results page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5</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Actions runs your tools. Pages shows the layout.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7745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Actions. Enable workflows if asked.</a:t>
            </a:r>
          </a:p>
        </p:txBody>
      </p:sp>
      <p:sp>
        <p:nvSpPr>
          <p:cNvPr id="11" name="TextBox 10"/>
          <p:cNvSpPr txBox="1"/>
          <p:nvPr/>
        </p:nvSpPr>
        <p:spPr>
          <a:xfrm>
            <a:off x="548640" y="339321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93219"/>
            <a:ext cx="4480560" cy="71681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Settings → Pages → Source: GitHub Actions.</a:t>
            </a:r>
          </a:p>
        </p:txBody>
      </p:sp>
      <p:sp>
        <p:nvSpPr>
          <p:cNvPr id="13" name="TextBox 12"/>
          <p:cNvSpPr txBox="1"/>
          <p:nvPr/>
        </p:nvSpPr>
        <p:spPr>
          <a:xfrm>
            <a:off x="548640" y="4219757"/>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19757"/>
            <a:ext cx="4480560" cy="992322"/>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.github, src/config.json and test/requirements.txt.</a:t>
            </a:r>
          </a:p>
        </p:txBody>
      </p:sp>
      <p:pic>
        <p:nvPicPr>
          <p:cNvPr id="15" name="Picture 14" descr="pages-source-detail.png"/>
          <p:cNvPicPr>
            <a:picLocks noChangeAspect="1"/>
          </p:cNvPicPr>
          <p:nvPr/>
        </p:nvPicPr>
        <p:blipFill>
          <a:blip r:embed="rId4"/>
          <a:stretch>
            <a:fillRect/>
          </a:stretch>
        </p:blipFill>
        <p:spPr>
          <a:xfrm>
            <a:off x="5760720" y="2606040"/>
            <a:ext cx="5852160" cy="1618210"/>
          </a:xfrm>
          <a:prstGeom prst="rect">
            <a:avLst/>
          </a:prstGeom>
        </p:spPr>
      </p:pic>
      <p:sp>
        <p:nvSpPr>
          <p:cNvPr id="16" name="TextBox 15"/>
          <p:cNvSpPr txBox="1"/>
          <p:nvPr/>
        </p:nvSpPr>
        <p:spPr>
          <a:xfrm>
            <a:off x="5760720" y="4333978"/>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Enlarged detail. Official Tiny Tapeout FAQ image: Source is set to GitHub Actions. Its example repository name may differ from yours.</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Actions is available and Pages → Source says GitHub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6</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 wrapper connects your signal names to Tiny Tapeout’s fixed ports.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72197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ui_in[0] → serial input. ui_in[1] → shift enable.</a:t>
            </a:r>
          </a:p>
        </p:txBody>
      </p:sp>
      <p:sp>
        <p:nvSpPr>
          <p:cNvPr id="10" name="TextBox 9"/>
          <p:cNvSpPr txBox="1"/>
          <p:nvPr/>
        </p:nvSpPr>
        <p:spPr>
          <a:xfrm>
            <a:off x="548640" y="343774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437743"/>
            <a:ext cx="4480560" cy="92565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Clock connects directly. Invert rst_n to make the core reset.</a:t>
            </a:r>
          </a:p>
        </p:txBody>
      </p:sp>
      <p:sp>
        <p:nvSpPr>
          <p:cNvPr id="12" name="TextBox 11"/>
          <p:cNvSpPr txBox="1"/>
          <p:nvPr/>
        </p:nvSpPr>
        <p:spPr>
          <a:xfrm>
            <a:off x="548640" y="447313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3130"/>
            <a:ext cx="4480560" cy="73894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q → uo_out. Set unused uio_out and uio_oe to zero.</a:t>
            </a:r>
          </a:p>
        </p:txBody>
      </p:sp>
      <p:sp>
        <p:nvSpPr>
          <p:cNvPr id="14" name="Rounded Rectangle 13"/>
          <p:cNvSpPr/>
          <p:nvPr/>
        </p:nvSpPr>
        <p:spPr>
          <a:xfrm>
            <a:off x="5596128" y="2606040"/>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8424" y="2697480"/>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ui_in[0]  serial input</a:t>
            </a:r>
          </a:p>
        </p:txBody>
      </p:sp>
      <p:sp>
        <p:nvSpPr>
          <p:cNvPr id="16" name="Right Arrow 15"/>
          <p:cNvSpPr/>
          <p:nvPr/>
        </p:nvSpPr>
        <p:spPr>
          <a:xfrm>
            <a:off x="7696961" y="2770632"/>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96128" y="3191256"/>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78424" y="3282696"/>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ui_in[1]  enable</a:t>
            </a:r>
          </a:p>
        </p:txBody>
      </p:sp>
      <p:sp>
        <p:nvSpPr>
          <p:cNvPr id="19" name="Right Arrow 18"/>
          <p:cNvSpPr/>
          <p:nvPr/>
        </p:nvSpPr>
        <p:spPr>
          <a:xfrm>
            <a:off x="7696961" y="3355848"/>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96128" y="3776472"/>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78424" y="3867911"/>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clk  clock</a:t>
            </a:r>
          </a:p>
        </p:txBody>
      </p:sp>
      <p:sp>
        <p:nvSpPr>
          <p:cNvPr id="22" name="Right Arrow 21"/>
          <p:cNvSpPr/>
          <p:nvPr/>
        </p:nvSpPr>
        <p:spPr>
          <a:xfrm>
            <a:off x="7696961" y="3941063"/>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96128" y="4361688"/>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78424" y="4453127"/>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rst_n  active-low reset</a:t>
            </a:r>
          </a:p>
        </p:txBody>
      </p:sp>
      <p:sp>
        <p:nvSpPr>
          <p:cNvPr id="25" name="Right Arrow 24"/>
          <p:cNvSpPr/>
          <p:nvPr/>
        </p:nvSpPr>
        <p:spPr>
          <a:xfrm>
            <a:off x="7696961" y="4526279"/>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8673" y="4407407"/>
            <a:ext cx="412851" cy="429768"/>
          </a:xfrm>
          <a:prstGeom prst="rect">
            <a:avLst/>
          </a:prstGeom>
          <a:noFill/>
        </p:spPr>
        <p:txBody>
          <a:bodyPr wrap="square" lIns="0" rIns="0" tIns="0" bIns="0" anchor="t">
            <a:spAutoFit/>
          </a:bodyPr>
          <a:lstStyle/>
          <a:p>
            <a:pPr>
              <a:spcAft>
                <a:spcPts val="800"/>
              </a:spcAft>
              <a:defRPr sz="2400" b="1">
                <a:solidFill>
                  <a:srgbClr val="D96A2B"/>
                </a:solidFill>
                <a:latin typeface="Calibri"/>
              </a:defRPr>
            </a:pPr>
            <a:r>
              <a:t>~</a:t>
            </a:r>
          </a:p>
        </p:txBody>
      </p:sp>
      <p:sp>
        <p:nvSpPr>
          <p:cNvPr id="27" name="Rounded Rectangle 26"/>
          <p:cNvSpPr/>
          <p:nvPr/>
        </p:nvSpPr>
        <p:spPr>
          <a:xfrm>
            <a:off x="8073237" y="2834640"/>
            <a:ext cx="1769364" cy="1737360"/>
          </a:xfrm>
          <a:prstGeom prst="roundRect">
            <a:avLst>
              <a:gd name="adj" fmla="val 8000"/>
            </a:avLst>
          </a:prstGeom>
          <a:solidFill>
            <a:srgbClr val="EAF4F3"/>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2109" y="3300984"/>
            <a:ext cx="1531620" cy="914400"/>
          </a:xfrm>
          <a:prstGeom prst="rect">
            <a:avLst/>
          </a:prstGeom>
          <a:noFill/>
        </p:spPr>
        <p:txBody>
          <a:bodyPr wrap="square" lIns="0" rIns="0" tIns="0" bIns="0" anchor="t">
            <a:spAutoFit/>
          </a:bodyPr>
          <a:lstStyle/>
          <a:p>
            <a:pPr>
              <a:spcAft>
                <a:spcPts val="800"/>
              </a:spcAft>
              <a:defRPr sz="2100" b="1">
                <a:solidFill>
                  <a:srgbClr val="16324F"/>
                </a:solidFill>
                <a:latin typeface="Calibri"/>
              </a:defRPr>
            </a:pPr>
            <a:r>
              <a:t>Your shift</a:t>
            </a:r>
          </a:p>
          <a:p>
            <a:pPr>
              <a:spcAft>
                <a:spcPts val="800"/>
              </a:spcAft>
              <a:defRPr sz="2100" b="1">
                <a:solidFill>
                  <a:srgbClr val="16324F"/>
                </a:solidFill>
                <a:latin typeface="Calibri"/>
              </a:defRPr>
            </a:pPr>
            <a:r>
              <a:t>register</a:t>
            </a:r>
          </a:p>
        </p:txBody>
      </p:sp>
      <p:sp>
        <p:nvSpPr>
          <p:cNvPr id="29" name="Right Arrow 28"/>
          <p:cNvSpPr/>
          <p:nvPr/>
        </p:nvSpPr>
        <p:spPr>
          <a:xfrm>
            <a:off x="9879177" y="3639312"/>
            <a:ext cx="235915"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255453" y="3255264"/>
            <a:ext cx="1474470" cy="10241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28605" y="3438144"/>
            <a:ext cx="1328166" cy="731520"/>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uo_out</a:t>
            </a:r>
          </a:p>
          <a:p>
            <a:pPr>
              <a:spcAft>
                <a:spcPts val="800"/>
              </a:spcAft>
              <a:defRPr sz="1800" b="1">
                <a:solidFill>
                  <a:srgbClr val="16324F"/>
                </a:solidFill>
                <a:latin typeface="Calibri"/>
              </a:defRPr>
            </a:pPr>
            <a:r>
              <a:t>8 bits</a:t>
            </a:r>
          </a:p>
        </p:txBody>
      </p:sp>
      <p:sp>
        <p:nvSpPr>
          <p:cNvPr id="32" name="Rounded Rectangle 31"/>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4" name="TextBox 33"/>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7</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Is ena the same signal as our shift enable?</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No. ena selects this project on the shared chip. Our shift enable is ui_in[1]. This core uses only ui_in[1] to decide whether to shift.</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src/project.v</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5. Add the wrapper around your design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6</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8</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Keep the existing circuit. Add one small module around it.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9494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src/project.v with the supplied wrapper.</a:t>
            </a:r>
          </a:p>
        </p:txBody>
      </p:sp>
      <p:sp>
        <p:nvSpPr>
          <p:cNvPr id="11" name="TextBox 10"/>
          <p:cNvSpPr txBox="1"/>
          <p:nvPr/>
        </p:nvSpPr>
        <p:spPr>
          <a:xfrm>
            <a:off x="548640" y="341071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410712"/>
            <a:ext cx="4480560" cy="76200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tt_um_student_shift_register for this exercise.</a:t>
            </a:r>
          </a:p>
        </p:txBody>
      </p:sp>
      <p:sp>
        <p:nvSpPr>
          <p:cNvPr id="13" name="TextBox 12"/>
          <p:cNvSpPr txBox="1"/>
          <p:nvPr/>
        </p:nvSpPr>
        <p:spPr>
          <a:xfrm>
            <a:off x="548640" y="42824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82440"/>
            <a:ext cx="4480560" cy="92964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The instance below joins each circuit port to its chip signal.</a:t>
            </a:r>
          </a:p>
        </p:txBody>
      </p:sp>
      <p:sp>
        <p:nvSpPr>
          <p:cNvPr id="15" name="Rounded Rectangle 14"/>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src/project.v</a:t>
            </a:r>
          </a:p>
        </p:txBody>
      </p:sp>
      <p:sp>
        <p:nvSpPr>
          <p:cNvPr id="17" name="TextBox 16"/>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shift_register core (</a:t>
            </a:r>
          </a:p>
          <a:p>
            <a:pPr>
              <a:spcAft>
                <a:spcPts val="0"/>
              </a:spcAft>
              <a:defRPr sz="1400" b="0">
                <a:solidFill>
                  <a:srgbClr val="24384B"/>
                </a:solidFill>
                <a:latin typeface="Consolas"/>
              </a:defRPr>
            </a:pPr>
            <a:r>
              <a:t>        .clk       (clk),</a:t>
            </a:r>
          </a:p>
          <a:p>
            <a:pPr>
              <a:spcAft>
                <a:spcPts val="0"/>
              </a:spcAft>
              <a:defRPr sz="1400" b="0">
                <a:solidFill>
                  <a:srgbClr val="24384B"/>
                </a:solidFill>
                <a:latin typeface="Consolas"/>
              </a:defRPr>
            </a:pPr>
            <a:r>
              <a:t>        .rst       (~rst_n),</a:t>
            </a:r>
          </a:p>
          <a:p>
            <a:pPr>
              <a:spcAft>
                <a:spcPts val="0"/>
              </a:spcAft>
              <a:defRPr sz="1400" b="0">
                <a:solidFill>
                  <a:srgbClr val="24384B"/>
                </a:solidFill>
                <a:latin typeface="Consolas"/>
              </a:defRPr>
            </a:pPr>
            <a:r>
              <a:t>        .enable    (ui_in[1]),</a:t>
            </a:r>
          </a:p>
          <a:p>
            <a:pPr>
              <a:spcAft>
                <a:spcPts val="0"/>
              </a:spcAft>
              <a:defRPr sz="1400" b="0">
                <a:solidFill>
                  <a:srgbClr val="24384B"/>
                </a:solidFill>
                <a:latin typeface="Consolas"/>
              </a:defRPr>
            </a:pPr>
            <a:r>
              <a:t>        .serial_in (ui_in[0]),</a:t>
            </a:r>
          </a:p>
          <a:p>
            <a:pPr>
              <a:spcAft>
                <a:spcPts val="0"/>
              </a:spcAft>
              <a:defRPr sz="1400" b="0">
                <a:solidFill>
                  <a:srgbClr val="24384B"/>
                </a:solidFill>
                <a:latin typeface="Consolas"/>
              </a:defRPr>
            </a:pPr>
            <a:r>
              <a:t>        .q         (uo_out)</a:t>
            </a:r>
          </a:p>
          <a:p>
            <a:pPr>
              <a:spcAft>
                <a:spcPts val="0"/>
              </a:spcAft>
              <a:defRPr sz="1400" b="0">
                <a:solidFill>
                  <a:srgbClr val="24384B"/>
                </a:solidFill>
                <a:latin typeface="Consolas"/>
              </a:defRPr>
            </a:pPr>
            <a:r>
              <a:t>    );</a:t>
            </a:r>
          </a:p>
        </p:txBody>
      </p:sp>
      <p:sp>
        <p:nvSpPr>
          <p:cNvPr id="18" name="TextBox 17"/>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9" name="Rounded Rectangle 1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1" name="TextBox 2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wrapper has the eight required ports and instantiates shift_register with the intended connections.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9</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Both tools need both files. Three top-module names must agree.</a:t>
            </a:r>
          </a:p>
        </p:txBody>
      </p:sp>
      <p:sp>
        <p:nvSpPr>
          <p:cNvPr id="8" name="Rounded Rectangle 7"/>
          <p:cNvSpPr/>
          <p:nvPr/>
        </p:nvSpPr>
        <p:spPr>
          <a:xfrm>
            <a:off x="530352"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src/project.v</a:t>
            </a:r>
          </a:p>
        </p:txBody>
      </p:sp>
      <p:sp>
        <p:nvSpPr>
          <p:cNvPr id="10" name="TextBox 9"/>
          <p:cNvSpPr txBox="1"/>
          <p:nvPr/>
        </p:nvSpPr>
        <p:spPr>
          <a:xfrm>
            <a:off x="621792"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module name</a:t>
            </a:r>
          </a:p>
        </p:txBody>
      </p:sp>
      <p:sp>
        <p:nvSpPr>
          <p:cNvPr id="11" name="Right Arrow 10"/>
          <p:cNvSpPr/>
          <p:nvPr/>
        </p:nvSpPr>
        <p:spPr>
          <a:xfrm>
            <a:off x="4099560"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1584"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3024"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info.yaml</a:t>
            </a:r>
          </a:p>
        </p:txBody>
      </p:sp>
      <p:sp>
        <p:nvSpPr>
          <p:cNvPr id="14" name="TextBox 13"/>
          <p:cNvSpPr txBox="1"/>
          <p:nvPr/>
        </p:nvSpPr>
        <p:spPr>
          <a:xfrm>
            <a:off x="4383024"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top_module</a:t>
            </a:r>
          </a:p>
        </p:txBody>
      </p:sp>
      <p:sp>
        <p:nvSpPr>
          <p:cNvPr id="15" name="Right Arrow 14"/>
          <p:cNvSpPr/>
          <p:nvPr/>
        </p:nvSpPr>
        <p:spPr>
          <a:xfrm>
            <a:off x="7860791"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2816"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4256"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test/tb.v</a:t>
            </a:r>
          </a:p>
        </p:txBody>
      </p:sp>
      <p:sp>
        <p:nvSpPr>
          <p:cNvPr id="18" name="TextBox 17"/>
          <p:cNvSpPr txBox="1"/>
          <p:nvPr/>
        </p:nvSpPr>
        <p:spPr>
          <a:xfrm>
            <a:off x="8144256"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instance name</a:t>
            </a:r>
          </a:p>
        </p:txBody>
      </p:sp>
      <p:sp>
        <p:nvSpPr>
          <p:cNvPr id="19" name="TextBox 18"/>
          <p:cNvSpPr txBox="1"/>
          <p:nvPr/>
        </p:nvSpPr>
        <p:spPr>
          <a:xfrm>
            <a:off x="530352" y="3612885"/>
            <a:ext cx="11064240" cy="411480"/>
          </a:xfrm>
          <a:prstGeom prst="rect">
            <a:avLst/>
          </a:prstGeom>
          <a:noFill/>
        </p:spPr>
        <p:txBody>
          <a:bodyPr wrap="square" lIns="0" rIns="0" tIns="0" bIns="0" anchor="t">
            <a:spAutoFit/>
          </a:bodyPr>
          <a:lstStyle/>
          <a:p>
            <a:pPr>
              <a:spcAft>
                <a:spcPts val="800"/>
              </a:spcAft>
              <a:defRPr sz="1800" b="1">
                <a:solidFill>
                  <a:srgbClr val="087F8C"/>
                </a:solidFill>
                <a:latin typeface="Calibri"/>
              </a:defRPr>
            </a:pPr>
            <a:r>
              <a:t>Both source lists: project.v + shift_register.v</a:t>
            </a:r>
          </a:p>
        </p:txBody>
      </p:sp>
      <p:sp>
        <p:nvSpPr>
          <p:cNvPr id="20" name="TextBox 19"/>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21" name="TextBox 20"/>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One top name: tt_um_student_shift_register.</a:t>
            </a:r>
          </a:p>
        </p:txBody>
      </p:sp>
      <p:sp>
        <p:nvSpPr>
          <p:cNvPr id="22" name="TextBox 21"/>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23" name="TextBox 22"/>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Two source lists: project.v and shift_register.v.</a:t>
            </a:r>
          </a:p>
        </p:txBody>
      </p:sp>
      <p:sp>
        <p:nvSpPr>
          <p:cNvPr id="24" name="Rounded Rectangle 23"/>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6" name="TextBox 25"/>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10</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475488">
                <a:tc>
                  <a:txBody>
                    <a:bodyPr/>
                    <a:lstStyle/>
                    <a:p>
                      <a:pPr>
                        <a:spcAft>
                          <a:spcPts val="0"/>
                        </a:spcAft>
                        <a:defRPr sz="1800" b="1">
                          <a:solidFill>
                            <a:srgbClr val="FFFFFF"/>
                          </a:solidFill>
                          <a:latin typeface="Calibri"/>
                        </a:defRPr>
                      </a:pPr>
                      <a:r>
                        <a:t>Location</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Must agree</a:t>
                      </a:r>
                    </a:p>
                  </a:txBody>
                  <a:tcPr marL="109728" marR="73152" marT="64008" marB="45720">
                    <a:solidFill>
                      <a:srgbClr val="16324F"/>
                    </a:solidFill>
                  </a:tcPr>
                </a:tc>
              </a:tr>
              <a:tr h="475488">
                <a:tc>
                  <a:txBody>
                    <a:bodyPr/>
                    <a:lstStyle/>
                    <a:p>
                      <a:pPr>
                        <a:spcAft>
                          <a:spcPts val="0"/>
                        </a:spcAft>
                        <a:defRPr sz="1800" b="0">
                          <a:solidFill>
                            <a:srgbClr val="24384B"/>
                          </a:solidFill>
                          <a:latin typeface="Calibri"/>
                        </a:defRPr>
                      </a:pPr>
                      <a:r>
                        <a:t>src/project.v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module tt_um_student_shift_register</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top_module: tt_um_student_shift_register</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test/tb.v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tt_um_student_shift_register user_project</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 source_files</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test/Makefile PROJECT_SOURCES</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EAF4F3"/>
                    </a:solidFill>
                  </a:tcPr>
                </a:tc>
              </a:tr>
            </a:tbl>
          </a:graphicData>
        </a:graphic>
      </p:graphicFrame>
      <p:sp>
        <p:nvSpPr>
          <p:cNvPr id="8" name="Rounded Rectangle 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0" name="TextBox 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info.yaml AND docs/info.md</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7. Describe the design and its clock</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8</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11</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Describe how to use the circuit. Keep its clock settings consistent.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90649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info.yaml: your author name, title and correct pin labels.</a:t>
            </a:r>
          </a:p>
        </p:txBody>
      </p:sp>
      <p:sp>
        <p:nvSpPr>
          <p:cNvPr id="10" name="TextBox 9"/>
          <p:cNvSpPr txBox="1"/>
          <p:nvPr/>
        </p:nvSpPr>
        <p:spPr>
          <a:xfrm>
            <a:off x="548640" y="362226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22262"/>
            <a:ext cx="4480560" cy="92401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docs/info.md: behaviour, test procedure and hardware needs.</a:t>
            </a:r>
          </a:p>
        </p:txBody>
      </p:sp>
      <p:sp>
        <p:nvSpPr>
          <p:cNvPr id="12" name="TextBox 11"/>
          <p:cNvSpPr txBox="1"/>
          <p:nvPr/>
        </p:nvSpPr>
        <p:spPr>
          <a:xfrm>
            <a:off x="548640" y="465600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656006"/>
            <a:ext cx="4480560" cy="55607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50 MHz target = 20 ns per clock cycle.</a:t>
            </a:r>
          </a:p>
        </p:txBody>
      </p:sp>
      <p:graphicFrame>
        <p:nvGraphicFramePr>
          <p:cNvPr id="14" name="Table 13"/>
          <p:cNvGraphicFramePr>
            <a:graphicFrameLocks noGrp="1"/>
          </p:cNvGraphicFramePr>
          <p:nvPr/>
        </p:nvGraphicFramePr>
        <p:xfrm>
          <a:off x="5577840" y="2606040"/>
          <a:ext cx="6071616" cy="2788920"/>
        </p:xfrm>
        <a:graphic>
          <a:graphicData uri="http://schemas.openxmlformats.org/drawingml/2006/table">
            <a:tbl>
              <a:tblPr firstRow="1" bandRow="1">
                <a:tableStyleId>{5C22544A-7EE6-4342-B048-85BDC9FD1C3A}</a:tableStyleId>
              </a:tblPr>
              <a:tblGrid>
                <a:gridCol w="3035808"/>
                <a:gridCol w="3035808"/>
              </a:tblGrid>
              <a:tr h="697230">
                <a:tc>
                  <a:txBody>
                    <a:bodyPr/>
                    <a:lstStyle/>
                    <a:p>
                      <a:pPr>
                        <a:spcAft>
                          <a:spcPts val="0"/>
                        </a:spcAft>
                        <a:defRPr sz="1800" b="1">
                          <a:solidFill>
                            <a:srgbClr val="FFFFFF"/>
                          </a:solidFill>
                          <a:latin typeface="Calibri"/>
                        </a:defRPr>
                      </a:pPr>
                      <a:r>
                        <a:t>Place</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Clock setting</a:t>
                      </a:r>
                    </a:p>
                  </a:txBody>
                  <a:tcPr marL="109728" marR="73152" marT="64008" marB="45720">
                    <a:solidFill>
                      <a:srgbClr val="16324F"/>
                    </a:solidFill>
                  </a:tcPr>
                </a:tc>
              </a:tr>
              <a:tr h="697230">
                <a:tc>
                  <a:txBody>
                    <a:bodyPr/>
                    <a:lstStyle/>
                    <a:p>
                      <a:pPr>
                        <a:spcAft>
                          <a:spcPts val="0"/>
                        </a:spcAft>
                        <a:defRPr sz="1800" b="0">
                          <a:solidFill>
                            <a:srgbClr val="24384B"/>
                          </a:solidFill>
                          <a:latin typeface="Calibri"/>
                        </a:defRPr>
                      </a:pPr>
                      <a:r>
                        <a:t>info.yaml</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clock_hz: 50000000</a:t>
                      </a:r>
                    </a:p>
                  </a:txBody>
                  <a:tcPr marL="109728" marR="73152" marT="64008" marB="45720">
                    <a:solidFill>
                      <a:srgbClr val="EAF4F3"/>
                    </a:solidFill>
                  </a:tcPr>
                </a:tc>
              </a:tr>
              <a:tr h="697230">
                <a:tc>
                  <a:txBody>
                    <a:bodyPr/>
                    <a:lstStyle/>
                    <a:p>
                      <a:pPr>
                        <a:spcAft>
                          <a:spcPts val="0"/>
                        </a:spcAft>
                        <a:defRPr sz="1800" b="0">
                          <a:solidFill>
                            <a:srgbClr val="24384B"/>
                          </a:solidFill>
                          <a:latin typeface="Calibri"/>
                        </a:defRPr>
                      </a:pPr>
                      <a:r>
                        <a:t>src/config.json (template)</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CLOCK_PERIOD: 20 (nanoseconds)</a:t>
                      </a:r>
                    </a:p>
                  </a:txBody>
                  <a:tcPr marL="109728" marR="73152" marT="64008" marB="45720">
                    <a:solidFill>
                      <a:srgbClr val="FFFFFF"/>
                    </a:solidFill>
                  </a:tcPr>
                </a:tc>
              </a:tr>
              <a:tr h="697230">
                <a:tc>
                  <a:txBody>
                    <a:bodyPr/>
                    <a:lstStyle/>
                    <a:p>
                      <a:pPr>
                        <a:spcAft>
                          <a:spcPts val="0"/>
                        </a:spcAft>
                        <a:defRPr sz="1800" b="0">
                          <a:solidFill>
                            <a:srgbClr val="24384B"/>
                          </a:solidFill>
                          <a:latin typeface="Calibri"/>
                        </a:defRPr>
                      </a:pPr>
                      <a:r>
                        <a:t>test/test.py cycle()</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10 ns low + 5 ns to sample + 5 ns = 20 ns</a:t>
                      </a:r>
                    </a:p>
                  </a:txBody>
                  <a:tcPr marL="109728" marR="73152" marT="64008" marB="45720">
                    <a:solidFill>
                      <a:srgbClr val="EAF4F3"/>
                    </a:solidFill>
                  </a:tcPr>
                </a:tc>
              </a:tr>
            </a:tbl>
          </a:graphicData>
        </a:graphic>
      </p:graphicFrame>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descriptions, pin map and clock settings agree with the actual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Test your shift register through its external pins.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4180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test/test.py with the supplied test.</a:t>
            </a:r>
          </a:p>
        </p:txBody>
      </p:sp>
      <p:sp>
        <p:nvSpPr>
          <p:cNvPr id="10" name="TextBox 9"/>
          <p:cNvSpPr txBox="1"/>
          <p:nvPr/>
        </p:nvSpPr>
        <p:spPr>
          <a:xfrm>
            <a:off x="548640" y="335757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57573"/>
            <a:ext cx="4480560" cy="94925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Check reset, shift, hold, old data leaving and reset priority.</a:t>
            </a:r>
          </a:p>
        </p:txBody>
      </p:sp>
      <p:sp>
        <p:nvSpPr>
          <p:cNvPr id="12" name="TextBox 11"/>
          <p:cNvSpPr txBox="1"/>
          <p:nvPr/>
        </p:nvSpPr>
        <p:spPr>
          <a:xfrm>
            <a:off x="548640" y="441655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16552"/>
            <a:ext cx="4480560" cy="79552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Compare each observed output with the expected value.</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test/test.py — expected-value rule</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 the previous value and add the new bit.</a:t>
            </a:r>
          </a:p>
          <a:p>
            <a:pPr>
              <a:spcAft>
                <a:spcPts val="0"/>
              </a:spcAft>
              <a:defRPr sz="1400" b="0">
                <a:solidFill>
                  <a:srgbClr val="24384B"/>
                </a:solidFill>
                <a:latin typeface="Consolas"/>
              </a:defRPr>
            </a:pPr>
            <a:r>
              <a:t>expected = ((expected &lt;&lt; 1) | bit) &amp; 0xFF</a:t>
            </a:r>
          </a:p>
          <a:p>
            <a:pPr>
              <a:spcAft>
                <a:spcPts val="0"/>
              </a:spcAft>
              <a:defRPr sz="1400" b="0">
                <a:solidFill>
                  <a:srgbClr val="24384B"/>
                </a:solidFill>
                <a:latin typeface="Consolas"/>
              </a:defRPr>
            </a:pPr>
            <a:r>
              <a:t>assert await cycle(bit) == expected</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After shifting 1 eight times from reset, what should the output be? What if enable then becomes 0?</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11111111. With enable = 0 it stays 11111111, even when serial_in changes.</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CODE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9. Upload the complete seven-file adaptation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10</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14</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Upload the contents of the extracted starter into your repository root.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37974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Code → Add file → Upload files.</a:t>
            </a:r>
          </a:p>
        </p:txBody>
      </p:sp>
      <p:sp>
        <p:nvSpPr>
          <p:cNvPr id="10" name="TextBox 9"/>
          <p:cNvSpPr txBox="1"/>
          <p:nvPr/>
        </p:nvSpPr>
        <p:spPr>
          <a:xfrm>
            <a:off x="548640" y="309550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095509"/>
            <a:ext cx="4480560" cy="86921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Drag info.yaml plus src, test and docs. Check all seven paths.</a:t>
            </a:r>
          </a:p>
        </p:txBody>
      </p:sp>
      <p:sp>
        <p:nvSpPr>
          <p:cNvPr id="12" name="TextBox 11"/>
          <p:cNvSpPr txBox="1"/>
          <p:nvPr/>
        </p:nvSpPr>
        <p:spPr>
          <a:xfrm>
            <a:off x="548640" y="407444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074449"/>
            <a:ext cx="4480560" cy="113763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Commit to main: Add shift register. If needed, create and merge a pull request.</a:t>
            </a:r>
          </a:p>
        </p:txBody>
      </p:sp>
      <p:pic>
        <p:nvPicPr>
          <p:cNvPr id="14" name="Picture 13" descr="upload.png"/>
          <p:cNvPicPr>
            <a:picLocks noChangeAspect="1"/>
          </p:cNvPicPr>
          <p:nvPr/>
        </p:nvPicPr>
        <p:blipFill>
          <a:blip r:embed="rId3"/>
          <a:stretch>
            <a:fillRect/>
          </a:stretch>
        </p:blipFill>
        <p:spPr>
          <a:xfrm>
            <a:off x="5760720" y="2606040"/>
            <a:ext cx="5852160" cy="1023328"/>
          </a:xfrm>
          <a:prstGeom prst="rect">
            <a:avLst/>
          </a:prstGeom>
        </p:spPr>
      </p:pic>
      <p:sp>
        <p:nvSpPr>
          <p:cNvPr id="15" name="TextBox 14"/>
          <p:cNvSpPr txBox="1"/>
          <p:nvPr/>
        </p:nvSpPr>
        <p:spPr>
          <a:xfrm>
            <a:off x="5760720" y="3739096"/>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Add file screenshot locates the upload control. Upload into your repository root.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seven files are saved at the intended paths, and the template infrastructure is still present.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15</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Read the test result for the commit containing all seven files.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2766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Actions → test → your final commit’s run.</a:t>
            </a:r>
          </a:p>
        </p:txBody>
      </p:sp>
      <p:sp>
        <p:nvSpPr>
          <p:cNvPr id="10" name="TextBox 9"/>
          <p:cNvSpPr txBox="1"/>
          <p:nvPr/>
        </p:nvSpPr>
        <p:spPr>
          <a:xfrm>
            <a:off x="548640" y="334343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43433"/>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the test job → Run tests. Zero failures or errors.</a:t>
            </a:r>
          </a:p>
        </p:txBody>
      </p:sp>
      <p:sp>
        <p:nvSpPr>
          <p:cNvPr id="12" name="TextBox 11"/>
          <p:cNvSpPr txBox="1"/>
          <p:nvPr/>
        </p:nvSpPr>
        <p:spPr>
          <a:xfrm>
            <a:off x="548640" y="433262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332620"/>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If it fails, fix the first error and save a new commit.</a:t>
            </a:r>
          </a:p>
        </p:txBody>
      </p:sp>
      <p:pic>
        <p:nvPicPr>
          <p:cNvPr id="14" name="Picture 13" descr="actions.png"/>
          <p:cNvPicPr>
            <a:picLocks noChangeAspect="1"/>
          </p:cNvPicPr>
          <p:nvPr/>
        </p:nvPicPr>
        <p:blipFill>
          <a:blip r:embed="rId3"/>
          <a:stretch>
            <a:fillRect/>
          </a:stretch>
        </p:blipFill>
        <p:spPr>
          <a:xfrm>
            <a:off x="6730946" y="2606040"/>
            <a:ext cx="3911706" cy="2322576"/>
          </a:xfrm>
          <a:prstGeom prst="rect">
            <a:avLst/>
          </a:prstGeom>
        </p:spPr>
      </p:pic>
      <p:sp>
        <p:nvSpPr>
          <p:cNvPr id="15" name="TextBox 14"/>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Official TEMPLATE Actions screen, for navigation only. Its red crosses are failed template runs, not your result. Your shift-register run has its own commit and result.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16</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What does a passing test establish?</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The adapted circuit passed the cases and assertions you wrote. It does not prove every possible behaviour, timing corner or manufactured chip.</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17</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Verilog becomes physical gates and wires. Check every required job.</a:t>
            </a:r>
          </a:p>
        </p:txBody>
      </p:sp>
      <p:sp>
        <p:nvSpPr>
          <p:cNvPr id="8" name="Rounded Rectangle 7"/>
          <p:cNvSpPr/>
          <p:nvPr/>
        </p:nvSpPr>
        <p:spPr>
          <a:xfrm>
            <a:off x="530352" y="3383280"/>
            <a:ext cx="2212848"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3" y="3438144"/>
            <a:ext cx="2066543"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Commit / push</a:t>
            </a:r>
          </a:p>
        </p:txBody>
      </p:sp>
      <p:sp>
        <p:nvSpPr>
          <p:cNvPr id="10" name="TextBox 9"/>
          <p:cNvSpPr txBox="1"/>
          <p:nvPr/>
        </p:nvSpPr>
        <p:spPr>
          <a:xfrm>
            <a:off x="603503" y="3694176"/>
            <a:ext cx="2066543"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same saved version</a:t>
            </a:r>
          </a:p>
        </p:txBody>
      </p:sp>
      <p:sp>
        <p:nvSpPr>
          <p:cNvPr id="11" name="Rounded Rectangle 10"/>
          <p:cNvSpPr/>
          <p:nvPr/>
        </p:nvSpPr>
        <p:spPr>
          <a:xfrm>
            <a:off x="3628339" y="246888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1491" y="252374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RTL test</a:t>
            </a:r>
          </a:p>
        </p:txBody>
      </p:sp>
      <p:sp>
        <p:nvSpPr>
          <p:cNvPr id="13" name="TextBox 12"/>
          <p:cNvSpPr txBox="1"/>
          <p:nvPr/>
        </p:nvSpPr>
        <p:spPr>
          <a:xfrm>
            <a:off x="3701491" y="277977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source behaviour</a:t>
            </a:r>
          </a:p>
        </p:txBody>
      </p:sp>
      <p:sp>
        <p:nvSpPr>
          <p:cNvPr id="14" name="Rounded Rectangle 13"/>
          <p:cNvSpPr/>
          <p:nvPr/>
        </p:nvSpPr>
        <p:spPr>
          <a:xfrm>
            <a:off x="3628339" y="324612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1491" y="330098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docs</a:t>
            </a:r>
          </a:p>
        </p:txBody>
      </p:sp>
      <p:sp>
        <p:nvSpPr>
          <p:cNvPr id="16" name="TextBox 15"/>
          <p:cNvSpPr txBox="1"/>
          <p:nvPr/>
        </p:nvSpPr>
        <p:spPr>
          <a:xfrm>
            <a:off x="3701491" y="355701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build the datasheet</a:t>
            </a:r>
          </a:p>
        </p:txBody>
      </p:sp>
      <p:sp>
        <p:nvSpPr>
          <p:cNvPr id="17" name="Rounded Rectangle 16"/>
          <p:cNvSpPr/>
          <p:nvPr/>
        </p:nvSpPr>
        <p:spPr>
          <a:xfrm>
            <a:off x="3628339" y="402336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1491" y="407822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GDS build</a:t>
            </a:r>
          </a:p>
        </p:txBody>
      </p:sp>
      <p:sp>
        <p:nvSpPr>
          <p:cNvPr id="19" name="TextBox 18"/>
          <p:cNvSpPr txBox="1"/>
          <p:nvPr/>
        </p:nvSpPr>
        <p:spPr>
          <a:xfrm>
            <a:off x="3701491" y="433425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gates + wires</a:t>
            </a:r>
          </a:p>
        </p:txBody>
      </p:sp>
      <p:sp>
        <p:nvSpPr>
          <p:cNvPr id="20" name="Rounded Rectangle 19"/>
          <p:cNvSpPr/>
          <p:nvPr/>
        </p:nvSpPr>
        <p:spPr>
          <a:xfrm>
            <a:off x="7943392" y="306324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6544" y="311810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Precheck</a:t>
            </a:r>
          </a:p>
        </p:txBody>
      </p:sp>
      <p:sp>
        <p:nvSpPr>
          <p:cNvPr id="22" name="TextBox 21"/>
          <p:cNvSpPr txBox="1"/>
          <p:nvPr/>
        </p:nvSpPr>
        <p:spPr>
          <a:xfrm>
            <a:off x="8016544" y="337413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integration rules</a:t>
            </a:r>
          </a:p>
        </p:txBody>
      </p:sp>
      <p:sp>
        <p:nvSpPr>
          <p:cNvPr id="23" name="Rounded Rectangle 22"/>
          <p:cNvSpPr/>
          <p:nvPr/>
        </p:nvSpPr>
        <p:spPr>
          <a:xfrm>
            <a:off x="7943392" y="384048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6544" y="389534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Gate-level test (GLS)</a:t>
            </a:r>
          </a:p>
        </p:txBody>
      </p:sp>
      <p:sp>
        <p:nvSpPr>
          <p:cNvPr id="25" name="TextBox 24"/>
          <p:cNvSpPr txBox="1"/>
          <p:nvPr/>
        </p:nvSpPr>
        <p:spPr>
          <a:xfrm>
            <a:off x="8016544" y="415137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same test on logic cells</a:t>
            </a:r>
          </a:p>
        </p:txBody>
      </p:sp>
      <p:sp>
        <p:nvSpPr>
          <p:cNvPr id="26" name="Rounded Rectangle 25"/>
          <p:cNvSpPr/>
          <p:nvPr/>
        </p:nvSpPr>
        <p:spPr>
          <a:xfrm>
            <a:off x="7943392" y="461772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6544" y="467258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Viewer</a:t>
            </a:r>
          </a:p>
        </p:txBody>
      </p:sp>
      <p:sp>
        <p:nvSpPr>
          <p:cNvPr id="28" name="TextBox 27"/>
          <p:cNvSpPr txBox="1"/>
          <p:nvPr/>
        </p:nvSpPr>
        <p:spPr>
          <a:xfrm>
            <a:off x="8016544" y="492861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publish layout</a:t>
            </a:r>
          </a:p>
        </p:txBody>
      </p:sp>
      <p:cxnSp>
        <p:nvCxnSpPr>
          <p:cNvPr id="29" name="Connector 28"/>
          <p:cNvCxnSpPr/>
          <p:nvPr/>
        </p:nvCxnSpPr>
        <p:spPr>
          <a:xfrm>
            <a:off x="2743200" y="3666744"/>
            <a:ext cx="3872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130448" y="2752344"/>
            <a:ext cx="0" cy="155448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31" name="Right Arrow 30"/>
          <p:cNvSpPr/>
          <p:nvPr/>
        </p:nvSpPr>
        <p:spPr>
          <a:xfrm>
            <a:off x="3130448" y="268833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3130448" y="346557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3130448" y="424281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394399" y="4306824"/>
            <a:ext cx="774497"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8896" y="3346704"/>
            <a:ext cx="0" cy="155448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36" name="Right Arrow 35"/>
          <p:cNvSpPr/>
          <p:nvPr/>
        </p:nvSpPr>
        <p:spPr>
          <a:xfrm>
            <a:off x="7168896" y="3282696"/>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Arrow 36"/>
          <p:cNvSpPr/>
          <p:nvPr/>
        </p:nvSpPr>
        <p:spPr>
          <a:xfrm>
            <a:off x="7168896" y="4059935"/>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7168896" y="4837176"/>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5349240"/>
            <a:ext cx="10972800" cy="384048"/>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Check every required job for one commit. The GLS walkthrough follows.</a:t>
            </a:r>
          </a:p>
        </p:txBody>
      </p:sp>
      <p:sp>
        <p:nvSpPr>
          <p:cNvPr id="40" name="Rounded Rectangle 39"/>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42" name="TextBox 41"/>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18</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570585">
                <a:tc>
                  <a:txBody>
                    <a:bodyPr/>
                    <a:lstStyle/>
                    <a:p>
                      <a:pPr>
                        <a:spcAft>
                          <a:spcPts val="0"/>
                        </a:spcAft>
                        <a:defRPr sz="1800" b="1">
                          <a:solidFill>
                            <a:srgbClr val="FFFFFF"/>
                          </a:solidFill>
                          <a:latin typeface="Calibri"/>
                        </a:defRPr>
                      </a:pPr>
                      <a:r>
                        <a:t>Check</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Plain meaning</a:t>
                      </a:r>
                    </a:p>
                  </a:txBody>
                  <a:tcPr marL="109728" marR="73152" marT="64008" marB="45720">
                    <a:solidFill>
                      <a:srgbClr val="16324F"/>
                    </a:solidFill>
                  </a:tcPr>
                </a:tc>
              </a:tr>
              <a:tr h="570585">
                <a:tc>
                  <a:txBody>
                    <a:bodyPr/>
                    <a:lstStyle/>
                    <a:p>
                      <a:pPr>
                        <a:spcAft>
                          <a:spcPts val="0"/>
                        </a:spcAft>
                        <a:defRPr sz="1800" b="0">
                          <a:solidFill>
                            <a:srgbClr val="24384B"/>
                          </a:solidFill>
                          <a:latin typeface="Calibri"/>
                        </a:defRPr>
                      </a:pPr>
                      <a:r>
                        <a:t>Layout build</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Place gates and connect them; inspect timing and geometry reports</a:t>
                      </a:r>
                    </a:p>
                  </a:txBody>
                  <a:tcPr marL="109728" marR="73152" marT="64008" marB="45720">
                    <a:solidFill>
                      <a:srgbClr val="EAF4F3"/>
                    </a:solidFill>
                  </a:tcPr>
                </a:tc>
              </a:tr>
              <a:tr h="570585">
                <a:tc>
                  <a:txBody>
                    <a:bodyPr/>
                    <a:lstStyle/>
                    <a:p>
                      <a:pPr>
                        <a:spcAft>
                          <a:spcPts val="0"/>
                        </a:spcAft>
                        <a:defRPr sz="1800" b="0">
                          <a:solidFill>
                            <a:srgbClr val="24384B"/>
                          </a:solidFill>
                          <a:latin typeface="Calibri"/>
                        </a:defRPr>
                      </a:pPr>
                      <a:r>
                        <a:t>Precheck</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Check the design fits Tiny Tapeout’s integration rules</a:t>
                      </a:r>
                    </a:p>
                  </a:txBody>
                  <a:tcPr marL="109728" marR="73152" marT="64008" marB="45720">
                    <a:solidFill>
                      <a:srgbClr val="FFFFFF"/>
                    </a:solidFill>
                  </a:tcPr>
                </a:tc>
              </a:tr>
              <a:tr h="570585">
                <a:tc>
                  <a:txBody>
                    <a:bodyPr/>
                    <a:lstStyle/>
                    <a:p>
                      <a:pPr>
                        <a:spcAft>
                          <a:spcPts val="0"/>
                        </a:spcAft>
                        <a:defRPr sz="1800" b="0">
                          <a:solidFill>
                            <a:srgbClr val="24384B"/>
                          </a:solidFill>
                          <a:latin typeface="Calibri"/>
                        </a:defRPr>
                      </a:pPr>
                      <a:r>
                        <a:t>Gate-level test</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Run your test against the generated gate connections</a:t>
                      </a:r>
                    </a:p>
                  </a:txBody>
                  <a:tcPr marL="109728" marR="73152" marT="64008" marB="45720">
                    <a:solidFill>
                      <a:srgbClr val="EAF4F3"/>
                    </a:solidFill>
                  </a:tcPr>
                </a:tc>
              </a:tr>
              <a:tr h="570588">
                <a:tc>
                  <a:txBody>
                    <a:bodyPr/>
                    <a:lstStyle/>
                    <a:p>
                      <a:pPr>
                        <a:spcAft>
                          <a:spcPts val="0"/>
                        </a:spcAft>
                        <a:defRPr sz="1800" b="0">
                          <a:solidFill>
                            <a:srgbClr val="24384B"/>
                          </a:solidFill>
                          <a:latin typeface="Calibri"/>
                        </a:defRPr>
                      </a:pPr>
                      <a:r>
                        <a:t>Viewer</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Publish an image/browser view of the layout</a:t>
                      </a:r>
                    </a:p>
                  </a:txBody>
                  <a:tcPr marL="109728" marR="73152" marT="64008" marB="45720">
                    <a:solidFill>
                      <a:srgbClr val="FFFFFF"/>
                    </a:solidFill>
                  </a:tcPr>
                </a:tc>
              </a:tr>
            </a:tbl>
          </a:graphicData>
        </a:graphic>
      </p:graphicFrame>
      <p:sp>
        <p:nvSpPr>
          <p:cNvPr id="8" name="TextBox 7"/>
          <p:cNvSpPr txBox="1"/>
          <p:nvPr/>
        </p:nvSpPr>
        <p:spPr>
          <a:xfrm>
            <a:off x="713232" y="4965192"/>
            <a:ext cx="10625328" cy="50292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Open the layout. Download tt_submission and GDS_logs.</a:t>
            </a:r>
          </a:p>
        </p:txBody>
      </p:sp>
      <p:sp>
        <p:nvSpPr>
          <p:cNvPr id="9" name="Rounded Rectangle 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1" name="TextBox 1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GLS • SAME TEST, GENERATED CIRCUIT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See what changes for gate-level simulation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19</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GLS runs your test against generated logic cells and their connections.</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74827"/>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the same test/test.py and external port checks.</a:t>
            </a:r>
          </a:p>
        </p:txBody>
      </p:sp>
      <p:sp>
        <p:nvSpPr>
          <p:cNvPr id="11" name="TextBox 10"/>
          <p:cNvSpPr txBox="1"/>
          <p:nvPr/>
        </p:nvSpPr>
        <p:spPr>
          <a:xfrm>
            <a:off x="548640" y="3390595"/>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90595"/>
            <a:ext cx="4480560" cy="68991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the GL_TEST fixture’s VPWR and VGND connections.</a:t>
            </a:r>
          </a:p>
        </p:txBody>
      </p:sp>
      <p:sp>
        <p:nvSpPr>
          <p:cNvPr id="13" name="TextBox 12"/>
          <p:cNvSpPr txBox="1"/>
          <p:nvPr/>
        </p:nvSpPr>
        <p:spPr>
          <a:xfrm>
            <a:off x="548640" y="4190238"/>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190238"/>
            <a:ext cx="4480560" cy="1021842"/>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The cloud job supplies the netlist and cell models; GATES=yes selects them.</a:t>
            </a:r>
          </a:p>
        </p:txBody>
      </p:sp>
      <p:sp>
        <p:nvSpPr>
          <p:cNvPr id="15" name="Rounded Rectangle 14"/>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test/tb.v — preserve this conditional connection</a:t>
            </a:r>
          </a:p>
        </p:txBody>
      </p:sp>
      <p:sp>
        <p:nvSpPr>
          <p:cNvPr id="17" name="TextBox 16"/>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`ifdef GL_TEST</a:t>
            </a:r>
          </a:p>
          <a:p>
            <a:pPr>
              <a:spcAft>
                <a:spcPts val="0"/>
              </a:spcAft>
              <a:defRPr sz="1400" b="0">
                <a:solidFill>
                  <a:srgbClr val="24384B"/>
                </a:solidFill>
                <a:latin typeface="Consolas"/>
              </a:defRPr>
            </a:pPr>
            <a:r>
              <a:t>    .VPWR(VPWR),</a:t>
            </a:r>
          </a:p>
          <a:p>
            <a:pPr>
              <a:spcAft>
                <a:spcPts val="0"/>
              </a:spcAft>
              <a:defRPr sz="1400" b="0">
                <a:solidFill>
                  <a:srgbClr val="24384B"/>
                </a:solidFill>
                <a:latin typeface="Consolas"/>
              </a:defRPr>
            </a:pPr>
            <a:r>
              <a:t>    .VGND(VGND),</a:t>
            </a:r>
          </a:p>
          <a:p>
            <a:pPr>
              <a:spcAft>
                <a:spcPts val="0"/>
              </a:spcAft>
              <a:defRPr sz="1400" b="0">
                <a:solidFill>
                  <a:srgbClr val="24384B"/>
                </a:solidFill>
                <a:latin typeface="Consolas"/>
              </a:defRPr>
            </a:pPr>
            <a:r>
              <a:t>`endif</a:t>
            </a:r>
          </a:p>
        </p:txBody>
      </p:sp>
      <p:sp>
        <p:nvSpPr>
          <p:cNvPr id="18" name="Rounded Rectangle 1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0" name="TextBox 1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uses the wrapper ports, and the supplied fixture and gate-level Makefile branch are intact.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GLS • SAME TEST, GENERATED CIRCUIT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See what changes for gate-level simulation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20</a:t>
            </a:r>
          </a:p>
        </p:txBody>
      </p:sp>
      <p:graphicFrame>
        <p:nvGraphicFramePr>
          <p:cNvPr id="8" name="Table 7"/>
          <p:cNvGraphicFramePr>
            <a:graphicFrameLocks noGrp="1"/>
          </p:cNvGraphicFramePr>
          <p:nvPr/>
        </p:nvGraphicFramePr>
        <p:xfrm>
          <a:off x="594360" y="1874519"/>
          <a:ext cx="7360920" cy="3566160"/>
        </p:xfrm>
        <a:graphic>
          <a:graphicData uri="http://schemas.openxmlformats.org/drawingml/2006/table">
            <a:tbl>
              <a:tblPr firstRow="1" bandRow="1">
                <a:tableStyleId>{5C22544A-7EE6-4342-B048-85BDC9FD1C3A}</a:tableStyleId>
              </a:tblPr>
              <a:tblGrid>
                <a:gridCol w="3680460"/>
                <a:gridCol w="3680460"/>
              </a:tblGrid>
              <a:tr h="713232">
                <a:tc>
                  <a:txBody>
                    <a:bodyPr/>
                    <a:lstStyle/>
                    <a:p>
                      <a:pPr>
                        <a:spcAft>
                          <a:spcPts val="0"/>
                        </a:spcAft>
                        <a:defRPr sz="1800" b="1">
                          <a:solidFill>
                            <a:srgbClr val="FFFFFF"/>
                          </a:solidFill>
                          <a:latin typeface="Calibri"/>
                        </a:defRPr>
                      </a:pPr>
                      <a:r>
                        <a:t>RTL simulation</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Gate-level simulation</a:t>
                      </a:r>
                    </a:p>
                  </a:txBody>
                  <a:tcPr marL="109728" marR="73152" marT="64008" marB="45720">
                    <a:solidFill>
                      <a:srgbClr val="16324F"/>
                    </a:solidFill>
                  </a:tcPr>
                </a:tc>
              </a:tr>
              <a:tr h="713232">
                <a:tc>
                  <a:txBody>
                    <a:bodyPr/>
                    <a:lstStyle/>
                    <a:p>
                      <a:pPr>
                        <a:spcAft>
                          <a:spcPts val="0"/>
                        </a:spcAft>
                        <a:defRPr sz="1800" b="0">
                          <a:solidFill>
                            <a:srgbClr val="24384B"/>
                          </a:solidFill>
                          <a:latin typeface="Calibri"/>
                        </a:defRPr>
                      </a:pPr>
                      <a:r>
                        <a:t>Your source Verilog</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Generated gate_level_netlist.v</a:t>
                      </a:r>
                    </a:p>
                  </a:txBody>
                  <a:tcPr marL="109728" marR="73152" marT="64008" marB="45720">
                    <a:solidFill>
                      <a:srgbClr val="EAF4F3"/>
                    </a:solidFill>
                  </a:tcPr>
                </a:tc>
              </a:tr>
              <a:tr h="713232">
                <a:tc>
                  <a:txBody>
                    <a:bodyPr/>
                    <a:lstStyle/>
                    <a:p>
                      <a:pPr>
                        <a:spcAft>
                          <a:spcPts val="0"/>
                        </a:spcAft>
                        <a:defRPr sz="1800" b="0">
                          <a:solidFill>
                            <a:srgbClr val="24384B"/>
                          </a:solidFill>
                          <a:latin typeface="Calibri"/>
                        </a:defRPr>
                      </a:pPr>
                      <a:r>
                        <a:t>Behaviour described in your code</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Logic cells connected by the build</a:t>
                      </a:r>
                    </a:p>
                  </a:txBody>
                  <a:tcPr marL="109728" marR="73152" marT="64008" marB="45720">
                    <a:solidFill>
                      <a:srgbClr val="FFFFFF"/>
                    </a:solidFill>
                  </a:tcPr>
                </a:tc>
              </a:tr>
              <a:tr h="713232">
                <a:tc>
                  <a:txBody>
                    <a:bodyPr/>
                    <a:lstStyle/>
                    <a:p>
                      <a:pPr>
                        <a:spcAft>
                          <a:spcPts val="0"/>
                        </a:spcAft>
                        <a:defRPr sz="1800" b="0">
                          <a:solidFill>
                            <a:srgbClr val="24384B"/>
                          </a:solidFill>
                          <a:latin typeface="Calibri"/>
                        </a:defRPr>
                      </a:pPr>
                      <a:r>
                        <a:t>Same test/test.py</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Same test/test.py</a:t>
                      </a:r>
                    </a:p>
                  </a:txBody>
                  <a:tcPr marL="109728" marR="73152" marT="64008" marB="45720">
                    <a:solidFill>
                      <a:srgbClr val="EAF4F3"/>
                    </a:solidFill>
                  </a:tcPr>
                </a:tc>
              </a:tr>
              <a:tr h="713232">
                <a:tc>
                  <a:txBody>
                    <a:bodyPr/>
                    <a:lstStyle/>
                    <a:p>
                      <a:pPr>
                        <a:spcAft>
                          <a:spcPts val="0"/>
                        </a:spcAft>
                        <a:defRPr sz="1800" b="0">
                          <a:solidFill>
                            <a:srgbClr val="24384B"/>
                          </a:solidFill>
                          <a:latin typeface="Calibri"/>
                        </a:defRPr>
                      </a:pPr>
                      <a:r>
                        <a:t>No extra cell power pins</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GL_TEST fixture connects VPWR and VGND</a:t>
                      </a:r>
                    </a:p>
                  </a:txBody>
                  <a:tcPr marL="109728" marR="73152" marT="64008" marB="45720">
                    <a:solidFill>
                      <a:srgbClr val="FFFFFF"/>
                    </a:solidFill>
                  </a:tcPr>
                </a:tc>
              </a:tr>
            </a:tbl>
          </a:graphicData>
        </a:graphic>
      </p:graphicFrame>
      <p:sp>
        <p:nvSpPr>
          <p:cNvPr id="9" name="TextBox 8"/>
          <p:cNvSpPr txBox="1"/>
          <p:nvPr/>
        </p:nvSpPr>
        <p:spPr>
          <a:xfrm>
            <a:off x="8229600" y="2011680"/>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10" name="TextBox 9"/>
          <p:cNvSpPr txBox="1"/>
          <p:nvPr/>
        </p:nvSpPr>
        <p:spPr>
          <a:xfrm>
            <a:off x="8705088" y="2011680"/>
            <a:ext cx="2871216" cy="309067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Netlist = A generated description of logic cells and the wires joining them.</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uses the wrapper ports, and the supplied fixture and gate-level Makefile branch are intact.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gl_test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13. Open the GLS job and check its evidence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21</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Open the gate-level job for the same commit as your RTL test.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10" name="TextBox 9"/>
          <p:cNvSpPr txBox="1"/>
          <p:nvPr/>
        </p:nvSpPr>
        <p:spPr>
          <a:xfrm>
            <a:off x="1024128" y="2606040"/>
            <a:ext cx="4480560" cy="684111"/>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Actions → gds → your run → gl_test → GL test → Run tests.</a:t>
            </a:r>
          </a:p>
        </p:txBody>
      </p:sp>
      <p:sp>
        <p:nvSpPr>
          <p:cNvPr id="11" name="TextBox 10"/>
          <p:cNvSpPr txBox="1"/>
          <p:nvPr/>
        </p:nvSpPr>
        <p:spPr>
          <a:xfrm>
            <a:off x="548640" y="3399879"/>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12" name="TextBox 11"/>
          <p:cNvSpPr txBox="1"/>
          <p:nvPr/>
        </p:nvSpPr>
        <p:spPr>
          <a:xfrm>
            <a:off x="1024128" y="3399879"/>
            <a:ext cx="4480560" cy="753746"/>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Read TESTS=1 PASS=1 FAIL=0 and confirm the whole job succeeds.</a:t>
            </a:r>
          </a:p>
        </p:txBody>
      </p:sp>
      <p:sp>
        <p:nvSpPr>
          <p:cNvPr id="13" name="TextBox 12"/>
          <p:cNvSpPr txBox="1"/>
          <p:nvPr/>
        </p:nvSpPr>
        <p:spPr>
          <a:xfrm>
            <a:off x="548640" y="4263354"/>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03</a:t>
            </a:r>
          </a:p>
        </p:txBody>
      </p:sp>
      <p:sp>
        <p:nvSpPr>
          <p:cNvPr id="14" name="TextBox 13"/>
          <p:cNvSpPr txBox="1"/>
          <p:nvPr/>
        </p:nvSpPr>
        <p:spPr>
          <a:xfrm>
            <a:off x="1024128" y="4263354"/>
            <a:ext cx="4480560" cy="948725"/>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Summary → Artifacts → gatelevel_test_results: save results.xml and waveform.</a:t>
            </a:r>
          </a:p>
        </p:txBody>
      </p:sp>
      <p:pic>
        <p:nvPicPr>
          <p:cNvPr id="15" name="Picture 14" descr="gls-job.png"/>
          <p:cNvPicPr>
            <a:picLocks noChangeAspect="1"/>
          </p:cNvPicPr>
          <p:nvPr/>
        </p:nvPicPr>
        <p:blipFill>
          <a:blip r:embed="rId4"/>
          <a:stretch>
            <a:fillRect/>
          </a:stretch>
        </p:blipFill>
        <p:spPr>
          <a:xfrm>
            <a:off x="5760720" y="2606040"/>
            <a:ext cx="5852160" cy="2006454"/>
          </a:xfrm>
          <a:prstGeom prst="rect">
            <a:avLst/>
          </a:prstGeom>
        </p:spPr>
      </p:pic>
      <p:sp>
        <p:nvSpPr>
          <p:cNvPr id="16" name="TextBox 15"/>
          <p:cNvSpPr txBox="1"/>
          <p:nvPr/>
        </p:nvSpPr>
        <p:spPr>
          <a:xfrm>
            <a:off x="5760720" y="4722222"/>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Genuine successful gl_test job from the earlier COUNTER example at commit 61ef06b. It shows where to open GL test; it is not a shift-register result.</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gl_test job passed for the same commit; I saved its results XML and waveform.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gl_test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13. Open the GLS job and check its evidence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22</a:t>
            </a:r>
          </a:p>
        </p:txBody>
      </p:sp>
      <p:sp>
        <p:nvSpPr>
          <p:cNvPr id="8" name="Rounded Rectangle 7"/>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10" name="TextBox 9"/>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Does this GLS result prove that every timing requirement is met?</a:t>
            </a:r>
          </a:p>
        </p:txBody>
      </p:sp>
      <p:sp>
        <p:nvSpPr>
          <p:cNvPr id="11" name="TextBox 10"/>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No. This is a functional gate-level test. Inspect the build’s separate timing reports as well; this walkthrough does not run an SDF timing-annotated simulation.</a:t>
            </a:r>
          </a:p>
        </p:txBody>
      </p:sp>
      <p:sp>
        <p:nvSpPr>
          <p:cNvPr id="12" name="Rounded Rectangle 11"/>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4" name="TextBox 13"/>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gl_test job passed for the same commit; I saved its results XML and waveform.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14.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15</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23</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Save one identifiable result: circuit, checks, layout and evidence.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01</a:t>
            </a:r>
          </a:p>
        </p:txBody>
      </p:sp>
      <p:sp>
        <p:nvSpPr>
          <p:cNvPr id="10" name="TextBox 9"/>
          <p:cNvSpPr txBox="1"/>
          <p:nvPr/>
        </p:nvSpPr>
        <p:spPr>
          <a:xfrm>
            <a:off x="1024128" y="2606040"/>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Keep repository, commit and workflow links together.</a:t>
            </a:r>
          </a:p>
        </p:txBody>
      </p:sp>
      <p:sp>
        <p:nvSpPr>
          <p:cNvPr id="11" name="TextBox 10"/>
          <p:cNvSpPr txBox="1"/>
          <p:nvPr/>
        </p:nvSpPr>
        <p:spPr>
          <a:xfrm>
            <a:off x="548640" y="3517392"/>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02</a:t>
            </a:r>
          </a:p>
        </p:txBody>
      </p:sp>
      <p:sp>
        <p:nvSpPr>
          <p:cNvPr id="12" name="TextBox 11"/>
          <p:cNvSpPr txBox="1"/>
          <p:nvPr/>
        </p:nvSpPr>
        <p:spPr>
          <a:xfrm>
            <a:off x="1024128" y="3517392"/>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Save the GDS, reports and datasheet for that same commit.</a:t>
            </a:r>
          </a:p>
        </p:txBody>
      </p:sp>
      <p:sp>
        <p:nvSpPr>
          <p:cNvPr id="13" name="TextBox 12"/>
          <p:cNvSpPr txBox="1"/>
          <p:nvPr/>
        </p:nvSpPr>
        <p:spPr>
          <a:xfrm>
            <a:off x="548640" y="4428744"/>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03</a:t>
            </a:r>
          </a:p>
        </p:txBody>
      </p:sp>
      <p:sp>
        <p:nvSpPr>
          <p:cNvPr id="14" name="TextBox 13"/>
          <p:cNvSpPr txBox="1"/>
          <p:nvPr/>
        </p:nvSpPr>
        <p:spPr>
          <a:xfrm>
            <a:off x="1024128" y="4428744"/>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For your next design: map → wrap → list sources → test → build.</a:t>
            </a:r>
          </a:p>
        </p:txBody>
      </p:sp>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14.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15</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24</a:t>
            </a:r>
          </a:p>
        </p:txBody>
      </p:sp>
      <p:sp>
        <p:nvSpPr>
          <p:cNvPr id="8" name="Rounded Rectangle 7"/>
          <p:cNvSpPr/>
          <p:nvPr/>
        </p:nvSpPr>
        <p:spPr>
          <a:xfrm>
            <a:off x="64008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Unknown module / missing file</a:t>
            </a:r>
          </a:p>
        </p:txBody>
      </p:sp>
      <p:sp>
        <p:nvSpPr>
          <p:cNvPr id="10" name="TextBox 9"/>
          <p:cNvSpPr txBox="1"/>
          <p:nvPr/>
        </p:nvSpPr>
        <p:spPr>
          <a:xfrm>
            <a:off x="804671"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the three names and both source lists. Guide page 7.</a:t>
            </a:r>
          </a:p>
        </p:txBody>
      </p:sp>
      <p:sp>
        <p:nvSpPr>
          <p:cNvPr id="11" name="Rounded Rectangle 10"/>
          <p:cNvSpPr/>
          <p:nvPr/>
        </p:nvSpPr>
        <p:spPr>
          <a:xfrm>
            <a:off x="617220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Reset / shift assertion fails</a:t>
            </a:r>
          </a:p>
        </p:txBody>
      </p:sp>
      <p:sp>
        <p:nvSpPr>
          <p:cNvPr id="13" name="TextBox 12"/>
          <p:cNvSpPr txBox="1"/>
          <p:nvPr/>
        </p:nvSpPr>
        <p:spPr>
          <a:xfrm>
            <a:off x="6336792"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pin bits, reset polarity and expected values. Pages 5 and 9.</a:t>
            </a:r>
          </a:p>
        </p:txBody>
      </p:sp>
      <p:sp>
        <p:nvSpPr>
          <p:cNvPr id="14" name="Rounded Rectangle 13"/>
          <p:cNvSpPr/>
          <p:nvPr/>
        </p:nvSpPr>
        <p:spPr>
          <a:xfrm>
            <a:off x="64008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Documentation fails</a:t>
            </a:r>
          </a:p>
        </p:txBody>
      </p:sp>
      <p:sp>
        <p:nvSpPr>
          <p:cNvPr id="16" name="TextBox 15"/>
          <p:cNvSpPr txBox="1"/>
          <p:nvPr/>
        </p:nvSpPr>
        <p:spPr>
          <a:xfrm>
            <a:off x="804671"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Complete metadata, sections and pin keys. Keep YAML indentation. Page 8.</a:t>
            </a:r>
          </a:p>
        </p:txBody>
      </p:sp>
      <p:sp>
        <p:nvSpPr>
          <p:cNvPr id="17" name="Rounded Rectangle 16"/>
          <p:cNvSpPr/>
          <p:nvPr/>
        </p:nvSpPr>
        <p:spPr>
          <a:xfrm>
            <a:off x="617220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Layout / viewer / gate test fails</a:t>
            </a:r>
          </a:p>
        </p:txBody>
      </p:sp>
      <p:sp>
        <p:nvSpPr>
          <p:cNvPr id="19" name="TextBox 18"/>
          <p:cNvSpPr txBox="1"/>
          <p:nvPr/>
        </p:nvSpPr>
        <p:spPr>
          <a:xfrm>
            <a:off x="6336792"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Open the first failing job. See GLS on pages 13–14 and help on page 15.</a:t>
            </a:r>
          </a:p>
        </p:txBody>
      </p:sp>
      <p:sp>
        <p:nvSpPr>
          <p:cNvPr id="20" name="Rounded Rectangle 19"/>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2" name="TextBox 21"/>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Verilog to Tiny Tapeout</dc:title>
  <dc:subject>Compact practical lesson, with editable flowcharts and guide references</dc:subject>
  <dc:creator>EE6019 Research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