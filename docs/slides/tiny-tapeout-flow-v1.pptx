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Introduce the outcome: students will prepare a tested digital project and understand how its layout is built. This version explains submission but performs no reservation, payment or submission. The HDL route is the teaching focus. Diagrams are editable; pending panels are instructions, not evidence of completed runs.</a:t>
            </a:r>
          </a:p>
          <a:p/>
          <a:p>
            <a:r>
              <a:t>SOURCES (checked 7 October 2026)</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A tile is an allocated rectangle of the shared ASIC. Many projects share fabrication; a multiplexer selects which project reaches the external digital pins. A PDK is the process cell library and manufacturing rulebook. This editable diagram is conceptual, not a floorplan. Ask which cost is shared: manufacture of the chip, rather than the student's design work.</a:t>
            </a:r>
          </a:p>
          <a:p/>
          <a:p>
            <a:r>
              <a:t>SOURCES (checked 7 October 2026)</a:t>
            </a:r>
          </a:p>
          <a:p>
            <a:r>
              <a:t>https://tinytapeout.com/faq/</a:t>
            </a:r>
          </a:p>
          <a:p>
            <a:r>
              <a:t>https://tinytapeout.com/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Walk left to right across each row. RTL means register-transfer level: Verilog describes stored state and logic. A testbench drives inputs and compares the result with the expected answer. Students write behaviour, tests and metadata. GitHub Actions perform implementation and checks. GDS describes the geometric layout used to make masks. Fabrication follows an approved submitted revision. Return from results to RTL when a check fails; iteration is expected.</a:t>
            </a:r>
          </a:p>
          <a:p/>
          <a:p>
            <a:r>
              <a:t>SOURCES (checked 7 October 2026)</a:t>
            </a:r>
          </a:p>
          <a:p>
            <a:r>
              <a:t>https://github.com/TinyTapeout/ttsky-verilog-template/blob/main/README.md</a:t>
            </a:r>
          </a:p>
          <a:p>
            <a:r>
              <a:t>https://github.com/TinyTapeout/ttsky-verilog-template/blob/main/.github/workflows/gds.yaml</a:t>
            </a:r>
          </a:p>
          <a:p>
            <a:r>
              <a:t>https://tinytapeout.com/guides/get-started-demoboard-etr/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shuttle schedule connects IHP runs to IHP MPW, SKY runs to ChipFoundry chipIgnite and GF runs to wafer.space. Process names come from the official templates. Historical videos mention Efabless, which shut down in 2025; use the current partner and template. Delivery estimates are shuttle-specific. The FAQ suggests allowing up to a year including assembly and fulfilment; use the schedule for a particular booking.</a:t>
            </a:r>
          </a:p>
          <a:p/>
          <a:p>
            <a:r>
              <a:t>SOURCES (checked 7 October 2026)</a:t>
            </a:r>
          </a:p>
          <a:p>
            <a:r>
              <a:t>https://tinytapeout.com/chips/</a:t>
            </a:r>
          </a:p>
          <a:p>
            <a:r>
              <a:t>https://tinytapeout.com/hdl/templates/</a:t>
            </a:r>
          </a:p>
          <a:p>
            <a:r>
              <a:t>https://tinytapeout.com/news/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Current info.yaml comments describe a 1x1 SKY and IHP tile as approximately 167 by 108 micrometres, and GF180 as approximately 340 by 160 micrometres. These are template descriptions, not a guarantee of usable routing area. The old FAQ estimate of roughly 1,000 gates belongs to TT04–TT10; do not turn it into a standard-cell-count limit for every PDK. uio has input, output and output-enable paths internally. ena is an internal selection signal, not another external pin. Internal timing and I/O speed are different limits.</a:t>
            </a:r>
          </a:p>
          <a:p/>
          <a:p>
            <a:r>
              <a:t>BEGINNER EXAMPLE / REVIEW NOTES</a:t>
            </a:r>
          </a:p>
          <a:p>
            <a:r>
              <a:t>Visible worked example: count 5 is binary 00000101, so uo_out[2] and uo_out[0] are high. clk and rst_n are external pins; ena is internal selection. In this actual example uio_oe[0]=1 drives wrap and the remaining uio pins are inputs. The enable input is assumed synchronous in the minimal example.</a:t>
            </a:r>
          </a:p>
          <a:p/>
          <a:p>
            <a:r>
              <a:t>SOURCES (checked 7 October 2026)</a:t>
            </a:r>
          </a:p>
          <a:p>
            <a:r>
              <a:t>https://github.com/TinyTapeout/ttsky-verilog-template/blob/main/info.yaml</a:t>
            </a:r>
          </a:p>
          <a:p>
            <a:r>
              <a:t>https://github.com/TinyTapeout/ttihp-verilog-template/blob/main/info.yaml</a:t>
            </a:r>
          </a:p>
          <a:p>
            <a:r>
              <a:t>https://github.com/TinyTapeout/ttgf-verilog-template/blob/main/info.yaml</a:t>
            </a:r>
          </a:p>
          <a:p>
            <a:r>
              <a:t>https://tinytapeout.com/specs/gpio/</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Start with the actual counter result, not a generic gate-capacity estimate. GDS run 37693100748 at SHA 61ef06bed008e76000f9ae46d65182e476d15dd6 used SKY130, one 1x1 tile, LibreLane 3.0.14 and a 50 MHz clock target. Reported standard-cell utilisation is 4.96131%: 818.285 / 16,493.3 square micrometres of core area, including non-fill physical cells. Synthesis produced 47 cells with area 421.6544 square micrometres. The later 279 non-fill cells include 225 taps; 4,600 total cells include 4,321 fillers. These totals are not logic-gate counts. Worst setup/hold slack is 8.64285 / 0.109636 ns, with zero violations. Timing margins do not establish measured maximum silicon frequency. All four gds jobs passed, and all 15 prechecks passed. There are 447 TIMESCALEMOD lint warnings, so do not claim zero warnings. The linked historical UART and NanoV datasheets are optional further examples, not designs shown in the visible diagram. Do not substitute the separate 150-by-150 micrometre custom-flow result.</a:t>
            </a:r>
          </a:p>
          <a:p/>
          <a:p>
            <a:r>
              <a:t>BEGINNER EXAMPLE / REVIEW NOTES</a:t>
            </a:r>
          </a:p>
          <a:p>
            <a:r>
              <a:t>The 10-by-10 diagram is an editable illustration of area utilisation, not a cell floorplan. Exact utilisation is 4.96131% of core area, including non-fill physical cells. All gds jobs, including precheck, passed at 61ef06b. Lint warnings are TIMESCALEMOD and are not a zero-warning result.</a:t>
            </a:r>
          </a:p>
          <a:p/>
          <a:p>
            <a:r>
              <a:t>SOURCES (checked 7 October 2026)</a:t>
            </a:r>
          </a:p>
          <a:p>
            <a:r>
              <a:t>https://tinytapeout.com/chips/ttihp26b/tt_um_nuatlabs_uart/</a:t>
            </a:r>
          </a:p>
          <a:p>
            <a:r>
              <a:t>https://tinytapeout.com/chips/ttsky26c/tt_um_WaiMingLee888_nanov_1tile/</a:t>
            </a:r>
          </a:p>
          <a:p>
            <a:r>
              <a:t>https://github.com/mdkamrulislam-web/tt-sky130-counter/actions/runs/37693100748</a:t>
            </a:r>
          </a:p>
          <a:p>
            <a:r>
              <a:t>https://github.com/TinyTapeout/ttsky-verilog-template/blob/main/info.yaml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Wokwi is useful for a first gate-level exercise in a browser. The HDL route gives a version-controlled Verilog design and a Python testbench, and is the remainder of this deck. Both feed Tiny Tapeout infrastructure. The templates page also links a user-contributed IHP Chisel template. Do not introduce analogue design or an FPGA lab here; they are outside this lesson.</a:t>
            </a:r>
          </a:p>
          <a:p/>
          <a:p>
            <a:r>
              <a:t>BEGINNER EXAMPLE / REVIEW NOTES</a:t>
            </a:r>
          </a:p>
          <a:p>
            <a:r>
              <a:t>The visible AND example has A=1 and B=0, so its output is 0. This illustrates the same logic expressed as a gate drawing and an HDL assignment; the running counter lesson uses the HDL route.</a:t>
            </a:r>
          </a:p>
          <a:p/>
          <a:p>
            <a:r>
              <a:t>SOURCES (checked 7 October 2026)</a:t>
            </a:r>
          </a:p>
          <a:p>
            <a:r>
              <a:t>https://tinytapeout.com/hdl/templates/</a:t>
            </a:r>
          </a:p>
          <a:p>
            <a:r>
              <a:t>https://tinytapeout.com/digital_design/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Open the official templates page and match the process to the class shuttle. Use this template creates a new repository. Set Settings &gt; Pages &gt; Build and deployment &gt; Source to GitHub Actions. P1 requires a signed-in template menu capture; the anonymous page does not expose that button. P2 requires the actual authorised repository Pages setting. The public worked example now exists, but these settings captures remain pending. Snapshot pins: SKY ttsky26d, IHP ttihp26b, GF ttgf26c. IHP26b is closed; its current template pin does not mean it is open. The SKY workflow action currently pins LibreLane 3.0.14, whereas IHP pins 3.0.5. Re-check template and action versions before the next class.</a:t>
            </a:r>
          </a:p>
          <a:p/>
          <a:p>
            <a:r>
              <a:t>SOURCES (checked 7 October 2026)</a:t>
            </a:r>
          </a:p>
          <a:p>
            <a:r>
              <a:t>https://tinytapeout.com/hdl/templates/</a:t>
            </a:r>
          </a:p>
          <a:p>
            <a:r>
              <a:t>https://github.com/TinyTapeout/ttsky-verilog-template/blob/main/.github/workflows/gds.yaml</a:t>
            </a:r>
          </a:p>
          <a:p>
            <a:r>
              <a:t>https://github.com/TinyTapeout/ttihp-verilog-template/blob/main/.github/workflows/gds.yaml</a:t>
            </a:r>
          </a:p>
          <a:p>
            <a:r>
              <a:t>https://github.com/TinyTapeout/ttgf-verilog-template/blob/main/.github/workflows/gds.yaml</a:t>
            </a:r>
          </a:p>
          <a:p>
            <a:r>
              <a:t>https://tinytapeout.com/faq/#my-github-action-is-failing-on-the-pages-part</a:t>
            </a:r>
          </a:p>
          <a:p>
            <a:r>
              <a:t>https://raw.githubusercontent.com/TinyTapeout/tt-gds-action/ttsky26d/action.yml</a:t>
            </a:r>
          </a:p>
          <a:p>
            <a:r>
              <a:t>https://raw.githubusercontent.com/TinyTapeout/tt-gds-action/ttihp26b/action.yml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Show the class the actual template tree. src/project.v is the starting RTL file; add files under src and list every one in info.yaml source_files and test/Makefile PROJECT_SOURCES. info.yaml has project title, author, language, description, clock_hz, tiles and top_module, plus all 24 pin descriptions; retain yaml_version: 6. Preserve unused pin entries and leave their descriptions blank. test/tb.v must instantiate the same top name. docs/info.md explains behaviour, tests and external hardware. Leave automation and PDK setup alone for the first exercise. P7 captures the resulting datasheet.</a:t>
            </a:r>
          </a:p>
          <a:p/>
          <a:p>
            <a:r>
              <a:t>BEGINNER EXAMPLE / REVIEW NOTES</a:t>
            </a:r>
          </a:p>
          <a:p>
            <a:r>
              <a:t>The actual counter has project.v plus counter.v. Both must appear in info.yaml source_files and test/Makefile PROJECT_SOURCES. The docs artifact shown on slide26 was built by docs at 61ef06b.</a:t>
            </a:r>
          </a:p>
          <a:p/>
          <a:p>
            <a:r>
              <a:t>SOURCES (checked 7 October 2026)</a:t>
            </a:r>
          </a:p>
          <a:p>
            <a:r>
              <a:t>https://github.com/TinyTapeout/ttsky-verilog-template/blob/main/info.yaml</a:t>
            </a:r>
          </a:p>
          <a:p>
            <a:r>
              <a:t>https://github.com/TinyTapeout/ttsky-verilog-template/blob/main/test/README.md</a:t>
            </a:r>
          </a:p>
          <a:p>
            <a:r>
              <a:t>https://github.com/TinyTapeout/ttsky-verilog-template/blob/main/docs/info.md</a:t>
            </a:r>
          </a:p>
          <a:p>
            <a:r>
              <a:t>https://github.com/mdkamrulislam-web/tt-sky130-counter/tree/61ef06bed008e76000f9ae46d65182e476d15dd6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visible code is an excerpt from the real working counter wrapper at 61ef06b, not a zero-output shell. It instantiates counter, connects binary count to uo_out and drives wrap through uio_out[0]. uio_oe is active high: zero selects input and one selects output. The wrapper drives unused uio_out bits low. ena is internal project selection; ui_in[0] is this counter's enable. The core reset is active high, so .rst(~rst_n) converts the shared active-low reset. Reset affects count at the next rising clock edge. Use the exact eight template ports and make the tt_um_ module name, info.yaml and test/tb.v agree. The source link supplies the complete runnable wrapper.</a:t>
            </a:r>
          </a:p>
          <a:p/>
          <a:p>
            <a:r>
              <a:t>BEGINNER EXAMPLE / REVIEW NOTES</a:t>
            </a:r>
          </a:p>
          <a:p>
            <a:r>
              <a:t>This visible code is the real wrapper excerpt at 61ef06b. The top name is tt_um_mdkamrulislam_counter. Ports are exactly ui_in, uo_out, uio_in, uio_out, uio_oe, ena, clk and rst_n; do not add ports. Reset is inverted because the underlying counter uses active-high rst.</a:t>
            </a:r>
          </a:p>
          <a:p/>
          <a:p>
            <a:r>
              <a:t>SOURCES (checked 7 October 2026)</a:t>
            </a:r>
          </a:p>
          <a:p>
            <a:r>
              <a:t>https://tinytapeout.com/hdl/important/</a:t>
            </a:r>
          </a:p>
          <a:p>
            <a:r>
              <a:t>https://github.com/TinyTapeout/ttsky-verilog-template/blob/main/src/project.v</a:t>
            </a:r>
          </a:p>
          <a:p>
            <a:r>
              <a:t>https://github.com/mdkamrulislam-web/tt-sky130-counter/blob/61ef06bed008e76000f9ae46d65182e476d15dd6/src/project.v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This running example uses one synchronous rising-edge clock. Count is unsigned and wraps modulo 256. rst_n=0 resets count at the next rising edge; reset wins over enable. With enable=0 the count holds. wrap is a combinational terminal-count flag: it is high only when count=255 and enable=1, before overflow to zero. Disabling while count=255 makes wrap low. The ellipsis skips many clock edges between count 2 and 255. Power-up state must not be relied upon. For physical asynchronous controls, use an appropriate synchroniser; debounce is a separate concern. The minimal teaching counter assumes synchronous enable. Avoid incomplete combinational assignments, unintended latches and derived ripple clocks.</a:t>
            </a:r>
          </a:p>
          <a:p/>
          <a:p>
            <a:r>
              <a:t>BEGINNER EXAMPLE / REVIEW NOTES</a:t>
            </a:r>
          </a:p>
          <a:p>
            <a:r>
              <a:t>The snippet is an 8-bit teaching form of the existing WIDTH-parameterised counter, with declarations omitted. rst is active high inside the core; the wrapper derives it from ~rst_n. Counting is modulo256. wrap is combinational: high when count255 and en1, before the overflow edge. Formative question answer: count stays7 when en0. Reset wins over enable.</a:t>
            </a:r>
          </a:p>
          <a:p/>
          <a:p>
            <a:r>
              <a:t>SOURCES (checked 7 October 2026)</a:t>
            </a:r>
          </a:p>
          <a:p>
            <a:r>
              <a:t>https://tinytapeout.com/hdl/important/</a:t>
            </a:r>
          </a:p>
          <a:p>
            <a:r>
              <a:t>https://tinytapeout.com/specs/clock/</a:t>
            </a:r>
          </a:p>
          <a:p>
            <a:r>
              <a:t>https://github.com/TinyTapeout/ttsky-verilog-template/blob/main/src/project.v</a:t>
            </a:r>
          </a:p>
          <a:p>
            <a:r>
              <a:t>https://github.com/mdkamrulislam-web/tt-sky130-counter/blob/61ef06bed008e76000f9ae46d65182e476d15dd6/src/counter.v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Use a provisioned lab environment or an existing laptop environment with Python, make and Icarus Verilog. Installing only Python packages does not install the simulator. Install the requirements from this template to preserve its cocotb version. Rename the instance in tb.v and set PROJECT_SOURCES. A cocotb coroutine drives inputs and checks outputs with assertions; students should test reset, enable hold, increment and wrap. Explicitly run check_results because the workflow warns make may succeed even with failed tests. tb.fst is the current template waveform, not the older web guide tb.vcd. The dev container requests 10 GB; a standard Codespace has not been validated here.</a:t>
            </a:r>
          </a:p>
          <a:p/>
          <a:p>
            <a:r>
              <a:t>BEGINNER EXAMPLE / REVIEW NOTES</a:t>
            </a:r>
          </a:p>
          <a:p>
            <a:r>
              <a:t>The example uses the real test helper step(), which waits for the falling edge, drives inputs, waits for the rising edge, updates the model and samples outputs after8ns. The excerpt is original pedagogical code using this helper. It is not a standalone test file. Run cd test; install the pinned requirements; make -B; python -m cocotb_tools.check_results results.xml. This last check prevents make-success hiding failed tests. Waveform P8 remains pending a real GTKWave/Surfer view.</a:t>
            </a:r>
          </a:p>
          <a:p/>
          <a:p>
            <a:r>
              <a:t>SOURCES (checked 7 October 2026)</a:t>
            </a:r>
          </a:p>
          <a:p>
            <a:r>
              <a:t>https://github.com/TinyTapeout/ttsky-verilog-template/blob/main/test/README.md</a:t>
            </a:r>
          </a:p>
          <a:p>
            <a:r>
              <a:t>https://github.com/TinyTapeout/ttsky-verilog-template/blob/main/.github/workflows/test.yaml</a:t>
            </a:r>
          </a:p>
          <a:p>
            <a:r>
              <a:t>https://github.com/TinyTapeout/ttsky-verilog-template/blob/main/.devcontainer/devcontainer.json</a:t>
            </a:r>
          </a:p>
          <a:p>
            <a:r>
              <a:t>https://tinytapeout.com/hdl/testing/</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A commit captures a specific version. test checks behaviour, gds builds/checks the layout and docs writes the datasheet. The actual public worked-example branch has all three workflows passing at 61ef06b. The gds workflow has gds, precheck, gl_test and viewer jobs, and every one passed in run 37693100748. Native PowerPoint crop magnifies the genuine workflow rows; the original screenshot remains in img/. Match results to the commit intended for review. fpga is optional and was not run. A passing build does not reserve or submit a tile.</a:t>
            </a:r>
          </a:p>
          <a:p/>
          <a:p>
            <a:r>
              <a:t>BEGINNER EXAMPLE / REVIEW NOTES</a:t>
            </a:r>
          </a:p>
          <a:p>
            <a:r>
              <a:t>P3 is captured from the real public Actions list filtered to branch worked-example. It shows docs, test and gds all successful at 61ef06b. The optional fpga workflow has not run. Native PowerPoint crop magnifies the three workflow rows, retaining the real workflow labels and commit; it does not alter the results. Each pass label describes a genuine workflow result.</a:t>
            </a:r>
          </a:p>
          <a:p/>
          <a:p>
            <a:r>
              <a:t>SOURCES (checked 7 October 2026)</a:t>
            </a:r>
          </a:p>
          <a:p>
            <a:r>
              <a:t>https://github.com/TinyTapeout/ttsky-verilog-template/blob/main/.github/workflows/test.yaml</a:t>
            </a:r>
          </a:p>
          <a:p>
            <a:r>
              <a:t>https://github.com/TinyTapeout/ttsky-verilog-template/blob/main/.github/workflows/gds.yaml</a:t>
            </a:r>
          </a:p>
          <a:p>
            <a:r>
              <a:t>https://github.com/TinyTapeout/ttsky-verilog-template/blob/main/.github/workflows/docs.yaml</a:t>
            </a:r>
          </a:p>
          <a:p>
            <a:r>
              <a:t>https://github.com/TinyTapeout/ttsky-verilog-template/blob/main/.github/workflows/fpga.yaml</a:t>
            </a:r>
          </a:p>
          <a:p>
            <a:r>
              <a:t>https://github.com/mdkamrulislam-web/tt-sky130-counter/actions?query=branch%3Aworked-example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visible P5 image is a genuine loaded browser 3D viewer capture of the published counter OAS, from GDS run 37693100748 at 61ef06b. The viewer's native Filler cells checkbox is off. The useful logic is clustered near the top; horizontal power rails cross the tile. Filler cells support implementation/manufacturing and are not extra logic. The viewer refits when visibility changes, so do not compare full-filler and hidden-filler pictures by pixel area. The original full viewer and 2D gds_render images remain as assets. Read actual warnings, cell taxonomy, utilisation, timing and precheck results. The run-overview screenshot is captured; P4 still needs the metrics/cell-table view. A good-looking layout and passing functional simulation do not replace timing and manufacturing checks.</a:t>
            </a:r>
          </a:p>
          <a:p/>
          <a:p>
            <a:r>
              <a:t>BEGINNER EXAMPLE / REVIEW NOTES</a:t>
            </a:r>
          </a:p>
          <a:p>
            <a:r>
              <a:t>All actual counter jobs passed. P5 is a genuine loaded browser 3D viewer capture of the published OAS from run 37693100748. The viewer's native Filler cells checkbox is off, so the useful logic is easier to find. The viewer refits the camera when visibility changes: do not use the screenshots as a pixel-area comparison. The original 2D gds_render and full-filler viewer capture remain as source assets. P4 still needs the metrics/cell-table view; the run summary itself has been captured.</a:t>
            </a:r>
          </a:p>
          <a:p/>
          <a:p>
            <a:r>
              <a:t>SOURCES (checked 7 October 2026)</a:t>
            </a:r>
          </a:p>
          <a:p>
            <a:r>
              <a:t>https://tinytapeout.com/hdl/important/#check-the-synthesis-warnings</a:t>
            </a:r>
          </a:p>
          <a:p>
            <a:r>
              <a:t>https://github.com/mdkamrulislam-web/tt-sky130-counter/actions/runs/37693100748</a:t>
            </a:r>
          </a:p>
          <a:p>
            <a:r>
              <a:t>https://github.com/TinyTapeout/ttsky-verilog-template/blob/main/.github/workflows/gds.yaml</a:t>
            </a:r>
          </a:p>
          <a:p>
            <a:r>
              <a:t>https://gds-viewer.tinytapeout.com/?pdk=sky130A&amp;model=https%3A%2F%2Fmdkamrulislam-web.github.io%2Ftt-sky130-counter%2Ftinytapeout.oas</a:t>
            </a:r>
          </a:p>
          <a:p>
            <a:r>
              <a:t>https://mdkamrulislam-web.github.io/tt-sky130-counter/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LibreLane orchestrates implementation. Synthesis maps Verilog into standard-cell instances; place and route chooses their locations and joins them with wires. These steps together are commonly called hardening. Timing asks whether signals reach registers before the next required edge and remain stable long enough. DRC checks physical rules such as minimum wire spacing; LVS checks that extracted circuit connections match the intended netlist. Tool roles describe the flow family, not a guarantee that each tool runs for every PDK: the IHP config disables KLayout DRC and XOR. Current workflow action versions differ by process. Commercial equivalents belong to the survey rather than this beginner diagram.</a:t>
            </a:r>
          </a:p>
          <a:p/>
          <a:p>
            <a:r>
              <a:t>SOURCES (checked 7 October 2026)</a:t>
            </a:r>
          </a:p>
          <a:p>
            <a:r>
              <a:t>https://librelane.readthedocs.io/en/latest/reference/flows.html</a:t>
            </a:r>
          </a:p>
          <a:p>
            <a:r>
              <a:t>https://github.com/TinyTapeout/ttihp-verilog-template/blob/main/src/config.json</a:t>
            </a:r>
          </a:p>
          <a:p>
            <a:r>
              <a:t>https://github.com/YosysHQ/yosys</a:t>
            </a:r>
          </a:p>
          <a:p>
            <a:r>
              <a:t>https://github.com/The-OpenROAD-Project/OpenROAD</a:t>
            </a:r>
          </a:p>
          <a:p>
            <a:r>
              <a:t>https://github.com/The-OpenROAD-Project/OpenSTA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Repeat the behavioural checks on the synthesised cell netlist. The actual counter RTL test and gl_test passed at 61ef06b. The gl_test job sets up cell models and power connections. To run locally, harden first, copy the matching final Verilog netlist into test/gate_level_netlist.v, set PDK_ROOT to the installed matching PDK, enter test/ and run make -B GATES=yes. Then check results.xml explicitly as with RTL simulation. This deck build does not install a PDK or run hardening locally. Functional gate-level simulation does not replace static timing analysis or SDF-based timing simulation.</a:t>
            </a:r>
          </a:p>
          <a:p/>
          <a:p>
            <a:r>
              <a:t>BEGINNER EXAMPLE / REVIEW NOTES</a:t>
            </a:r>
          </a:p>
          <a:p>
            <a:r>
              <a:t>The actual counter RTL and gl_test both passed at61ef06b. Functional gate-level simulation uses PDK cell models and power connections. It does not replace static timing analysis or SDF timing simulation. The statement on the slide distinguishes function from speed without presenting gl_test as timing sign-off.</a:t>
            </a:r>
          </a:p>
          <a:p/>
          <a:p>
            <a:r>
              <a:t>SOURCES (checked 7 October 2026)</a:t>
            </a:r>
          </a:p>
          <a:p>
            <a:r>
              <a:t>https://github.com/TinyTapeout/ttsky-verilog-template/blob/main/test/README.md</a:t>
            </a:r>
          </a:p>
          <a:p>
            <a:r>
              <a:t>https://github.com/TinyTapeout/ttsky-verilog-template/blob/main/test/Makefile</a:t>
            </a:r>
          </a:p>
          <a:p>
            <a:r>
              <a:t>https://github.com/TinyTapeout/ttsky-verilog-template/blob/main/.github/workflows/gds.yaml</a:t>
            </a:r>
          </a:p>
          <a:p>
            <a:r>
              <a:t>https://tinytapeout.com/hdl/testing/#gate-level-testing</a:t>
            </a:r>
          </a:p>
          <a:p>
            <a:r>
              <a:t>https://github.com/mdkamrulislam-web/tt-sky130-counter/blob/61ef06bed008e76000f9ae46d65182e476d15dd6/test/Makefile</a:t>
            </a:r>
          </a:p>
          <a:p>
            <a:r>
              <a:t>https://github.com/mdkamrulislam-web/tt-sky130-counter/actions/runs/37693100748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genuine initial-template GDS run 37693066241 failed validation because project title, author and description were empty. The visible before/after YAML snippets are excerpts: the fields belong inside the parent project: mapping. The worked-example commit filled the metadata and all workflows passed. This is a setup/metadata failure, not a failed counter assertion. No counter assertion failed. P6 is optional future evidence if a real assertion fails during teaching; no failing run is required to review this deck. When debugging, read the first useful error, change one cause and rerun. For area or timing changes, seek staff guidance and compare the new reports; density and hold-margin changes are not general fixes.</a:t>
            </a:r>
          </a:p>
          <a:p/>
          <a:p>
            <a:r>
              <a:t>BEGINNER EXAMPLE / REVIEW NOTES</a:t>
            </a:r>
          </a:p>
          <a:p>
            <a:r>
              <a:t>The initial template gds run37693066241 genuinely failed because project title, author and description were empty. This is metadata validation, not a failed RTL assertion. The worked-example commit filled these fields and all workflows passed. P6 is optional future assertion-failure evidence; no counter assertion failed. Do not invent a failed test. The contrasting snippets are teaching excerpts of metadata, not screenshots.</a:t>
            </a:r>
          </a:p>
          <a:p/>
          <a:p>
            <a:r>
              <a:t>SOURCES (checked 7 October 2026)</a:t>
            </a:r>
          </a:p>
          <a:p>
            <a:r>
              <a:t>https://github.com/TinyTapeout/ttsky-verilog-template/blob/main/src/config.json</a:t>
            </a:r>
          </a:p>
          <a:p>
            <a:r>
              <a:t>https://github.com/TinyTapeout/ttihp-verilog-template/blob/main/src/config.json</a:t>
            </a:r>
          </a:p>
          <a:p>
            <a:r>
              <a:t>https://tinytapeout.com/faq/#my-gds-action-is-taking-much-longer-than-usual</a:t>
            </a:r>
          </a:p>
          <a:p>
            <a:r>
              <a:t>https://github.com/TinyTapeout/ttsky-verilog-template/blob/main/.github/workflows/test.yaml</a:t>
            </a:r>
          </a:p>
          <a:p>
            <a:r>
              <a:t>https://github.com/mdkamrulislam-web/tt-sky130-counter/actions/runs/37693066241</a:t>
            </a:r>
          </a:p>
          <a:p>
            <a:r>
              <a:t>https://github.com/mdkamrulislam-web/tt-sky130-counter/blob/61ef06bed008e76000f9ae46d65182e476d15dd6/info.yaml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Demonstrate the sequence verbally without making a submission: sign in at the app with GitHub, select the intended shuttle, supply the public repository URL, review price or class coupon, then explicitly submit a revision. A passing build does not by itself reserve a place or select a fabrication revision. A later GitHub push does not automatically update the submitted revision; submit the updated revision before the shuttle deadline. Only the course lead or supervisor should authorise the paid reservation and submission. No app action, payment or reservation was performed while building this material.</a:t>
            </a:r>
          </a:p>
          <a:p/>
          <a:p>
            <a:r>
              <a:t>SOURCES (checked 7 October 2026)</a:t>
            </a:r>
          </a:p>
          <a:p>
            <a:r>
              <a:t>https://tinytapeout.com/guides/advanced-workshop/submit-your-design/</a:t>
            </a:r>
          </a:p>
          <a:p>
            <a:r>
              <a:t>https://tinytapeout.com/guides/workshop/create-your-gds/</a:t>
            </a:r>
          </a:p>
          <a:p>
            <a:r>
              <a:t>https://tinytapeout.com/faq/#which-of-my-builds-will-be-submitted-for-fabrication</a:t>
            </a:r>
          </a:p>
          <a:p>
            <a:r>
              <a:t>https://tinytapeout.com/chips/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This editable diagram is conceptual, not a board photograph or connector pinout. Latest ETR boards use RP2350B; older boards use RP2040. Follow the board-revision guide and configure one driver per input. The controller selects the project and supplies a slow clock or single-step clock. Assert rst_n low until a rising edge, then release it. Enable causes 0, 1, 2; disable holds count. Counter output is eight binary bits, readable with a controller or suitable bit indicators. No seven-segment decoder is included. A physical enable switch needs synchronisation and debounce; the minimal RTL assumes stable synchronous enable. Do not connect a raw bouncing button as a clock.</a:t>
            </a:r>
          </a:p>
          <a:p/>
          <a:p>
            <a:r>
              <a:t>BEGINNER EXAMPLE / REVIEW NOTES</a:t>
            </a:r>
          </a:p>
          <a:p>
            <a:r>
              <a:t>Begin at a slow clock or single-step while watching count. The current ETR board uses RP2350B; older boards use RP2040. Mode and pin ownership matter when using switches versus controller-driven inputs. A real switch enable needs synchronisation/debounce; the minimal worked example assumes stable synchronous enable.</a:t>
            </a:r>
          </a:p>
          <a:p/>
          <a:p>
            <a:r>
              <a:t>SOURCES (checked 7 October 2026)</a:t>
            </a:r>
          </a:p>
          <a:p>
            <a:r>
              <a:t>https://tinytapeout.com/guides/get-started-demoboard-etr/</a:t>
            </a:r>
          </a:p>
          <a:p>
            <a:r>
              <a:t>https://tinytapeout.com/specs/pcb-etr/</a:t>
            </a:r>
          </a:p>
          <a:p>
            <a:r>
              <a:t>https://commander.tinytapeout.com/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Ask students to attach evidence to each line: specification, file review, local results, commit-specific workflow URLs, metrics and datasheet. The FPGA workflow is optional. Students should be able to explain one failure and the fix; a green badge without that explanation is insufficient. Submission approval is an explicit staff checkpoint, not an invitation to pay during the lab.</a:t>
            </a:r>
          </a:p>
          <a:p/>
          <a:p>
            <a:r>
              <a:t>SOURCES (checked 7 October 2026)</a:t>
            </a:r>
          </a:p>
          <a:p>
            <a:r>
              <a:t>https://github.com/TinyTapeout/ttsky-verilog-template/blob/main/README.md</a:t>
            </a:r>
          </a:p>
          <a:p>
            <a:r>
              <a:t>https://github.com/TinyTapeout/ttsky-verilog-template/blob/main/.github/workflows/gds.yaml</a:t>
            </a:r>
          </a:p>
          <a:p>
            <a:r>
              <a:t>https://tinytapeout.com/guides/advanced-workshop/submit-your-design/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Students can start from the public worked-example branch, define count-down behaviour and write expected tests before editing RTL. Unsigned 8-bit subtraction is modulo 256: 0-1 gives 255, then 254. Define the terminal-count/underflow flag afresh: existing wrap detects count=255 while enabled for count-up; a count-down underflow flag would commonly detect count=0 while enabled. Specify and test that choice. Keep the fixed top interface. Produce test, gds and docs passes at one commit; compare synthesis cell count and reported utilisation. FPGA is optional. No class booking or paid submission occurs in this exercise.</a:t>
            </a:r>
          </a:p>
          <a:p/>
          <a:p>
            <a:r>
              <a:t>BEGINNER EXAMPLE / REVIEW NOTES</a:t>
            </a:r>
          </a:p>
          <a:p>
            <a:r>
              <a:t>At reset the8-bit counter is0. A modulo256 count-down counter goes0,255,254 when enabled. Its terminal flag must be defined afresh: the existing wrap indicates count255 with enable1 for count-up. For count-down a logical underflow condition would usually be count0 with enable1. Students must specify and test this choice, not merely swap plus for minus. Expected quiz answer:0−1 modulo256 is255.</a:t>
            </a:r>
          </a:p>
          <a:p/>
          <a:p>
            <a:r>
              <a:t>SOURCES (checked 7 October 2026)</a:t>
            </a:r>
          </a:p>
          <a:p>
            <a:r>
              <a:t>https://github.com/mdkamrulislam-web/tt-sky130-counter/tree/worked-example</a:t>
            </a:r>
          </a:p>
          <a:p>
            <a:r>
              <a:t>https://github.com/TinyTapeout/ttsky-verilog-template/blob/main/test/README.md</a:t>
            </a:r>
          </a:p>
          <a:p>
            <a:r>
              <a:t>https://github.com/TinyTapeout/ttsky-verilog-template/blob/main/info.yaml</a:t>
            </a:r>
          </a:p>
          <a:p>
            <a:r>
              <a:t>https://github.com/TinyTapeout/ttsky-verilog-template/blob/main/.github/workflows/gds.yaml</a:t>
            </a:r>
          </a:p>
          <a:p>
            <a:r>
              <a:t>https://github.com/mdkamrulislam-web/tt-sky130-counter/blob/61ef06bed008e76000f9ae46d65182e476d15dd6/src/counter.v</a:t>
            </a:r>
          </a:p>
          <a:p>
            <a:r>
              <a:t>https://github.com/mdkamrulislam-web/tt-sky130-counter/blob/61ef06bed008e76000f9ae46d65182e476d15dd6/test/test.py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Use these links in order: the template, interface rules, test setup, process and I/O constraints, schedule and help. All cards are hyperlinks. Older videos remain useful for the concepts but their store, fabrication partner, config.tcl and waveform names can differ from current templates. Prefer the actual current repo file when a guide is outdated. Suggested videos: idea-to-chip https://www.youtube.com/watch?v=qVWq_XZko-M ; HDL https://www.youtube.com/watch?v=KbWb6xd9jFE ; submission https://www.youtube.com/watch?v=fCGPKdmM3Dc ; physical design and manufacturing videos are embedded at making_asics. Watching them remains a lecturer preparation task, not a completed claim.</a:t>
            </a:r>
          </a:p>
          <a:p/>
          <a:p>
            <a:r>
              <a:t>SOURCES (checked 7 October 2026)</a:t>
            </a:r>
          </a:p>
          <a:p>
            <a:r>
              <a:t>https://tinytapeout.com/hdl/templates/</a:t>
            </a:r>
          </a:p>
          <a:p>
            <a:r>
              <a:t>https://tinytapeout.com/hdl/important/</a:t>
            </a:r>
          </a:p>
          <a:p>
            <a:r>
              <a:t>https://tinytapeout.com/hdl/testing/</a:t>
            </a:r>
          </a:p>
          <a:p>
            <a:r>
              <a:t>https://tinytapeout.com/specs/</a:t>
            </a:r>
          </a:p>
          <a:p>
            <a:r>
              <a:t>https://tinytapeout.com/chips/</a:t>
            </a:r>
          </a:p>
          <a:p>
            <a:r>
              <a:t>https://tinytapeout.com/faq/</a:t>
            </a:r>
          </a:p>
          <a:p>
            <a:r>
              <a:t>https://tinytapeout.com/making_asics/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official teaching page lists starting prices, not a quotation: up to 5 one-tile projects and one PCB kit for EUR565; up to 25 and three kits for EUR2195; up to 75 and five kits for EUR5325. A kit has a chip with all shuttle projects. A 75-project bundle could cover roughly 70 one-tile student projects, but not one board per student. Larger or analogue projects reduce project count. Obtain an institutional quote and confirm current taxes, shipping, ownership terms and availability before a commitment.</a:t>
            </a:r>
          </a:p>
          <a:p/>
          <a:p>
            <a:r>
              <a:t>SOURCES (checked 7 October 2026)</a:t>
            </a:r>
          </a:p>
          <a:p>
            <a:r>
              <a:t>https://tinytapeout.com/teaching/</a:t>
            </a:r>
          </a:p>
          <a:p>
            <a:r>
              <a:t>https://tinytapeout.com/terms/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SKY template pins ttsky26d and the schedule closes that shuttle on 30 November 2026. The GF template pins ttgf26c, closing on 7 December 2026. The IHP template still pins ttihp26b, which closed on 21 September 2026. TTIHP27a is planned for March 2027; no day is listed, and estimated shipping is Q1 2028. Other future schedule rows are estimates: GF27a April 2027 and SKY27a May 2027. Never interpret an action tag as evidence of currently open space. Refresh tags, deadlines, availability and shipping estimates before using this appendix for a course.</a:t>
            </a:r>
          </a:p>
          <a:p/>
          <a:p>
            <a:r>
              <a:t>SOURCES (checked 7 October 2026)</a:t>
            </a:r>
          </a:p>
          <a:p>
            <a:r>
              <a:t>https://tinytapeout.com/chips/</a:t>
            </a:r>
          </a:p>
          <a:p>
            <a:r>
              <a:t>https://github.com/TinyTapeout/ttsky-verilog-template/blob/main/.github/workflows/gds.yaml</a:t>
            </a:r>
          </a:p>
          <a:p>
            <a:r>
              <a:t>https://github.com/TinyTapeout/ttihp-verilog-template/blob/main/.github/workflows/gds.yaml</a:t>
            </a:r>
          </a:p>
          <a:p>
            <a:r>
              <a:t>https://github.com/TinyTapeout/ttgf-verilog-template/blob/main/.github/workflows/gds.yaml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The supplied project background reports two-year loans of IHP-owned chips, no resale and shipping only to the EU and Switzerland, referring to the IHP25b programme. The general Tiny Tapeout terms and current static schedule were read, but a current official shuttle-specific loan agreement could not be retrieved from the JavaScript submission app. Therefore this slide deliberately identifies the reported restrictions as requiring confirmation, not as verified 2027 terms. Before procurement, the course lead must read the exact agreement shown for the chosen shuttle and record ownership, permitted transfer, loan duration, geography and return obligations. Do not assume a student can keep the chip forever or that SKY/GF have identical terms.</a:t>
            </a:r>
          </a:p>
          <a:p/>
          <a:p>
            <a:r>
              <a:t>SOURCES (checked 7 October 2026)</a:t>
            </a:r>
          </a:p>
          <a:p>
            <a:r>
              <a:t>https://tinytapeout.com/terms/</a:t>
            </a:r>
          </a:p>
          <a:p>
            <a:r>
              <a:t>https://app.tinytapeout.com/shuttles/ttihp26b</a:t>
            </a:r>
          </a:p>
          <a:p>
            <a:r>
              <a:t>https://tinytapeout.com/chips/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LECTURER NOTES</a:t>
            </a:r>
          </a:p>
          <a:p>
            <a:r>
              <a:t>Captured evidence: P3 actual Actions list, P5 genuine loaded 3D viewer and P7 generated datasheet. A real GDS render and all-four-jobs overview are also retained. Remaining captures are P1 signed-in template menu; P2 Pages source setting; P4 metrics/cell table from run 37693100748; P6 an optional future assertion failure and its correction; P8 the actual tb.fst waveform showing reset, count, hold and terminal-count/wrap. The old 150-by-150 micrometre custom LibreLane layout is retained only as provenance and is not Tiny Tapeout evidence. The README contains exact routes, run/commit identity, dependencies and reproduction instructions. No paid submission was performed.</a:t>
            </a:r>
          </a:p>
          <a:p/>
          <a:p>
            <a:r>
              <a:t>BEGINNER EXAMPLE / REVIEW NOTES</a:t>
            </a:r>
          </a:p>
          <a:p>
            <a:r>
              <a:t>P3, P5 and P7 are captured from genuine public CI/browser artifacts. P4 run overview is captured but its metrics/cell table remains pending. The old 150-by-150 µm custom LibreLane render remains in img/counter-sky130-background.png for provenance only and is not used as Tiny Tapeout evidence. Pending P1 requires signed-in template menu; P2 requires repo settings; P4 is the metrics/cell table; P6 is optional future assertion-failure evidence; P8 is the real FST waveform view. README gives exact routes.</a:t>
            </a:r>
          </a:p>
          <a:p/>
          <a:p>
            <a:r>
              <a:t>SOURCES (checked 7 October 2026)</a:t>
            </a:r>
          </a:p>
          <a:p>
            <a:r>
              <a:t>https://github.com/mdkamrulislam-web/tt-sky130-counter</a:t>
            </a:r>
          </a:p>
          <a:p>
            <a:r>
              <a:t>https://github.com/mdkamrulislam-web/tt-sky130-counter/actions/runs/37693100748</a:t>
            </a:r>
          </a:p>
          <a:p>
            <a:r>
              <a:t>https://github.com/mdkamrulislam-web/tt-sky130-counter/actions/runs/37693100755</a:t>
            </a:r>
          </a:p>
          <a:p>
            <a:r>
              <a:t>https://tinytapeout.com/hdl/templates/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hyperlink" Target="https://github.com/mdkamrulislam-web/tt-sky130-counter/tree/61ef06bed008e76000f9ae46d65182e476d15dd6"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hyperlink" Target="https://mdkamrulislam-web.github.io/tt-sky130-counter/"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tinytapeout.com/hdl/templates/" TargetMode="External"/><Relationship Id="rId4" Type="http://schemas.openxmlformats.org/officeDocument/2006/relationships/hyperlink" Target="https://tinytapeout.com/hdl/important/" TargetMode="External"/><Relationship Id="rId5" Type="http://schemas.openxmlformats.org/officeDocument/2006/relationships/hyperlink" Target="https://tinytapeout.com/hdl/testing/" TargetMode="External"/><Relationship Id="rId6" Type="http://schemas.openxmlformats.org/officeDocument/2006/relationships/hyperlink" Target="https://tinytapeout.com/making_asics/" TargetMode="External"/><Relationship Id="rId7" Type="http://schemas.openxmlformats.org/officeDocument/2006/relationships/hyperlink" Target="https://tinytapeout.com/specs/" TargetMode="External"/><Relationship Id="rId8" Type="http://schemas.openxmlformats.org/officeDocument/2006/relationships/hyperlink" Target="https://tinytapeout.com/chip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TINY TAPEOUT FLOW • STEP BY STEP</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01</a:t>
            </a:r>
          </a:p>
        </p:txBody>
      </p:sp>
      <p:sp>
        <p:nvSpPr>
          <p:cNvPr id="7" name="TextBox 6"/>
          <p:cNvSpPr txBox="1"/>
          <p:nvPr/>
        </p:nvSpPr>
        <p:spPr>
          <a:xfrm>
            <a:off x="566928" y="1033271"/>
            <a:ext cx="6583680" cy="1837943"/>
          </a:xfrm>
          <a:prstGeom prst="rect">
            <a:avLst/>
          </a:prstGeom>
          <a:noFill/>
        </p:spPr>
        <p:txBody>
          <a:bodyPr wrap="square" lIns="13716" rIns="13716" tIns="13716" bIns="13716">
            <a:spAutoFit/>
          </a:bodyPr>
          <a:lstStyle/>
          <a:p>
            <a:pPr algn="l">
              <a:lnSpc>
                <a:spcPct val="96000"/>
              </a:lnSpc>
              <a:spcAft>
                <a:spcPts val="0"/>
              </a:spcAft>
            </a:pPr>
            <a:r>
              <a:rPr sz="5800" b="1">
                <a:solidFill>
                  <a:srgbClr val="152B39"/>
                </a:solidFill>
                <a:latin typeface="Aptos Display"/>
              </a:rPr>
              <a:t>Make your</a:t>
            </a:r>
          </a:p>
          <a:p>
            <a:pPr algn="l">
              <a:lnSpc>
                <a:spcPct val="96000"/>
              </a:lnSpc>
              <a:spcAft>
                <a:spcPts val="0"/>
              </a:spcAft>
            </a:pPr>
            <a:r>
              <a:rPr sz="5800" b="1">
                <a:solidFill>
                  <a:srgbClr val="152B39"/>
                </a:solidFill>
                <a:latin typeface="Aptos Display"/>
              </a:rPr>
              <a:t>own chip.</a:t>
            </a:r>
          </a:p>
        </p:txBody>
      </p:sp>
      <p:sp>
        <p:nvSpPr>
          <p:cNvPr id="8" name="TextBox 7"/>
          <p:cNvSpPr txBox="1"/>
          <p:nvPr/>
        </p:nvSpPr>
        <p:spPr>
          <a:xfrm>
            <a:off x="621792" y="3300984"/>
            <a:ext cx="5852160" cy="1014984"/>
          </a:xfrm>
          <a:prstGeom prst="rect">
            <a:avLst/>
          </a:prstGeom>
          <a:noFill/>
        </p:spPr>
        <p:txBody>
          <a:bodyPr wrap="square" lIns="13716" rIns="13716" tIns="13716" bIns="13716">
            <a:spAutoFit/>
          </a:bodyPr>
          <a:lstStyle/>
          <a:p>
            <a:pPr algn="l">
              <a:lnSpc>
                <a:spcPct val="108000"/>
              </a:lnSpc>
              <a:spcAft>
                <a:spcPts val="0"/>
              </a:spcAft>
            </a:pPr>
            <a:r>
              <a:rPr sz="3000" b="0">
                <a:solidFill>
                  <a:srgbClr val="152B39"/>
                </a:solidFill>
                <a:latin typeface="Aptos"/>
              </a:rPr>
              <a:t>From an 8-bit counter</a:t>
            </a:r>
          </a:p>
          <a:p>
            <a:pPr algn="l">
              <a:lnSpc>
                <a:spcPct val="108000"/>
              </a:lnSpc>
              <a:spcAft>
                <a:spcPts val="0"/>
              </a:spcAft>
            </a:pPr>
            <a:r>
              <a:rPr sz="3000" b="0">
                <a:solidFill>
                  <a:srgbClr val="152B39"/>
                </a:solidFill>
                <a:latin typeface="Aptos"/>
              </a:rPr>
              <a:t>to a real ASIC.</a:t>
            </a:r>
          </a:p>
        </p:txBody>
      </p:sp>
      <p:sp>
        <p:nvSpPr>
          <p:cNvPr id="9" name="TextBox 8"/>
          <p:cNvSpPr txBox="1"/>
          <p:nvPr/>
        </p:nvSpPr>
        <p:spPr>
          <a:xfrm>
            <a:off x="621792" y="4754880"/>
            <a:ext cx="5852160" cy="80467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ASIC = a chip made for a specific job.</a:t>
            </a:r>
          </a:p>
          <a:p>
            <a:pPr algn="l">
              <a:lnSpc>
                <a:spcPct val="108000"/>
              </a:lnSpc>
              <a:spcAft>
                <a:spcPts val="0"/>
              </a:spcAft>
            </a:pPr>
            <a:r>
              <a:rPr sz="2400" b="0">
                <a:solidFill>
                  <a:srgbClr val="152B39"/>
                </a:solidFill>
                <a:latin typeface="Aptos"/>
              </a:rPr>
              <a:t>Our job: count from 0 to 255.</a:t>
            </a:r>
          </a:p>
        </p:txBody>
      </p:sp>
      <p:sp>
        <p:nvSpPr>
          <p:cNvPr id="10" name="Rectangle 9"/>
          <p:cNvSpPr/>
          <p:nvPr/>
        </p:nvSpPr>
        <p:spPr>
          <a:xfrm>
            <a:off x="7360920" y="1517904"/>
            <a:ext cx="4142232" cy="3163824"/>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16368" y="1673351"/>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74202" y="1673351"/>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432036" y="1673351"/>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389870" y="1673351"/>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16368" y="2624328"/>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74202" y="2624328"/>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432036" y="2624328"/>
            <a:ext cx="907542" cy="896112"/>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89870" y="2624328"/>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16368" y="3575304"/>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74202" y="3575304"/>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32036" y="3575304"/>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89870" y="3575304"/>
            <a:ext cx="907542" cy="896112"/>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23760" y="180136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503152" y="180136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60" y="223418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503152" y="223418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23760" y="2667000"/>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503152" y="2667000"/>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23760" y="3099815"/>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503152" y="3099815"/>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23760" y="3532632"/>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503152" y="3532632"/>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23760" y="396544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503152" y="396544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23760" y="439826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503152" y="439826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60920" y="4974336"/>
            <a:ext cx="420624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ONE SHARED CHIP. YOUR OWN TILE.</a:t>
            </a:r>
          </a:p>
        </p:txBody>
      </p:sp>
      <p:sp>
        <p:nvSpPr>
          <p:cNvPr id="38" name="Rectangle 37"/>
          <p:cNvSpPr/>
          <p:nvPr/>
        </p:nvSpPr>
        <p:spPr>
          <a:xfrm>
            <a:off x="7424927" y="5404104"/>
            <a:ext cx="1069848"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70648" y="5550408"/>
            <a:ext cx="978407" cy="667512"/>
          </a:xfrm>
          <a:prstGeom prst="rect">
            <a:avLst/>
          </a:prstGeom>
          <a:noFill/>
        </p:spPr>
        <p:txBody>
          <a:bodyPr wrap="square" lIns="13716" rIns="13716" tIns="13716" bIns="13716">
            <a:spAutoFit/>
          </a:bodyPr>
          <a:lstStyle/>
          <a:p>
            <a:pPr algn="ctr">
              <a:lnSpc>
                <a:spcPct val="108000"/>
              </a:lnSpc>
              <a:spcAft>
                <a:spcPts val="0"/>
              </a:spcAft>
            </a:pPr>
            <a:r>
              <a:rPr sz="3600" b="1">
                <a:solidFill>
                  <a:srgbClr val="F8F4EB"/>
                </a:solidFill>
                <a:latin typeface="Aptos Display"/>
              </a:rPr>
              <a:t>0</a:t>
            </a:r>
          </a:p>
        </p:txBody>
      </p:sp>
      <p:cxnSp>
        <p:nvCxnSpPr>
          <p:cNvPr id="40" name="Connector 39"/>
          <p:cNvCxnSpPr/>
          <p:nvPr/>
        </p:nvCxnSpPr>
        <p:spPr>
          <a:xfrm>
            <a:off x="8522208" y="5833872"/>
            <a:ext cx="265176"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842248" y="5404104"/>
            <a:ext cx="1069848"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87968" y="5550408"/>
            <a:ext cx="978407" cy="667512"/>
          </a:xfrm>
          <a:prstGeom prst="rect">
            <a:avLst/>
          </a:prstGeom>
          <a:noFill/>
        </p:spPr>
        <p:txBody>
          <a:bodyPr wrap="square" lIns="13716" rIns="13716" tIns="13716" bIns="13716">
            <a:spAutoFit/>
          </a:bodyPr>
          <a:lstStyle/>
          <a:p>
            <a:pPr algn="ctr">
              <a:lnSpc>
                <a:spcPct val="108000"/>
              </a:lnSpc>
              <a:spcAft>
                <a:spcPts val="0"/>
              </a:spcAft>
            </a:pPr>
            <a:r>
              <a:rPr sz="3600" b="1">
                <a:solidFill>
                  <a:srgbClr val="F8F4EB"/>
                </a:solidFill>
                <a:latin typeface="Aptos Display"/>
              </a:rPr>
              <a:t>1</a:t>
            </a:r>
          </a:p>
        </p:txBody>
      </p:sp>
      <p:cxnSp>
        <p:nvCxnSpPr>
          <p:cNvPr id="43" name="Connector 42"/>
          <p:cNvCxnSpPr/>
          <p:nvPr/>
        </p:nvCxnSpPr>
        <p:spPr>
          <a:xfrm>
            <a:off x="9939528" y="5833872"/>
            <a:ext cx="265176"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0259567" y="5404104"/>
            <a:ext cx="1069848"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05288" y="5550408"/>
            <a:ext cx="978407" cy="667512"/>
          </a:xfrm>
          <a:prstGeom prst="rect">
            <a:avLst/>
          </a:prstGeom>
          <a:noFill/>
        </p:spPr>
        <p:txBody>
          <a:bodyPr wrap="square" lIns="13716" rIns="13716" tIns="13716" bIns="13716">
            <a:spAutoFit/>
          </a:bodyPr>
          <a:lstStyle/>
          <a:p>
            <a:pPr algn="ctr">
              <a:lnSpc>
                <a:spcPct val="108000"/>
              </a:lnSpc>
              <a:spcAft>
                <a:spcPts val="0"/>
              </a:spcAft>
            </a:pPr>
            <a:r>
              <a:rPr sz="3600" b="1">
                <a:solidFill>
                  <a:srgbClr val="F8F4EB"/>
                </a:solidFill>
                <a:latin typeface="Aptos Display"/>
              </a:rPr>
              <a:t>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WHY A STUDENT CHIP IS AFFORDABLE</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Many designs. One shared chip.</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02</a:t>
            </a:r>
          </a:p>
        </p:txBody>
      </p:sp>
      <p:sp>
        <p:nvSpPr>
          <p:cNvPr id="7" name="Rectangle 6"/>
          <p:cNvSpPr/>
          <p:nvPr/>
        </p:nvSpPr>
        <p:spPr>
          <a:xfrm>
            <a:off x="768096" y="1828800"/>
            <a:ext cx="4681728" cy="301752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23544" y="1984248"/>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6252" y="1984248"/>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8960" y="1984248"/>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1668" y="1984248"/>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23544" y="2886456"/>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6252" y="2886456"/>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108960" y="2886456"/>
            <a:ext cx="1042416" cy="847344"/>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1668" y="2886456"/>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3544" y="3788664"/>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16252" y="3788664"/>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08960" y="3788664"/>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1668" y="3788664"/>
            <a:ext cx="1042416" cy="847344"/>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 y="211226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49824" y="2112264"/>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 y="2520696"/>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49824" y="2520696"/>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 y="292912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9824" y="2929128"/>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 y="3337560"/>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49824" y="3337560"/>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 y="3745992"/>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49824" y="3745992"/>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 y="4154423"/>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49824" y="4154423"/>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0936" y="4562856"/>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49824" y="4562856"/>
            <a:ext cx="137160" cy="6400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5632704" y="3310128"/>
            <a:ext cx="85039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83680" y="2624328"/>
            <a:ext cx="1682496" cy="129844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11696" y="2825496"/>
            <a:ext cx="1426464" cy="914400"/>
          </a:xfrm>
          <a:prstGeom prst="rect">
            <a:avLst/>
          </a:prstGeom>
          <a:noFill/>
        </p:spPr>
        <p:txBody>
          <a:bodyPr wrap="square" lIns="13716" rIns="13716" tIns="13716" bIns="13716">
            <a:spAutoFit/>
          </a:bodyPr>
          <a:lstStyle/>
          <a:p>
            <a:pPr algn="ctr">
              <a:lnSpc>
                <a:spcPct val="108000"/>
              </a:lnSpc>
              <a:spcAft>
                <a:spcPts val="0"/>
              </a:spcAft>
            </a:pPr>
            <a:r>
              <a:rPr sz="2600" b="1">
                <a:solidFill>
                  <a:srgbClr val="F8F4EB"/>
                </a:solidFill>
                <a:latin typeface="Aptos"/>
              </a:rPr>
              <a:t>Select</a:t>
            </a:r>
          </a:p>
          <a:p>
            <a:pPr algn="ctr">
              <a:lnSpc>
                <a:spcPct val="108000"/>
              </a:lnSpc>
              <a:spcAft>
                <a:spcPts val="0"/>
              </a:spcAft>
            </a:pPr>
            <a:r>
              <a:rPr sz="2600" b="1">
                <a:solidFill>
                  <a:srgbClr val="F8F4EB"/>
                </a:solidFill>
                <a:latin typeface="Aptos"/>
              </a:rPr>
              <a:t>one tile</a:t>
            </a:r>
          </a:p>
        </p:txBody>
      </p:sp>
      <p:cxnSp>
        <p:nvCxnSpPr>
          <p:cNvPr id="37" name="Connector 36"/>
          <p:cNvCxnSpPr/>
          <p:nvPr/>
        </p:nvCxnSpPr>
        <p:spPr>
          <a:xfrm>
            <a:off x="8394192" y="3310128"/>
            <a:ext cx="749808"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244584" y="2770632"/>
            <a:ext cx="2258568" cy="129844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Your</a:t>
            </a:r>
          </a:p>
          <a:p>
            <a:pPr algn="l">
              <a:lnSpc>
                <a:spcPct val="108000"/>
              </a:lnSpc>
              <a:spcAft>
                <a:spcPts val="0"/>
              </a:spcAft>
            </a:pPr>
            <a:r>
              <a:rPr sz="3000" b="1">
                <a:solidFill>
                  <a:srgbClr val="152B39"/>
                </a:solidFill>
                <a:latin typeface="Aptos"/>
              </a:rPr>
              <a:t>board pins</a:t>
            </a:r>
          </a:p>
        </p:txBody>
      </p:sp>
      <p:sp>
        <p:nvSpPr>
          <p:cNvPr id="39" name="Rectangle 38"/>
          <p:cNvSpPr/>
          <p:nvPr/>
        </p:nvSpPr>
        <p:spPr>
          <a:xfrm>
            <a:off x="768096" y="5175504"/>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5440680"/>
            <a:ext cx="3328416" cy="612648"/>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Shared fabrication</a:t>
            </a:r>
          </a:p>
        </p:txBody>
      </p:sp>
      <p:sp>
        <p:nvSpPr>
          <p:cNvPr id="41" name="TextBox 40"/>
          <p:cNvSpPr txBox="1"/>
          <p:nvPr/>
        </p:nvSpPr>
        <p:spPr>
          <a:xfrm>
            <a:off x="4443984" y="5440680"/>
            <a:ext cx="3145536" cy="612648"/>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Open design tools</a:t>
            </a:r>
          </a:p>
        </p:txBody>
      </p:sp>
      <p:sp>
        <p:nvSpPr>
          <p:cNvPr id="42" name="TextBox 41"/>
          <p:cNvSpPr txBox="1"/>
          <p:nvPr/>
        </p:nvSpPr>
        <p:spPr>
          <a:xfrm>
            <a:off x="7955279" y="5367528"/>
            <a:ext cx="3456432" cy="850392"/>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Open PDK:</a:t>
            </a:r>
          </a:p>
          <a:p>
            <a:pPr algn="l">
              <a:lnSpc>
                <a:spcPct val="108000"/>
              </a:lnSpc>
              <a:spcAft>
                <a:spcPts val="0"/>
              </a:spcAft>
            </a:pPr>
            <a:r>
              <a:rPr sz="2400" b="1">
                <a:solidFill>
                  <a:srgbClr val="007F83"/>
                </a:solidFill>
                <a:latin typeface="Aptos"/>
              </a:rPr>
              <a:t>process rules + cells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KEEP THIS MAP BESIDE THE LAB</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The path from an idea to silicon</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03</a:t>
            </a:r>
          </a:p>
        </p:txBody>
      </p:sp>
      <p:sp>
        <p:nvSpPr>
          <p:cNvPr id="7" name="Oval 6"/>
          <p:cNvSpPr/>
          <p:nvPr/>
        </p:nvSpPr>
        <p:spPr>
          <a:xfrm>
            <a:off x="749808" y="1993392"/>
            <a:ext cx="457200" cy="457200"/>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057400"/>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1</a:t>
            </a:r>
          </a:p>
        </p:txBody>
      </p:sp>
      <p:sp>
        <p:nvSpPr>
          <p:cNvPr id="9" name="TextBox 8"/>
          <p:cNvSpPr txBox="1"/>
          <p:nvPr/>
        </p:nvSpPr>
        <p:spPr>
          <a:xfrm>
            <a:off x="749808" y="2642616"/>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Idea</a:t>
            </a:r>
          </a:p>
        </p:txBody>
      </p:sp>
      <p:sp>
        <p:nvSpPr>
          <p:cNvPr id="10" name="TextBox 9"/>
          <p:cNvSpPr txBox="1"/>
          <p:nvPr/>
        </p:nvSpPr>
        <p:spPr>
          <a:xfrm>
            <a:off x="749808" y="3182112"/>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Count 0–255</a:t>
            </a:r>
          </a:p>
        </p:txBody>
      </p:sp>
      <p:cxnSp>
        <p:nvCxnSpPr>
          <p:cNvPr id="11" name="Connector 10"/>
          <p:cNvCxnSpPr/>
          <p:nvPr/>
        </p:nvCxnSpPr>
        <p:spPr>
          <a:xfrm>
            <a:off x="1280160" y="2221992"/>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657600" y="1993392"/>
            <a:ext cx="457200" cy="457200"/>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12463" y="2057400"/>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2</a:t>
            </a:r>
          </a:p>
        </p:txBody>
      </p:sp>
      <p:sp>
        <p:nvSpPr>
          <p:cNvPr id="14" name="TextBox 13"/>
          <p:cNvSpPr txBox="1"/>
          <p:nvPr/>
        </p:nvSpPr>
        <p:spPr>
          <a:xfrm>
            <a:off x="3657600" y="2642616"/>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RTL</a:t>
            </a:r>
          </a:p>
        </p:txBody>
      </p:sp>
      <p:sp>
        <p:nvSpPr>
          <p:cNvPr id="15" name="TextBox 14"/>
          <p:cNvSpPr txBox="1"/>
          <p:nvPr/>
        </p:nvSpPr>
        <p:spPr>
          <a:xfrm>
            <a:off x="3657600" y="3182112"/>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Verilog: registers + logic</a:t>
            </a:r>
          </a:p>
        </p:txBody>
      </p:sp>
      <p:cxnSp>
        <p:nvCxnSpPr>
          <p:cNvPr id="16" name="Connector 15"/>
          <p:cNvCxnSpPr/>
          <p:nvPr/>
        </p:nvCxnSpPr>
        <p:spPr>
          <a:xfrm>
            <a:off x="4187952" y="2221992"/>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565392" y="1993392"/>
            <a:ext cx="457200" cy="457200"/>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2057400"/>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3</a:t>
            </a:r>
          </a:p>
        </p:txBody>
      </p:sp>
      <p:sp>
        <p:nvSpPr>
          <p:cNvPr id="19" name="TextBox 18"/>
          <p:cNvSpPr txBox="1"/>
          <p:nvPr/>
        </p:nvSpPr>
        <p:spPr>
          <a:xfrm>
            <a:off x="6565392" y="2642616"/>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Test</a:t>
            </a:r>
          </a:p>
        </p:txBody>
      </p:sp>
      <p:sp>
        <p:nvSpPr>
          <p:cNvPr id="20" name="TextBox 19"/>
          <p:cNvSpPr txBox="1"/>
          <p:nvPr/>
        </p:nvSpPr>
        <p:spPr>
          <a:xfrm>
            <a:off x="6565392" y="3182112"/>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Check its behaviour</a:t>
            </a:r>
          </a:p>
        </p:txBody>
      </p:sp>
      <p:cxnSp>
        <p:nvCxnSpPr>
          <p:cNvPr id="21" name="Connector 20"/>
          <p:cNvCxnSpPr/>
          <p:nvPr/>
        </p:nvCxnSpPr>
        <p:spPr>
          <a:xfrm>
            <a:off x="7095744" y="2221992"/>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473184" y="1993392"/>
            <a:ext cx="457200" cy="457200"/>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8048" y="2057400"/>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4</a:t>
            </a:r>
          </a:p>
        </p:txBody>
      </p:sp>
      <p:sp>
        <p:nvSpPr>
          <p:cNvPr id="24" name="TextBox 23"/>
          <p:cNvSpPr txBox="1"/>
          <p:nvPr/>
        </p:nvSpPr>
        <p:spPr>
          <a:xfrm>
            <a:off x="9473184" y="2642616"/>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Template</a:t>
            </a:r>
          </a:p>
        </p:txBody>
      </p:sp>
      <p:sp>
        <p:nvSpPr>
          <p:cNvPr id="25" name="TextBox 24"/>
          <p:cNvSpPr txBox="1"/>
          <p:nvPr/>
        </p:nvSpPr>
        <p:spPr>
          <a:xfrm>
            <a:off x="9473184" y="3182112"/>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Connect fixed pins</a:t>
            </a:r>
          </a:p>
        </p:txBody>
      </p:sp>
      <p:sp>
        <p:nvSpPr>
          <p:cNvPr id="26" name="Oval 25"/>
          <p:cNvSpPr/>
          <p:nvPr/>
        </p:nvSpPr>
        <p:spPr>
          <a:xfrm>
            <a:off x="749808" y="4087368"/>
            <a:ext cx="457200" cy="45720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1" y="4151376"/>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5</a:t>
            </a:r>
          </a:p>
        </p:txBody>
      </p:sp>
      <p:sp>
        <p:nvSpPr>
          <p:cNvPr id="28" name="TextBox 27"/>
          <p:cNvSpPr txBox="1"/>
          <p:nvPr/>
        </p:nvSpPr>
        <p:spPr>
          <a:xfrm>
            <a:off x="749808" y="4736592"/>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Actions</a:t>
            </a:r>
          </a:p>
        </p:txBody>
      </p:sp>
      <p:sp>
        <p:nvSpPr>
          <p:cNvPr id="29" name="TextBox 28"/>
          <p:cNvSpPr txBox="1"/>
          <p:nvPr/>
        </p:nvSpPr>
        <p:spPr>
          <a:xfrm>
            <a:off x="749808" y="5276088"/>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Tools build + check</a:t>
            </a:r>
          </a:p>
        </p:txBody>
      </p:sp>
      <p:cxnSp>
        <p:nvCxnSpPr>
          <p:cNvPr id="30" name="Connector 29"/>
          <p:cNvCxnSpPr/>
          <p:nvPr/>
        </p:nvCxnSpPr>
        <p:spPr>
          <a:xfrm>
            <a:off x="1280160" y="4315968"/>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657600" y="4087368"/>
            <a:ext cx="457200" cy="45720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12463" y="4151376"/>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6</a:t>
            </a:r>
          </a:p>
        </p:txBody>
      </p:sp>
      <p:sp>
        <p:nvSpPr>
          <p:cNvPr id="33" name="TextBox 32"/>
          <p:cNvSpPr txBox="1"/>
          <p:nvPr/>
        </p:nvSpPr>
        <p:spPr>
          <a:xfrm>
            <a:off x="3657600" y="4736592"/>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GDS</a:t>
            </a:r>
          </a:p>
        </p:txBody>
      </p:sp>
      <p:sp>
        <p:nvSpPr>
          <p:cNvPr id="34" name="TextBox 33"/>
          <p:cNvSpPr txBox="1"/>
          <p:nvPr/>
        </p:nvSpPr>
        <p:spPr>
          <a:xfrm>
            <a:off x="3657600" y="5276088"/>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Layout geometry</a:t>
            </a:r>
          </a:p>
        </p:txBody>
      </p:sp>
      <p:cxnSp>
        <p:nvCxnSpPr>
          <p:cNvPr id="35" name="Connector 34"/>
          <p:cNvCxnSpPr/>
          <p:nvPr/>
        </p:nvCxnSpPr>
        <p:spPr>
          <a:xfrm>
            <a:off x="4187952" y="4315968"/>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6565392" y="4087368"/>
            <a:ext cx="457200" cy="45720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0256" y="4151376"/>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7</a:t>
            </a:r>
          </a:p>
        </p:txBody>
      </p:sp>
      <p:sp>
        <p:nvSpPr>
          <p:cNvPr id="38" name="TextBox 37"/>
          <p:cNvSpPr txBox="1"/>
          <p:nvPr/>
        </p:nvSpPr>
        <p:spPr>
          <a:xfrm>
            <a:off x="6565392" y="4736592"/>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Fab</a:t>
            </a:r>
          </a:p>
        </p:txBody>
      </p:sp>
      <p:sp>
        <p:nvSpPr>
          <p:cNvPr id="39" name="TextBox 38"/>
          <p:cNvSpPr txBox="1"/>
          <p:nvPr/>
        </p:nvSpPr>
        <p:spPr>
          <a:xfrm>
            <a:off x="6565392" y="5276088"/>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Manufacture</a:t>
            </a:r>
          </a:p>
        </p:txBody>
      </p:sp>
      <p:cxnSp>
        <p:nvCxnSpPr>
          <p:cNvPr id="40" name="Connector 39"/>
          <p:cNvCxnSpPr/>
          <p:nvPr/>
        </p:nvCxnSpPr>
        <p:spPr>
          <a:xfrm>
            <a:off x="7095744" y="4315968"/>
            <a:ext cx="224942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9473184" y="4087368"/>
            <a:ext cx="457200" cy="45720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28048" y="4151376"/>
            <a:ext cx="347472" cy="320040"/>
          </a:xfrm>
          <a:prstGeom prst="rect">
            <a:avLst/>
          </a:prstGeom>
          <a:noFill/>
        </p:spPr>
        <p:txBody>
          <a:bodyPr wrap="square" lIns="13716" rIns="13716" tIns="13716" bIns="13716">
            <a:spAutoFit/>
          </a:bodyPr>
          <a:lstStyle/>
          <a:p>
            <a:pPr algn="ctr">
              <a:lnSpc>
                <a:spcPct val="108000"/>
              </a:lnSpc>
              <a:spcAft>
                <a:spcPts val="0"/>
              </a:spcAft>
            </a:pPr>
            <a:r>
              <a:rPr sz="2000" b="1">
                <a:solidFill>
                  <a:srgbClr val="F8F4EB"/>
                </a:solidFill>
                <a:latin typeface="Aptos"/>
              </a:rPr>
              <a:t>8</a:t>
            </a:r>
          </a:p>
        </p:txBody>
      </p:sp>
      <p:sp>
        <p:nvSpPr>
          <p:cNvPr id="43" name="TextBox 42"/>
          <p:cNvSpPr txBox="1"/>
          <p:nvPr/>
        </p:nvSpPr>
        <p:spPr>
          <a:xfrm>
            <a:off x="9473184" y="4736592"/>
            <a:ext cx="2468880" cy="47548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Board</a:t>
            </a:r>
          </a:p>
        </p:txBody>
      </p:sp>
      <p:sp>
        <p:nvSpPr>
          <p:cNvPr id="44" name="TextBox 43"/>
          <p:cNvSpPr txBox="1"/>
          <p:nvPr/>
        </p:nvSpPr>
        <p:spPr>
          <a:xfrm>
            <a:off x="9473184" y="5276088"/>
            <a:ext cx="2487168" cy="66751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Select + test</a:t>
            </a:r>
          </a:p>
        </p:txBody>
      </p:sp>
      <p:sp>
        <p:nvSpPr>
          <p:cNvPr id="45" name="TextBox 44"/>
          <p:cNvSpPr txBox="1"/>
          <p:nvPr/>
        </p:nvSpPr>
        <p:spPr>
          <a:xfrm>
            <a:off x="749808" y="6181344"/>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YOU DESIGN AND VERIFY • ACTIONS BUILD • FABRICATION FOLLOWS AN APPROVED SUBMISSION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THREE FABRICATION ROUTES</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Choose the process with your template</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04</a:t>
            </a:r>
          </a:p>
        </p:txBody>
      </p:sp>
      <p:sp>
        <p:nvSpPr>
          <p:cNvPr id="7" name="TextBox 6"/>
          <p:cNvSpPr txBox="1"/>
          <p:nvPr/>
        </p:nvSpPr>
        <p:spPr>
          <a:xfrm>
            <a:off x="658368" y="1965960"/>
            <a:ext cx="3493008" cy="56692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IHP</a:t>
            </a:r>
          </a:p>
        </p:txBody>
      </p:sp>
      <p:sp>
        <p:nvSpPr>
          <p:cNvPr id="8" name="TextBox 7"/>
          <p:cNvSpPr txBox="1"/>
          <p:nvPr/>
        </p:nvSpPr>
        <p:spPr>
          <a:xfrm>
            <a:off x="658368" y="2734056"/>
            <a:ext cx="2587752" cy="1097280"/>
          </a:xfrm>
          <a:prstGeom prst="rect">
            <a:avLst/>
          </a:prstGeom>
          <a:noFill/>
        </p:spPr>
        <p:txBody>
          <a:bodyPr wrap="square" lIns="13716" rIns="13716" tIns="13716" bIns="13716">
            <a:spAutoFit/>
          </a:bodyPr>
          <a:lstStyle/>
          <a:p>
            <a:pPr algn="l">
              <a:lnSpc>
                <a:spcPct val="108000"/>
              </a:lnSpc>
              <a:spcAft>
                <a:spcPts val="0"/>
              </a:spcAft>
            </a:pPr>
            <a:r>
              <a:rPr sz="8000" b="1">
                <a:solidFill>
                  <a:srgbClr val="007F83"/>
                </a:solidFill>
                <a:latin typeface="Aptos Display"/>
              </a:rPr>
              <a:t>130</a:t>
            </a:r>
          </a:p>
        </p:txBody>
      </p:sp>
      <p:sp>
        <p:nvSpPr>
          <p:cNvPr id="9" name="TextBox 8"/>
          <p:cNvSpPr txBox="1"/>
          <p:nvPr/>
        </p:nvSpPr>
        <p:spPr>
          <a:xfrm>
            <a:off x="3072384" y="3419856"/>
            <a:ext cx="1033271"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007F83"/>
                </a:solidFill>
                <a:latin typeface="Aptos"/>
              </a:rPr>
              <a:t>nm</a:t>
            </a:r>
          </a:p>
        </p:txBody>
      </p:sp>
      <p:sp>
        <p:nvSpPr>
          <p:cNvPr id="10" name="TextBox 9"/>
          <p:cNvSpPr txBox="1"/>
          <p:nvPr/>
        </p:nvSpPr>
        <p:spPr>
          <a:xfrm>
            <a:off x="658368" y="4169663"/>
            <a:ext cx="3447288" cy="950976"/>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SG13G2</a:t>
            </a:r>
          </a:p>
          <a:p>
            <a:pPr algn="l">
              <a:lnSpc>
                <a:spcPct val="108000"/>
              </a:lnSpc>
              <a:spcAft>
                <a:spcPts val="0"/>
              </a:spcAft>
            </a:pPr>
            <a:r>
              <a:rPr sz="2600" b="0">
                <a:solidFill>
                  <a:srgbClr val="152B39"/>
                </a:solidFill>
                <a:latin typeface="Aptos"/>
              </a:rPr>
              <a:t>IHP MPW</a:t>
            </a:r>
          </a:p>
        </p:txBody>
      </p:sp>
      <p:sp>
        <p:nvSpPr>
          <p:cNvPr id="11" name="Rectangle 10"/>
          <p:cNvSpPr/>
          <p:nvPr/>
        </p:nvSpPr>
        <p:spPr>
          <a:xfrm>
            <a:off x="4224528" y="1901952"/>
            <a:ext cx="13716" cy="3337560"/>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1965960"/>
            <a:ext cx="3493008" cy="56692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SkyWater</a:t>
            </a:r>
          </a:p>
        </p:txBody>
      </p:sp>
      <p:sp>
        <p:nvSpPr>
          <p:cNvPr id="13" name="TextBox 12"/>
          <p:cNvSpPr txBox="1"/>
          <p:nvPr/>
        </p:nvSpPr>
        <p:spPr>
          <a:xfrm>
            <a:off x="4480559" y="2734056"/>
            <a:ext cx="2587752" cy="1097280"/>
          </a:xfrm>
          <a:prstGeom prst="rect">
            <a:avLst/>
          </a:prstGeom>
          <a:noFill/>
        </p:spPr>
        <p:txBody>
          <a:bodyPr wrap="square" lIns="13716" rIns="13716" tIns="13716" bIns="13716">
            <a:spAutoFit/>
          </a:bodyPr>
          <a:lstStyle/>
          <a:p>
            <a:pPr algn="l">
              <a:lnSpc>
                <a:spcPct val="108000"/>
              </a:lnSpc>
              <a:spcAft>
                <a:spcPts val="0"/>
              </a:spcAft>
            </a:pPr>
            <a:r>
              <a:rPr sz="8000" b="1">
                <a:solidFill>
                  <a:srgbClr val="007F83"/>
                </a:solidFill>
                <a:latin typeface="Aptos Display"/>
              </a:rPr>
              <a:t>130</a:t>
            </a:r>
          </a:p>
        </p:txBody>
      </p:sp>
      <p:sp>
        <p:nvSpPr>
          <p:cNvPr id="14" name="TextBox 13"/>
          <p:cNvSpPr txBox="1"/>
          <p:nvPr/>
        </p:nvSpPr>
        <p:spPr>
          <a:xfrm>
            <a:off x="6894575" y="3419856"/>
            <a:ext cx="1033271"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007F83"/>
                </a:solidFill>
                <a:latin typeface="Aptos"/>
              </a:rPr>
              <a:t>nm</a:t>
            </a:r>
          </a:p>
        </p:txBody>
      </p:sp>
      <p:sp>
        <p:nvSpPr>
          <p:cNvPr id="15" name="TextBox 14"/>
          <p:cNvSpPr txBox="1"/>
          <p:nvPr/>
        </p:nvSpPr>
        <p:spPr>
          <a:xfrm>
            <a:off x="4480559" y="4169663"/>
            <a:ext cx="3447288" cy="950976"/>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SKY130</a:t>
            </a:r>
          </a:p>
          <a:p>
            <a:pPr algn="l">
              <a:lnSpc>
                <a:spcPct val="108000"/>
              </a:lnSpc>
              <a:spcAft>
                <a:spcPts val="0"/>
              </a:spcAft>
            </a:pPr>
            <a:r>
              <a:rPr sz="2600" b="0">
                <a:solidFill>
                  <a:srgbClr val="152B39"/>
                </a:solidFill>
                <a:latin typeface="Aptos"/>
              </a:rPr>
              <a:t>ChipFoundry</a:t>
            </a:r>
          </a:p>
        </p:txBody>
      </p:sp>
      <p:sp>
        <p:nvSpPr>
          <p:cNvPr id="16" name="Rectangle 15"/>
          <p:cNvSpPr/>
          <p:nvPr/>
        </p:nvSpPr>
        <p:spPr>
          <a:xfrm>
            <a:off x="8046719" y="1901952"/>
            <a:ext cx="13716" cy="3337560"/>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965960"/>
            <a:ext cx="3493008" cy="566928"/>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GlobalFoundries</a:t>
            </a:r>
          </a:p>
        </p:txBody>
      </p:sp>
      <p:sp>
        <p:nvSpPr>
          <p:cNvPr id="18" name="TextBox 17"/>
          <p:cNvSpPr txBox="1"/>
          <p:nvPr/>
        </p:nvSpPr>
        <p:spPr>
          <a:xfrm>
            <a:off x="8302752" y="2734056"/>
            <a:ext cx="2587752" cy="1097280"/>
          </a:xfrm>
          <a:prstGeom prst="rect">
            <a:avLst/>
          </a:prstGeom>
          <a:noFill/>
        </p:spPr>
        <p:txBody>
          <a:bodyPr wrap="square" lIns="13716" rIns="13716" tIns="13716" bIns="13716">
            <a:spAutoFit/>
          </a:bodyPr>
          <a:lstStyle/>
          <a:p>
            <a:pPr algn="l">
              <a:lnSpc>
                <a:spcPct val="108000"/>
              </a:lnSpc>
              <a:spcAft>
                <a:spcPts val="0"/>
              </a:spcAft>
            </a:pPr>
            <a:r>
              <a:rPr sz="8000" b="1">
                <a:solidFill>
                  <a:srgbClr val="007F83"/>
                </a:solidFill>
                <a:latin typeface="Aptos Display"/>
              </a:rPr>
              <a:t>180</a:t>
            </a:r>
          </a:p>
        </p:txBody>
      </p:sp>
      <p:sp>
        <p:nvSpPr>
          <p:cNvPr id="19" name="TextBox 18"/>
          <p:cNvSpPr txBox="1"/>
          <p:nvPr/>
        </p:nvSpPr>
        <p:spPr>
          <a:xfrm>
            <a:off x="10716768" y="3419856"/>
            <a:ext cx="1033271"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007F83"/>
                </a:solidFill>
                <a:latin typeface="Aptos"/>
              </a:rPr>
              <a:t>nm</a:t>
            </a:r>
          </a:p>
        </p:txBody>
      </p:sp>
      <p:sp>
        <p:nvSpPr>
          <p:cNvPr id="20" name="TextBox 19"/>
          <p:cNvSpPr txBox="1"/>
          <p:nvPr/>
        </p:nvSpPr>
        <p:spPr>
          <a:xfrm>
            <a:off x="8302752" y="4169663"/>
            <a:ext cx="3447288" cy="950976"/>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GF180</a:t>
            </a:r>
          </a:p>
          <a:p>
            <a:pPr algn="l">
              <a:lnSpc>
                <a:spcPct val="108000"/>
              </a:lnSpc>
              <a:spcAft>
                <a:spcPts val="0"/>
              </a:spcAft>
            </a:pPr>
            <a:r>
              <a:rPr sz="2600" b="0">
                <a:solidFill>
                  <a:srgbClr val="152B39"/>
                </a:solidFill>
                <a:latin typeface="Aptos"/>
              </a:rPr>
              <a:t>wafer.space</a:t>
            </a:r>
          </a:p>
        </p:txBody>
      </p:sp>
      <p:sp>
        <p:nvSpPr>
          <p:cNvPr id="21" name="Rectangle 20"/>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Allow months for fabrication, assembly and delivery: typically 6–12 months.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THE FIXED TINY TAPEOUT INTERFACE</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Eight bits become eight output pins</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05</a:t>
            </a:r>
          </a:p>
        </p:txBody>
      </p:sp>
      <p:sp>
        <p:nvSpPr>
          <p:cNvPr id="7" name="Rectangle 6"/>
          <p:cNvSpPr/>
          <p:nvPr/>
        </p:nvSpPr>
        <p:spPr>
          <a:xfrm>
            <a:off x="4379976" y="1920240"/>
            <a:ext cx="2843784" cy="1426464"/>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2139696"/>
            <a:ext cx="2395728" cy="941832"/>
          </a:xfrm>
          <a:prstGeom prst="rect">
            <a:avLst/>
          </a:prstGeom>
          <a:noFill/>
        </p:spPr>
        <p:txBody>
          <a:bodyPr wrap="square" lIns="13716" rIns="13716" tIns="13716" bIns="13716">
            <a:spAutoFit/>
          </a:bodyPr>
          <a:lstStyle/>
          <a:p>
            <a:pPr algn="ctr">
              <a:lnSpc>
                <a:spcPct val="108000"/>
              </a:lnSpc>
              <a:spcAft>
                <a:spcPts val="0"/>
              </a:spcAft>
            </a:pPr>
            <a:r>
              <a:rPr sz="3200" b="1">
                <a:solidFill>
                  <a:srgbClr val="F8F4EB"/>
                </a:solidFill>
                <a:latin typeface="Aptos"/>
              </a:rPr>
              <a:t>8-bit</a:t>
            </a:r>
          </a:p>
          <a:p>
            <a:pPr algn="ctr">
              <a:lnSpc>
                <a:spcPct val="108000"/>
              </a:lnSpc>
              <a:spcAft>
                <a:spcPts val="0"/>
              </a:spcAft>
            </a:pPr>
            <a:r>
              <a:rPr sz="3200" b="1">
                <a:solidFill>
                  <a:srgbClr val="F8F4EB"/>
                </a:solidFill>
                <a:latin typeface="Aptos"/>
              </a:rPr>
              <a:t>counter</a:t>
            </a:r>
          </a:p>
        </p:txBody>
      </p:sp>
      <p:sp>
        <p:nvSpPr>
          <p:cNvPr id="9" name="TextBox 8"/>
          <p:cNvSpPr txBox="1"/>
          <p:nvPr/>
        </p:nvSpPr>
        <p:spPr>
          <a:xfrm>
            <a:off x="704088" y="2020824"/>
            <a:ext cx="3072384" cy="105156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ui_in[0] → enable</a:t>
            </a:r>
          </a:p>
          <a:p>
            <a:pPr algn="l">
              <a:lnSpc>
                <a:spcPct val="108000"/>
              </a:lnSpc>
              <a:spcAft>
                <a:spcPts val="0"/>
              </a:spcAft>
            </a:pPr>
            <a:r>
              <a:rPr sz="2400" b="0">
                <a:solidFill>
                  <a:srgbClr val="152B39"/>
                </a:solidFill>
                <a:latin typeface="Aptos"/>
              </a:rPr>
              <a:t>clk → clock</a:t>
            </a:r>
          </a:p>
          <a:p>
            <a:pPr algn="l">
              <a:lnSpc>
                <a:spcPct val="108000"/>
              </a:lnSpc>
              <a:spcAft>
                <a:spcPts val="0"/>
              </a:spcAft>
            </a:pPr>
            <a:r>
              <a:rPr sz="2400" b="0">
                <a:solidFill>
                  <a:srgbClr val="152B39"/>
                </a:solidFill>
                <a:latin typeface="Aptos"/>
              </a:rPr>
              <a:t>rst_n = 0 → reset</a:t>
            </a:r>
          </a:p>
        </p:txBody>
      </p:sp>
      <p:cxnSp>
        <p:nvCxnSpPr>
          <p:cNvPr id="10" name="Connector 9"/>
          <p:cNvCxnSpPr/>
          <p:nvPr/>
        </p:nvCxnSpPr>
        <p:spPr>
          <a:xfrm>
            <a:off x="3703320" y="2624328"/>
            <a:ext cx="548640"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333488" y="2624328"/>
            <a:ext cx="539495"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10144" y="2002536"/>
            <a:ext cx="3584448" cy="114300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uo_out[7:0] → count</a:t>
            </a:r>
          </a:p>
          <a:p>
            <a:pPr algn="l">
              <a:lnSpc>
                <a:spcPct val="108000"/>
              </a:lnSpc>
              <a:spcAft>
                <a:spcPts val="0"/>
              </a:spcAft>
            </a:pPr>
            <a:r>
              <a:rPr sz="2400" b="0">
                <a:solidFill>
                  <a:srgbClr val="152B39"/>
                </a:solidFill>
                <a:latin typeface="Aptos"/>
              </a:rPr>
              <a:t>uio[0] → wrap</a:t>
            </a:r>
          </a:p>
          <a:p>
            <a:pPr algn="l">
              <a:lnSpc>
                <a:spcPct val="108000"/>
              </a:lnSpc>
              <a:spcAft>
                <a:spcPts val="0"/>
              </a:spcAft>
            </a:pPr>
            <a:r>
              <a:rPr sz="2400" b="0">
                <a:solidFill>
                  <a:srgbClr val="152B39"/>
                </a:solidFill>
                <a:latin typeface="Aptos"/>
              </a:rPr>
              <a:t>uio_oe[0] = 1</a:t>
            </a:r>
          </a:p>
        </p:txBody>
      </p:sp>
      <p:sp>
        <p:nvSpPr>
          <p:cNvPr id="13" name="TextBox 12"/>
          <p:cNvSpPr txBox="1"/>
          <p:nvPr/>
        </p:nvSpPr>
        <p:spPr>
          <a:xfrm>
            <a:off x="722376" y="3749039"/>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EXAMPLE: COUNT = 5 → BINARY 00000101</a:t>
            </a:r>
          </a:p>
        </p:txBody>
      </p:sp>
      <p:sp>
        <p:nvSpPr>
          <p:cNvPr id="14" name="TextBox 13"/>
          <p:cNvSpPr txBox="1"/>
          <p:nvPr/>
        </p:nvSpPr>
        <p:spPr>
          <a:xfrm>
            <a:off x="786384"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uo[7]</a:t>
            </a:r>
          </a:p>
        </p:txBody>
      </p:sp>
      <p:sp>
        <p:nvSpPr>
          <p:cNvPr id="15" name="Rectangle 14"/>
          <p:cNvSpPr/>
          <p:nvPr/>
        </p:nvSpPr>
        <p:spPr>
          <a:xfrm>
            <a:off x="786384"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17" name="TextBox 16"/>
          <p:cNvSpPr txBox="1"/>
          <p:nvPr/>
        </p:nvSpPr>
        <p:spPr>
          <a:xfrm>
            <a:off x="2167128"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uo[6]</a:t>
            </a:r>
          </a:p>
        </p:txBody>
      </p:sp>
      <p:sp>
        <p:nvSpPr>
          <p:cNvPr id="18" name="Rectangle 17"/>
          <p:cNvSpPr/>
          <p:nvPr/>
        </p:nvSpPr>
        <p:spPr>
          <a:xfrm>
            <a:off x="2167128"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7128"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20" name="TextBox 19"/>
          <p:cNvSpPr txBox="1"/>
          <p:nvPr/>
        </p:nvSpPr>
        <p:spPr>
          <a:xfrm>
            <a:off x="3547872"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uo[5]</a:t>
            </a:r>
          </a:p>
        </p:txBody>
      </p:sp>
      <p:sp>
        <p:nvSpPr>
          <p:cNvPr id="21" name="Rectangle 20"/>
          <p:cNvSpPr/>
          <p:nvPr/>
        </p:nvSpPr>
        <p:spPr>
          <a:xfrm>
            <a:off x="3547872"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47872"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23" name="TextBox 22"/>
          <p:cNvSpPr txBox="1"/>
          <p:nvPr/>
        </p:nvSpPr>
        <p:spPr>
          <a:xfrm>
            <a:off x="4928616"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uo[4]</a:t>
            </a:r>
          </a:p>
        </p:txBody>
      </p:sp>
      <p:sp>
        <p:nvSpPr>
          <p:cNvPr id="24" name="Rectangle 23"/>
          <p:cNvSpPr/>
          <p:nvPr/>
        </p:nvSpPr>
        <p:spPr>
          <a:xfrm>
            <a:off x="4928616"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28616"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26" name="TextBox 25"/>
          <p:cNvSpPr txBox="1"/>
          <p:nvPr/>
        </p:nvSpPr>
        <p:spPr>
          <a:xfrm>
            <a:off x="6309360"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uo[3]</a:t>
            </a:r>
          </a:p>
        </p:txBody>
      </p:sp>
      <p:sp>
        <p:nvSpPr>
          <p:cNvPr id="27" name="Rectangle 26"/>
          <p:cNvSpPr/>
          <p:nvPr/>
        </p:nvSpPr>
        <p:spPr>
          <a:xfrm>
            <a:off x="6309360"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29" name="TextBox 28"/>
          <p:cNvSpPr txBox="1"/>
          <p:nvPr/>
        </p:nvSpPr>
        <p:spPr>
          <a:xfrm>
            <a:off x="7690104"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uo[2]</a:t>
            </a:r>
          </a:p>
        </p:txBody>
      </p:sp>
      <p:sp>
        <p:nvSpPr>
          <p:cNvPr id="30" name="Rectangle 29"/>
          <p:cNvSpPr/>
          <p:nvPr/>
        </p:nvSpPr>
        <p:spPr>
          <a:xfrm>
            <a:off x="7690104" y="4590288"/>
            <a:ext cx="1005840" cy="612648"/>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90104"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F8F4EB"/>
                </a:solidFill>
                <a:latin typeface="Aptos"/>
              </a:rPr>
              <a:t>1</a:t>
            </a:r>
          </a:p>
        </p:txBody>
      </p:sp>
      <p:sp>
        <p:nvSpPr>
          <p:cNvPr id="32" name="TextBox 31"/>
          <p:cNvSpPr txBox="1"/>
          <p:nvPr/>
        </p:nvSpPr>
        <p:spPr>
          <a:xfrm>
            <a:off x="9070848"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uo[1]</a:t>
            </a:r>
          </a:p>
        </p:txBody>
      </p:sp>
      <p:sp>
        <p:nvSpPr>
          <p:cNvPr id="33" name="Rectangle 32"/>
          <p:cNvSpPr/>
          <p:nvPr/>
        </p:nvSpPr>
        <p:spPr>
          <a:xfrm>
            <a:off x="9070848" y="4590288"/>
            <a:ext cx="1005840" cy="612648"/>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70848"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152B39"/>
                </a:solidFill>
                <a:latin typeface="Aptos"/>
              </a:rPr>
              <a:t>0</a:t>
            </a:r>
          </a:p>
        </p:txBody>
      </p:sp>
      <p:sp>
        <p:nvSpPr>
          <p:cNvPr id="35" name="TextBox 34"/>
          <p:cNvSpPr txBox="1"/>
          <p:nvPr/>
        </p:nvSpPr>
        <p:spPr>
          <a:xfrm>
            <a:off x="10451592" y="4133087"/>
            <a:ext cx="1005840" cy="320040"/>
          </a:xfrm>
          <a:prstGeom prst="rect">
            <a:avLst/>
          </a:prstGeom>
          <a:noFill/>
        </p:spPr>
        <p:txBody>
          <a:bodyPr wrap="square" lIns="13716" rIns="13716" tIns="13716" bIns="13716">
            <a:spAutoFit/>
          </a:bodyPr>
          <a:lstStyle/>
          <a:p>
            <a:pPr algn="ctr">
              <a:lnSpc>
                <a:spcPct val="108000"/>
              </a:lnSpc>
              <a:spcAft>
                <a:spcPts val="0"/>
              </a:spcAft>
            </a:pPr>
            <a:r>
              <a:rPr sz="2000" b="0">
                <a:solidFill>
                  <a:srgbClr val="536974"/>
                </a:solidFill>
                <a:latin typeface="Aptos"/>
              </a:rPr>
              <a:t>uo[0]</a:t>
            </a:r>
          </a:p>
        </p:txBody>
      </p:sp>
      <p:sp>
        <p:nvSpPr>
          <p:cNvPr id="36" name="Rectangle 35"/>
          <p:cNvSpPr/>
          <p:nvPr/>
        </p:nvSpPr>
        <p:spPr>
          <a:xfrm>
            <a:off x="10451592" y="4590288"/>
            <a:ext cx="1005840" cy="612648"/>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51592" y="4681728"/>
            <a:ext cx="1005840" cy="411480"/>
          </a:xfrm>
          <a:prstGeom prst="rect">
            <a:avLst/>
          </a:prstGeom>
          <a:noFill/>
        </p:spPr>
        <p:txBody>
          <a:bodyPr wrap="square" lIns="13716" rIns="13716" tIns="13716" bIns="13716">
            <a:spAutoFit/>
          </a:bodyPr>
          <a:lstStyle/>
          <a:p>
            <a:pPr algn="ctr">
              <a:lnSpc>
                <a:spcPct val="108000"/>
              </a:lnSpc>
              <a:spcAft>
                <a:spcPts val="0"/>
              </a:spcAft>
            </a:pPr>
            <a:r>
              <a:rPr sz="2800" b="1">
                <a:solidFill>
                  <a:srgbClr val="F8F4EB"/>
                </a:solidFill>
                <a:latin typeface="Aptos"/>
              </a:rPr>
              <a:t>1</a:t>
            </a:r>
          </a:p>
        </p:txBody>
      </p:sp>
      <p:sp>
        <p:nvSpPr>
          <p:cNvPr id="38" name="Rectangle 37"/>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1x1: SKY / IHP ≈ 167 × 108 µm • GF180 ≈ 340 × 160 µm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MEASURED TINY TAPEOUT RESULT</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Our counter: 4.96% reported core utilisation</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06</a:t>
            </a:r>
          </a:p>
        </p:txBody>
      </p:sp>
      <p:sp>
        <p:nvSpPr>
          <p:cNvPr id="7" name="TextBox 6"/>
          <p:cNvSpPr txBox="1"/>
          <p:nvPr/>
        </p:nvSpPr>
        <p:spPr>
          <a:xfrm>
            <a:off x="713232" y="1847088"/>
            <a:ext cx="5669280" cy="1280160"/>
          </a:xfrm>
          <a:prstGeom prst="rect">
            <a:avLst/>
          </a:prstGeom>
          <a:noFill/>
        </p:spPr>
        <p:txBody>
          <a:bodyPr wrap="square" lIns="13716" rIns="13716" tIns="13716" bIns="13716">
            <a:spAutoFit/>
          </a:bodyPr>
          <a:lstStyle/>
          <a:p>
            <a:pPr algn="l">
              <a:lnSpc>
                <a:spcPct val="108000"/>
              </a:lnSpc>
              <a:spcAft>
                <a:spcPts val="0"/>
              </a:spcAft>
            </a:pPr>
            <a:r>
              <a:rPr sz="8800" b="1">
                <a:solidFill>
                  <a:srgbClr val="F05B3E"/>
                </a:solidFill>
                <a:latin typeface="Aptos Display"/>
              </a:rPr>
              <a:t>4.96%</a:t>
            </a:r>
          </a:p>
        </p:txBody>
      </p:sp>
      <p:sp>
        <p:nvSpPr>
          <p:cNvPr id="8" name="TextBox 7"/>
          <p:cNvSpPr txBox="1"/>
          <p:nvPr/>
        </p:nvSpPr>
        <p:spPr>
          <a:xfrm>
            <a:off x="758952" y="3300984"/>
            <a:ext cx="5065776" cy="768096"/>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Utilisation = occupied cell area</a:t>
            </a:r>
          </a:p>
          <a:p>
            <a:pPr algn="l">
              <a:lnSpc>
                <a:spcPct val="108000"/>
              </a:lnSpc>
              <a:spcAft>
                <a:spcPts val="0"/>
              </a:spcAft>
            </a:pPr>
            <a:r>
              <a:rPr sz="2400" b="0">
                <a:solidFill>
                  <a:srgbClr val="152B39"/>
                </a:solidFill>
                <a:latin typeface="Aptos"/>
              </a:rPr>
              <a:t>as a fraction of available core area.</a:t>
            </a:r>
          </a:p>
        </p:txBody>
      </p:sp>
      <p:sp>
        <p:nvSpPr>
          <p:cNvPr id="9" name="TextBox 8"/>
          <p:cNvSpPr txBox="1"/>
          <p:nvPr/>
        </p:nvSpPr>
        <p:spPr>
          <a:xfrm>
            <a:off x="758952" y="4361688"/>
            <a:ext cx="2139696" cy="420624"/>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47</a:t>
            </a:r>
          </a:p>
        </p:txBody>
      </p:sp>
      <p:sp>
        <p:nvSpPr>
          <p:cNvPr id="10" name="TextBox 9"/>
          <p:cNvSpPr txBox="1"/>
          <p:nvPr/>
        </p:nvSpPr>
        <p:spPr>
          <a:xfrm>
            <a:off x="2999232" y="4361688"/>
            <a:ext cx="3364992"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cells after synthesis</a:t>
            </a:r>
          </a:p>
        </p:txBody>
      </p:sp>
      <p:sp>
        <p:nvSpPr>
          <p:cNvPr id="11" name="TextBox 10"/>
          <p:cNvSpPr txBox="1"/>
          <p:nvPr/>
        </p:nvSpPr>
        <p:spPr>
          <a:xfrm>
            <a:off x="758952" y="4928616"/>
            <a:ext cx="2139696" cy="420624"/>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50 MHz</a:t>
            </a:r>
          </a:p>
        </p:txBody>
      </p:sp>
      <p:sp>
        <p:nvSpPr>
          <p:cNvPr id="12" name="TextBox 11"/>
          <p:cNvSpPr txBox="1"/>
          <p:nvPr/>
        </p:nvSpPr>
        <p:spPr>
          <a:xfrm>
            <a:off x="2999232" y="4928616"/>
            <a:ext cx="3364992"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clock target</a:t>
            </a:r>
          </a:p>
        </p:txBody>
      </p:sp>
      <p:sp>
        <p:nvSpPr>
          <p:cNvPr id="13" name="TextBox 12"/>
          <p:cNvSpPr txBox="1"/>
          <p:nvPr/>
        </p:nvSpPr>
        <p:spPr>
          <a:xfrm>
            <a:off x="758952" y="5495544"/>
            <a:ext cx="2139696" cy="420624"/>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+8.643 ns</a:t>
            </a:r>
          </a:p>
        </p:txBody>
      </p:sp>
      <p:sp>
        <p:nvSpPr>
          <p:cNvPr id="14" name="TextBox 13"/>
          <p:cNvSpPr txBox="1"/>
          <p:nvPr/>
        </p:nvSpPr>
        <p:spPr>
          <a:xfrm>
            <a:off x="2999232" y="5495544"/>
            <a:ext cx="3364992" cy="420624"/>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worst setup slack</a:t>
            </a:r>
          </a:p>
        </p:txBody>
      </p:sp>
      <p:sp>
        <p:nvSpPr>
          <p:cNvPr id="15" name="Rectangle 14"/>
          <p:cNvSpPr/>
          <p:nvPr/>
        </p:nvSpPr>
        <p:spPr>
          <a:xfrm>
            <a:off x="7479792" y="1956816"/>
            <a:ext cx="320040" cy="3200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63840" y="1956816"/>
            <a:ext cx="320040" cy="3200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47888" y="1956816"/>
            <a:ext cx="320040" cy="3200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31936" y="1956816"/>
            <a:ext cx="320040" cy="3200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956816"/>
            <a:ext cx="320040" cy="3200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00032" y="195681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84080" y="195681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168128" y="195681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552176" y="195681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36224" y="195681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79792"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63840"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47888"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631936"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15984"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00032"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784080"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68128"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552176"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936224" y="234086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79792"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63840"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47888"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631936"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15984"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00032"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784080"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8128"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552176"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936224" y="272491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79792"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863840"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47888"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631936"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15984"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400032"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784080"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168128"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552176"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936224" y="310896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479792"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863840"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247888"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631936"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015984"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400032"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784080"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68128"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552176"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936224" y="349300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479792"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863840"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247888"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631936"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015984"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400032"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784080"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168128"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552176"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936224" y="3877056"/>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479792"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863840"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247888"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631936"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015984"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400032"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784080"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168128"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552176"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936224" y="4261104"/>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479792"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7863840"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247888"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8631936"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015984"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400032"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784080"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168128"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0552176"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936224" y="4645152"/>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479792"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863840"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8247888"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8631936"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015984"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400032"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784080"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168128"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0552176"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0936224" y="5029200"/>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479792"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863840"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247888"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631936"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015984"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400032"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784080"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168128"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552176"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936224" y="5413248"/>
            <a:ext cx="320040" cy="32004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443216" y="5879592"/>
            <a:ext cx="3941063" cy="329184"/>
          </a:xfrm>
          <a:prstGeom prst="rect">
            <a:avLst/>
          </a:prstGeom>
          <a:noFill/>
        </p:spPr>
        <p:txBody>
          <a:bodyPr wrap="square" lIns="13716" rIns="13716" tIns="13716" bIns="13716">
            <a:spAutoFit/>
          </a:bodyPr>
          <a:lstStyle/>
          <a:p>
            <a:pPr algn="l">
              <a:lnSpc>
                <a:spcPct val="108000"/>
              </a:lnSpc>
              <a:spcAft>
                <a:spcPts val="0"/>
              </a:spcAft>
            </a:pPr>
            <a:r>
              <a:rPr sz="2000" b="1">
                <a:solidFill>
                  <a:srgbClr val="007F83"/>
                </a:solidFill>
                <a:latin typeface="Aptos"/>
              </a:rPr>
              <a:t>SKY130 • 1x1 • commit 61ef06b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TWO WAYS INTO THE SAME FLOW</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Draw gates, or write their behaviour</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07</a:t>
            </a:r>
          </a:p>
        </p:txBody>
      </p:sp>
      <p:sp>
        <p:nvSpPr>
          <p:cNvPr id="7" name="Rectangle 6"/>
          <p:cNvSpPr/>
          <p:nvPr/>
        </p:nvSpPr>
        <p:spPr>
          <a:xfrm>
            <a:off x="5989320" y="1865376"/>
            <a:ext cx="13716" cy="4215384"/>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947672"/>
            <a:ext cx="475488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WOKWI • GATES IN A BROWSER</a:t>
            </a:r>
          </a:p>
        </p:txBody>
      </p:sp>
      <p:sp>
        <p:nvSpPr>
          <p:cNvPr id="9" name="TextBox 8"/>
          <p:cNvSpPr txBox="1"/>
          <p:nvPr/>
        </p:nvSpPr>
        <p:spPr>
          <a:xfrm>
            <a:off x="749808" y="2478024"/>
            <a:ext cx="4663440" cy="740664"/>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A picture of the circuit</a:t>
            </a:r>
          </a:p>
        </p:txBody>
      </p:sp>
      <p:sp>
        <p:nvSpPr>
          <p:cNvPr id="10" name="TextBox 9"/>
          <p:cNvSpPr txBox="1"/>
          <p:nvPr/>
        </p:nvSpPr>
        <p:spPr>
          <a:xfrm>
            <a:off x="777240" y="3776472"/>
            <a:ext cx="1161288" cy="1161288"/>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A = 1</a:t>
            </a:r>
          </a:p>
          <a:p>
            <a:pPr algn="l">
              <a:lnSpc>
                <a:spcPct val="108000"/>
              </a:lnSpc>
              <a:spcAft>
                <a:spcPts val="0"/>
              </a:spcAft>
            </a:pPr>
            <a:r>
              <a:rPr sz="2800" b="0">
                <a:solidFill>
                  <a:srgbClr val="152B39"/>
                </a:solidFill>
                <a:latin typeface="Aptos"/>
              </a:rPr>
              <a:t>B = 0</a:t>
            </a:r>
          </a:p>
        </p:txBody>
      </p:sp>
      <p:sp>
        <p:nvSpPr>
          <p:cNvPr id="11" name="Rectangle 10"/>
          <p:cNvSpPr/>
          <p:nvPr/>
        </p:nvSpPr>
        <p:spPr>
          <a:xfrm>
            <a:off x="2276856" y="3776472"/>
            <a:ext cx="1673352" cy="1014984"/>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13432" y="4023360"/>
            <a:ext cx="1600200" cy="502920"/>
          </a:xfrm>
          <a:prstGeom prst="rect">
            <a:avLst/>
          </a:prstGeom>
          <a:noFill/>
        </p:spPr>
        <p:txBody>
          <a:bodyPr wrap="square" lIns="13716" rIns="13716" tIns="13716" bIns="13716">
            <a:spAutoFit/>
          </a:bodyPr>
          <a:lstStyle/>
          <a:p>
            <a:pPr algn="ctr">
              <a:lnSpc>
                <a:spcPct val="108000"/>
              </a:lnSpc>
              <a:spcAft>
                <a:spcPts val="0"/>
              </a:spcAft>
            </a:pPr>
            <a:r>
              <a:rPr sz="3000" b="1">
                <a:solidFill>
                  <a:srgbClr val="F8F4EB"/>
                </a:solidFill>
                <a:latin typeface="Aptos"/>
              </a:rPr>
              <a:t>AND</a:t>
            </a:r>
          </a:p>
        </p:txBody>
      </p:sp>
      <p:cxnSp>
        <p:nvCxnSpPr>
          <p:cNvPr id="13" name="Connector 12"/>
          <p:cNvCxnSpPr/>
          <p:nvPr/>
        </p:nvCxnSpPr>
        <p:spPr>
          <a:xfrm>
            <a:off x="1892807" y="4279392"/>
            <a:ext cx="320041"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050791" y="4279392"/>
            <a:ext cx="420625"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0" y="4041648"/>
            <a:ext cx="914400" cy="621792"/>
          </a:xfrm>
          <a:prstGeom prst="rect">
            <a:avLst/>
          </a:prstGeom>
          <a:noFill/>
        </p:spPr>
        <p:txBody>
          <a:bodyPr wrap="square" lIns="13716" rIns="13716" tIns="13716" bIns="13716">
            <a:spAutoFit/>
          </a:bodyPr>
          <a:lstStyle/>
          <a:p>
            <a:pPr algn="l">
              <a:lnSpc>
                <a:spcPct val="108000"/>
              </a:lnSpc>
              <a:spcAft>
                <a:spcPts val="0"/>
              </a:spcAft>
            </a:pPr>
            <a:r>
              <a:rPr sz="4000" b="1">
                <a:solidFill>
                  <a:srgbClr val="F05B3E"/>
                </a:solidFill>
                <a:latin typeface="Aptos"/>
              </a:rPr>
              <a:t>0</a:t>
            </a:r>
          </a:p>
        </p:txBody>
      </p:sp>
      <p:sp>
        <p:nvSpPr>
          <p:cNvPr id="16" name="TextBox 15"/>
          <p:cNvSpPr txBox="1"/>
          <p:nvPr/>
        </p:nvSpPr>
        <p:spPr>
          <a:xfrm>
            <a:off x="6446520" y="1947672"/>
            <a:ext cx="470916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VERILOG • THIS LESSON</a:t>
            </a:r>
          </a:p>
        </p:txBody>
      </p:sp>
      <p:sp>
        <p:nvSpPr>
          <p:cNvPr id="17" name="TextBox 16"/>
          <p:cNvSpPr txBox="1"/>
          <p:nvPr/>
        </p:nvSpPr>
        <p:spPr>
          <a:xfrm>
            <a:off x="6437376" y="2478024"/>
            <a:ext cx="4864608" cy="740664"/>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A description of the circuit</a:t>
            </a:r>
          </a:p>
        </p:txBody>
      </p:sp>
      <p:sp>
        <p:nvSpPr>
          <p:cNvPr id="18" name="Rectangle 17"/>
          <p:cNvSpPr/>
          <p:nvPr/>
        </p:nvSpPr>
        <p:spPr>
          <a:xfrm>
            <a:off x="6455664" y="3767328"/>
            <a:ext cx="5047488" cy="1060704"/>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55664" y="3767328"/>
            <a:ext cx="73152" cy="1060704"/>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84264" y="3968496"/>
            <a:ext cx="4590288" cy="676656"/>
          </a:xfrm>
          <a:prstGeom prst="rect">
            <a:avLst/>
          </a:prstGeom>
          <a:noFill/>
        </p:spPr>
        <p:txBody>
          <a:bodyPr wrap="square" lIns="13716" rIns="13716" tIns="13716" bIns="13716">
            <a:spAutoFit/>
          </a:bodyPr>
          <a:lstStyle/>
          <a:p>
            <a:pPr algn="l">
              <a:lnSpc>
                <a:spcPct val="115000"/>
              </a:lnSpc>
              <a:spcAft>
                <a:spcPts val="0"/>
              </a:spcAft>
            </a:pPr>
            <a:r>
              <a:rPr sz="2400" b="0">
                <a:solidFill>
                  <a:srgbClr val="F8F4EB"/>
                </a:solidFill>
                <a:latin typeface="Consolas"/>
              </a:rPr>
              <a:t>assign y = a &amp; b;</a:t>
            </a:r>
          </a:p>
        </p:txBody>
      </p:sp>
      <p:sp>
        <p:nvSpPr>
          <p:cNvPr id="21" name="TextBox 20"/>
          <p:cNvSpPr txBox="1"/>
          <p:nvPr/>
        </p:nvSpPr>
        <p:spPr>
          <a:xfrm>
            <a:off x="6455664" y="5312664"/>
            <a:ext cx="4946904" cy="61264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An IHP Chisel template also exists.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START WITH THE CORRECT FAB</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01</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Copy the template for your class shuttle</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08</a:t>
            </a:r>
          </a:p>
        </p:txBody>
      </p:sp>
      <p:sp>
        <p:nvSpPr>
          <p:cNvPr id="8" name="TextBox 7"/>
          <p:cNvSpPr txBox="1"/>
          <p:nvPr/>
        </p:nvSpPr>
        <p:spPr>
          <a:xfrm>
            <a:off x="758952" y="1947672"/>
            <a:ext cx="1527048" cy="502920"/>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SKY130</a:t>
            </a:r>
          </a:p>
        </p:txBody>
      </p:sp>
      <p:sp>
        <p:nvSpPr>
          <p:cNvPr id="9" name="TextBox 8"/>
          <p:cNvSpPr txBox="1"/>
          <p:nvPr/>
        </p:nvSpPr>
        <p:spPr>
          <a:xfrm>
            <a:off x="2551176" y="1947672"/>
            <a:ext cx="5166360" cy="50292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ttsky-verilog-template</a:t>
            </a:r>
          </a:p>
        </p:txBody>
      </p:sp>
      <p:sp>
        <p:nvSpPr>
          <p:cNvPr id="10" name="TextBox 9"/>
          <p:cNvSpPr txBox="1"/>
          <p:nvPr/>
        </p:nvSpPr>
        <p:spPr>
          <a:xfrm>
            <a:off x="8001000" y="1947672"/>
            <a:ext cx="3557016" cy="502920"/>
          </a:xfrm>
          <a:prstGeom prst="rect">
            <a:avLst/>
          </a:prstGeom>
          <a:noFill/>
        </p:spPr>
        <p:txBody>
          <a:bodyPr wrap="square" lIns="13716" rIns="13716" tIns="13716" bIns="13716">
            <a:spAutoFit/>
          </a:bodyPr>
          <a:lstStyle/>
          <a:p>
            <a:pPr algn="l">
              <a:lnSpc>
                <a:spcPct val="108000"/>
              </a:lnSpc>
              <a:spcAft>
                <a:spcPts val="0"/>
              </a:spcAft>
            </a:pPr>
            <a:r>
              <a:rPr sz="2400" b="0">
                <a:solidFill>
                  <a:srgbClr val="536974"/>
                </a:solidFill>
                <a:latin typeface="Aptos"/>
              </a:rPr>
              <a:t>ttsky26d</a:t>
            </a:r>
          </a:p>
        </p:txBody>
      </p:sp>
      <p:sp>
        <p:nvSpPr>
          <p:cNvPr id="11" name="Rectangle 10"/>
          <p:cNvSpPr/>
          <p:nvPr/>
        </p:nvSpPr>
        <p:spPr>
          <a:xfrm>
            <a:off x="758952" y="2569464"/>
            <a:ext cx="106710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724912"/>
            <a:ext cx="1527048" cy="502920"/>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IHP</a:t>
            </a:r>
          </a:p>
        </p:txBody>
      </p:sp>
      <p:sp>
        <p:nvSpPr>
          <p:cNvPr id="13" name="TextBox 12"/>
          <p:cNvSpPr txBox="1"/>
          <p:nvPr/>
        </p:nvSpPr>
        <p:spPr>
          <a:xfrm>
            <a:off x="2551176" y="2724912"/>
            <a:ext cx="5166360" cy="50292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ttihp-verilog-template</a:t>
            </a:r>
          </a:p>
        </p:txBody>
      </p:sp>
      <p:sp>
        <p:nvSpPr>
          <p:cNvPr id="14" name="TextBox 13"/>
          <p:cNvSpPr txBox="1"/>
          <p:nvPr/>
        </p:nvSpPr>
        <p:spPr>
          <a:xfrm>
            <a:off x="8001000" y="2724912"/>
            <a:ext cx="3557016" cy="502920"/>
          </a:xfrm>
          <a:prstGeom prst="rect">
            <a:avLst/>
          </a:prstGeom>
          <a:noFill/>
        </p:spPr>
        <p:txBody>
          <a:bodyPr wrap="square" lIns="13716" rIns="13716" tIns="13716" bIns="13716">
            <a:spAutoFit/>
          </a:bodyPr>
          <a:lstStyle/>
          <a:p>
            <a:pPr algn="l">
              <a:lnSpc>
                <a:spcPct val="108000"/>
              </a:lnSpc>
              <a:spcAft>
                <a:spcPts val="0"/>
              </a:spcAft>
            </a:pPr>
            <a:r>
              <a:rPr sz="2400" b="0">
                <a:solidFill>
                  <a:srgbClr val="536974"/>
                </a:solidFill>
                <a:latin typeface="Aptos"/>
              </a:rPr>
              <a:t>ttihp26b • closed</a:t>
            </a:r>
          </a:p>
        </p:txBody>
      </p:sp>
      <p:sp>
        <p:nvSpPr>
          <p:cNvPr id="15" name="Rectangle 14"/>
          <p:cNvSpPr/>
          <p:nvPr/>
        </p:nvSpPr>
        <p:spPr>
          <a:xfrm>
            <a:off x="758952" y="3346704"/>
            <a:ext cx="106710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3502152"/>
            <a:ext cx="1527048" cy="502920"/>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GF180</a:t>
            </a:r>
          </a:p>
        </p:txBody>
      </p:sp>
      <p:sp>
        <p:nvSpPr>
          <p:cNvPr id="17" name="TextBox 16"/>
          <p:cNvSpPr txBox="1"/>
          <p:nvPr/>
        </p:nvSpPr>
        <p:spPr>
          <a:xfrm>
            <a:off x="2551176" y="3502152"/>
            <a:ext cx="5166360" cy="50292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ttgf-verilog-template</a:t>
            </a:r>
          </a:p>
        </p:txBody>
      </p:sp>
      <p:sp>
        <p:nvSpPr>
          <p:cNvPr id="18" name="TextBox 17"/>
          <p:cNvSpPr txBox="1"/>
          <p:nvPr/>
        </p:nvSpPr>
        <p:spPr>
          <a:xfrm>
            <a:off x="8001000" y="3502152"/>
            <a:ext cx="3557016" cy="502920"/>
          </a:xfrm>
          <a:prstGeom prst="rect">
            <a:avLst/>
          </a:prstGeom>
          <a:noFill/>
        </p:spPr>
        <p:txBody>
          <a:bodyPr wrap="square" lIns="13716" rIns="13716" tIns="13716" bIns="13716">
            <a:spAutoFit/>
          </a:bodyPr>
          <a:lstStyle/>
          <a:p>
            <a:pPr algn="l">
              <a:lnSpc>
                <a:spcPct val="108000"/>
              </a:lnSpc>
              <a:spcAft>
                <a:spcPts val="0"/>
              </a:spcAft>
            </a:pPr>
            <a:r>
              <a:rPr sz="2400" b="0">
                <a:solidFill>
                  <a:srgbClr val="536974"/>
                </a:solidFill>
                <a:latin typeface="Aptos"/>
              </a:rPr>
              <a:t>ttgf26c</a:t>
            </a:r>
          </a:p>
        </p:txBody>
      </p:sp>
      <p:sp>
        <p:nvSpPr>
          <p:cNvPr id="19" name="Rectangle 18"/>
          <p:cNvSpPr/>
          <p:nvPr/>
        </p:nvSpPr>
        <p:spPr>
          <a:xfrm>
            <a:off x="758952" y="4123944"/>
            <a:ext cx="106710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9808" y="4489704"/>
            <a:ext cx="5148072" cy="1636776"/>
          </a:xfrm>
          <a:prstGeom prst="rect">
            <a:avLst/>
          </a:prstGeom>
          <a:solidFill>
            <a:srgbClr val="F8F4EB"/>
          </a:solidFill>
          <a:ln w="15240">
            <a:solidFill>
              <a:srgbClr val="00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626864"/>
            <a:ext cx="4855464" cy="310896"/>
          </a:xfrm>
          <a:prstGeom prst="rect">
            <a:avLst/>
          </a:prstGeom>
          <a:noFill/>
        </p:spPr>
        <p:txBody>
          <a:bodyPr wrap="square" lIns="13716" rIns="13716" tIns="13716" bIns="13716">
            <a:spAutoFit/>
          </a:bodyPr>
          <a:lstStyle/>
          <a:p>
            <a:pPr algn="l">
              <a:lnSpc>
                <a:spcPct val="108000"/>
              </a:lnSpc>
              <a:spcAft>
                <a:spcPts val="0"/>
              </a:spcAft>
            </a:pPr>
            <a:r>
              <a:rPr sz="2000" b="1">
                <a:solidFill>
                  <a:srgbClr val="007F83"/>
                </a:solidFill>
                <a:latin typeface="Aptos"/>
              </a:rPr>
              <a:t>P1 • CAPTURE PENDING</a:t>
            </a:r>
          </a:p>
        </p:txBody>
      </p:sp>
      <p:sp>
        <p:nvSpPr>
          <p:cNvPr id="22" name="TextBox 21"/>
          <p:cNvSpPr txBox="1"/>
          <p:nvPr/>
        </p:nvSpPr>
        <p:spPr>
          <a:xfrm>
            <a:off x="896112" y="5093208"/>
            <a:ext cx="4855464" cy="448056"/>
          </a:xfrm>
          <a:prstGeom prst="rect">
            <a:avLst/>
          </a:prstGeom>
          <a:noFill/>
        </p:spPr>
        <p:txBody>
          <a:bodyPr wrap="square" lIns="13716" rIns="13716" tIns="13716" bIns="13716">
            <a:spAutoFit/>
          </a:bodyPr>
          <a:lstStyle/>
          <a:p>
            <a:pPr algn="l">
              <a:lnSpc>
                <a:spcPct val="108000"/>
              </a:lnSpc>
              <a:spcAft>
                <a:spcPts val="0"/>
              </a:spcAft>
            </a:pPr>
            <a:r>
              <a:rPr sz="2600" b="1">
                <a:solidFill>
                  <a:srgbClr val="152B39"/>
                </a:solidFill>
                <a:latin typeface="Aptos"/>
              </a:rPr>
              <a:t>Use this template</a:t>
            </a:r>
          </a:p>
        </p:txBody>
      </p:sp>
      <p:sp>
        <p:nvSpPr>
          <p:cNvPr id="23" name="TextBox 22"/>
          <p:cNvSpPr txBox="1"/>
          <p:nvPr/>
        </p:nvSpPr>
        <p:spPr>
          <a:xfrm>
            <a:off x="896112" y="5632704"/>
            <a:ext cx="4855464" cy="356616"/>
          </a:xfrm>
          <a:prstGeom prst="rect">
            <a:avLst/>
          </a:prstGeom>
          <a:noFill/>
        </p:spPr>
        <p:txBody>
          <a:bodyPr wrap="square" lIns="13716" rIns="13716" tIns="13716" bIns="13716">
            <a:spAutoFit/>
          </a:bodyPr>
          <a:lstStyle/>
          <a:p>
            <a:pPr algn="l">
              <a:lnSpc>
                <a:spcPct val="108000"/>
              </a:lnSpc>
              <a:spcAft>
                <a:spcPts val="0"/>
              </a:spcAft>
            </a:pPr>
            <a:r>
              <a:rPr sz="2000" b="0">
                <a:solidFill>
                  <a:srgbClr val="536974"/>
                </a:solidFill>
                <a:latin typeface="Aptos"/>
              </a:rPr>
              <a:t>Signed-in template menu capture.</a:t>
            </a:r>
          </a:p>
        </p:txBody>
      </p:sp>
      <p:sp>
        <p:nvSpPr>
          <p:cNvPr id="24" name="Rectangle 23"/>
          <p:cNvSpPr/>
          <p:nvPr/>
        </p:nvSpPr>
        <p:spPr>
          <a:xfrm>
            <a:off x="6236208" y="4489704"/>
            <a:ext cx="5148072" cy="1636776"/>
          </a:xfrm>
          <a:prstGeom prst="rect">
            <a:avLst/>
          </a:prstGeom>
          <a:solidFill>
            <a:srgbClr val="F8F4EB"/>
          </a:solidFill>
          <a:ln w="15240">
            <a:solidFill>
              <a:srgbClr val="007F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82512" y="4626864"/>
            <a:ext cx="4855464" cy="310896"/>
          </a:xfrm>
          <a:prstGeom prst="rect">
            <a:avLst/>
          </a:prstGeom>
          <a:noFill/>
        </p:spPr>
        <p:txBody>
          <a:bodyPr wrap="square" lIns="13716" rIns="13716" tIns="13716" bIns="13716">
            <a:spAutoFit/>
          </a:bodyPr>
          <a:lstStyle/>
          <a:p>
            <a:pPr algn="l">
              <a:lnSpc>
                <a:spcPct val="108000"/>
              </a:lnSpc>
              <a:spcAft>
                <a:spcPts val="0"/>
              </a:spcAft>
            </a:pPr>
            <a:r>
              <a:rPr sz="2000" b="1">
                <a:solidFill>
                  <a:srgbClr val="007F83"/>
                </a:solidFill>
                <a:latin typeface="Aptos"/>
              </a:rPr>
              <a:t>P2 • CAPTURE PENDING</a:t>
            </a:r>
          </a:p>
        </p:txBody>
      </p:sp>
      <p:sp>
        <p:nvSpPr>
          <p:cNvPr id="26" name="TextBox 25"/>
          <p:cNvSpPr txBox="1"/>
          <p:nvPr/>
        </p:nvSpPr>
        <p:spPr>
          <a:xfrm>
            <a:off x="6382512" y="5093208"/>
            <a:ext cx="4855464" cy="448056"/>
          </a:xfrm>
          <a:prstGeom prst="rect">
            <a:avLst/>
          </a:prstGeom>
          <a:noFill/>
        </p:spPr>
        <p:txBody>
          <a:bodyPr wrap="square" lIns="13716" rIns="13716" tIns="13716" bIns="13716">
            <a:spAutoFit/>
          </a:bodyPr>
          <a:lstStyle/>
          <a:p>
            <a:pPr algn="l">
              <a:lnSpc>
                <a:spcPct val="108000"/>
              </a:lnSpc>
              <a:spcAft>
                <a:spcPts val="0"/>
              </a:spcAft>
            </a:pPr>
            <a:r>
              <a:rPr sz="2600" b="1">
                <a:solidFill>
                  <a:srgbClr val="152B39"/>
                </a:solidFill>
                <a:latin typeface="Aptos"/>
              </a:rPr>
              <a:t>Pages → GitHub Actions</a:t>
            </a:r>
          </a:p>
        </p:txBody>
      </p:sp>
      <p:sp>
        <p:nvSpPr>
          <p:cNvPr id="27" name="TextBox 26"/>
          <p:cNvSpPr txBox="1"/>
          <p:nvPr/>
        </p:nvSpPr>
        <p:spPr>
          <a:xfrm>
            <a:off x="6382512" y="5632704"/>
            <a:ext cx="4855464" cy="356616"/>
          </a:xfrm>
          <a:prstGeom prst="rect">
            <a:avLst/>
          </a:prstGeom>
          <a:noFill/>
        </p:spPr>
        <p:txBody>
          <a:bodyPr wrap="square" lIns="13716" rIns="13716" tIns="13716" bIns="13716">
            <a:spAutoFit/>
          </a:bodyPr>
          <a:lstStyle/>
          <a:p>
            <a:pPr algn="l">
              <a:lnSpc>
                <a:spcPct val="108000"/>
              </a:lnSpc>
              <a:spcAft>
                <a:spcPts val="0"/>
              </a:spcAft>
            </a:pPr>
            <a:r>
              <a:rPr sz="2000" b="0">
                <a:solidFill>
                  <a:srgbClr val="536974"/>
                </a:solidFill>
                <a:latin typeface="Aptos"/>
              </a:rPr>
              <a:t>Capture the repo Pages setting.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YOUR PROJECT IS A SMALL SET OF FILES</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02</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Know which file you are changing</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09</a:t>
            </a:r>
          </a:p>
        </p:txBody>
      </p:sp>
      <p:sp>
        <p:nvSpPr>
          <p:cNvPr id="8" name="Rectangle 7"/>
          <p:cNvSpPr/>
          <p:nvPr/>
        </p:nvSpPr>
        <p:spPr>
          <a:xfrm>
            <a:off x="749808" y="1947672"/>
            <a:ext cx="4818888" cy="4169663"/>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947672"/>
            <a:ext cx="73152" cy="4169663"/>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7" y="2148840"/>
            <a:ext cx="4361688" cy="3785615"/>
          </a:xfrm>
          <a:prstGeom prst="rect">
            <a:avLst/>
          </a:prstGeom>
          <a:noFill/>
        </p:spPr>
        <p:txBody>
          <a:bodyPr wrap="square" lIns="13716" rIns="13716" tIns="13716" bIns="13716">
            <a:spAutoFit/>
          </a:bodyPr>
          <a:lstStyle/>
          <a:p>
            <a:pPr algn="l">
              <a:lnSpc>
                <a:spcPct val="115000"/>
              </a:lnSpc>
              <a:spcAft>
                <a:spcPts val="0"/>
              </a:spcAft>
            </a:pPr>
            <a:r>
              <a:rPr sz="2400" b="0">
                <a:solidFill>
                  <a:srgbClr val="F8F4EB"/>
                </a:solidFill>
                <a:latin typeface="Consolas"/>
              </a:rPr>
              <a:t>src/</a:t>
            </a:r>
          </a:p>
          <a:p>
            <a:pPr algn="l">
              <a:lnSpc>
                <a:spcPct val="115000"/>
              </a:lnSpc>
              <a:spcAft>
                <a:spcPts val="0"/>
              </a:spcAft>
            </a:pPr>
            <a:r>
              <a:rPr sz="2400" b="0">
                <a:solidFill>
                  <a:srgbClr val="F8F4EB"/>
                </a:solidFill>
                <a:latin typeface="Consolas"/>
              </a:rPr>
              <a:t>  project.v</a:t>
            </a:r>
          </a:p>
          <a:p>
            <a:pPr algn="l">
              <a:lnSpc>
                <a:spcPct val="115000"/>
              </a:lnSpc>
              <a:spcAft>
                <a:spcPts val="0"/>
              </a:spcAft>
            </a:pPr>
            <a:r>
              <a:rPr sz="2400" b="0">
                <a:solidFill>
                  <a:srgbClr val="F8F4EB"/>
                </a:solidFill>
                <a:latin typeface="Consolas"/>
              </a:rPr>
              <a:t>  counter.v</a:t>
            </a:r>
          </a:p>
          <a:p>
            <a:pPr algn="l">
              <a:lnSpc>
                <a:spcPct val="115000"/>
              </a:lnSpc>
              <a:spcAft>
                <a:spcPts val="0"/>
              </a:spcAft>
            </a:pPr>
            <a:r>
              <a:rPr sz="2400" b="0">
                <a:solidFill>
                  <a:srgbClr val="F8F4EB"/>
                </a:solidFill>
                <a:latin typeface="Consolas"/>
              </a:rPr>
              <a:t>info.yaml</a:t>
            </a:r>
          </a:p>
          <a:p>
            <a:pPr algn="l">
              <a:lnSpc>
                <a:spcPct val="115000"/>
              </a:lnSpc>
              <a:spcAft>
                <a:spcPts val="0"/>
              </a:spcAft>
            </a:pPr>
            <a:r>
              <a:rPr sz="2400" b="0">
                <a:solidFill>
                  <a:srgbClr val="F8F4EB"/>
                </a:solidFill>
                <a:latin typeface="Consolas"/>
              </a:rPr>
              <a:t>test/</a:t>
            </a:r>
          </a:p>
          <a:p>
            <a:pPr algn="l">
              <a:lnSpc>
                <a:spcPct val="115000"/>
              </a:lnSpc>
              <a:spcAft>
                <a:spcPts val="0"/>
              </a:spcAft>
            </a:pPr>
            <a:r>
              <a:rPr sz="2400" b="0">
                <a:solidFill>
                  <a:srgbClr val="F8F4EB"/>
                </a:solidFill>
                <a:latin typeface="Consolas"/>
              </a:rPr>
              <a:t>  test.py</a:t>
            </a:r>
          </a:p>
          <a:p>
            <a:pPr algn="l">
              <a:lnSpc>
                <a:spcPct val="115000"/>
              </a:lnSpc>
              <a:spcAft>
                <a:spcPts val="0"/>
              </a:spcAft>
            </a:pPr>
            <a:r>
              <a:rPr sz="2400" b="0">
                <a:solidFill>
                  <a:srgbClr val="F8F4EB"/>
                </a:solidFill>
                <a:latin typeface="Consolas"/>
              </a:rPr>
              <a:t>  tb.v</a:t>
            </a:r>
          </a:p>
          <a:p>
            <a:pPr algn="l">
              <a:lnSpc>
                <a:spcPct val="115000"/>
              </a:lnSpc>
              <a:spcAft>
                <a:spcPts val="0"/>
              </a:spcAft>
            </a:pPr>
            <a:r>
              <a:rPr sz="2400" b="0">
                <a:solidFill>
                  <a:srgbClr val="F8F4EB"/>
                </a:solidFill>
                <a:latin typeface="Consolas"/>
              </a:rPr>
              <a:t>  Makefile</a:t>
            </a:r>
          </a:p>
          <a:p>
            <a:pPr algn="l">
              <a:lnSpc>
                <a:spcPct val="115000"/>
              </a:lnSpc>
              <a:spcAft>
                <a:spcPts val="0"/>
              </a:spcAft>
            </a:pPr>
            <a:r>
              <a:rPr sz="2400" b="0">
                <a:solidFill>
                  <a:srgbClr val="F8F4EB"/>
                </a:solidFill>
                <a:latin typeface="Consolas"/>
              </a:rPr>
              <a:t>docs/info.md</a:t>
            </a:r>
          </a:p>
        </p:txBody>
      </p:sp>
      <p:sp>
        <p:nvSpPr>
          <p:cNvPr id="11" name="TextBox 10"/>
          <p:cNvSpPr txBox="1"/>
          <p:nvPr/>
        </p:nvSpPr>
        <p:spPr>
          <a:xfrm>
            <a:off x="6080760" y="2039112"/>
            <a:ext cx="5212080" cy="47548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Circuit</a:t>
            </a:r>
          </a:p>
        </p:txBody>
      </p:sp>
      <p:sp>
        <p:nvSpPr>
          <p:cNvPr id="12" name="TextBox 11"/>
          <p:cNvSpPr txBox="1"/>
          <p:nvPr/>
        </p:nvSpPr>
        <p:spPr>
          <a:xfrm>
            <a:off x="6080760" y="2542032"/>
            <a:ext cx="5230368" cy="70408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src/: wrapper + counter RTL</a:t>
            </a:r>
          </a:p>
        </p:txBody>
      </p:sp>
      <p:sp>
        <p:nvSpPr>
          <p:cNvPr id="13" name="TextBox 12"/>
          <p:cNvSpPr txBox="1"/>
          <p:nvPr/>
        </p:nvSpPr>
        <p:spPr>
          <a:xfrm>
            <a:off x="6080760" y="3008376"/>
            <a:ext cx="5212080" cy="47548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Build description</a:t>
            </a:r>
          </a:p>
        </p:txBody>
      </p:sp>
      <p:sp>
        <p:nvSpPr>
          <p:cNvPr id="14" name="TextBox 13"/>
          <p:cNvSpPr txBox="1"/>
          <p:nvPr/>
        </p:nvSpPr>
        <p:spPr>
          <a:xfrm>
            <a:off x="6080760" y="3511296"/>
            <a:ext cx="5230368" cy="70408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info.yaml: name, sources, clock, tiles</a:t>
            </a:r>
          </a:p>
        </p:txBody>
      </p:sp>
      <p:sp>
        <p:nvSpPr>
          <p:cNvPr id="15" name="TextBox 14"/>
          <p:cNvSpPr txBox="1"/>
          <p:nvPr/>
        </p:nvSpPr>
        <p:spPr>
          <a:xfrm>
            <a:off x="6080760" y="3977639"/>
            <a:ext cx="5212080" cy="47548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Tests</a:t>
            </a:r>
          </a:p>
        </p:txBody>
      </p:sp>
      <p:sp>
        <p:nvSpPr>
          <p:cNvPr id="16" name="TextBox 15"/>
          <p:cNvSpPr txBox="1"/>
          <p:nvPr/>
        </p:nvSpPr>
        <p:spPr>
          <a:xfrm>
            <a:off x="6080760" y="4480559"/>
            <a:ext cx="5230368" cy="70408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test/: stimulus, checks and instance</a:t>
            </a:r>
          </a:p>
        </p:txBody>
      </p:sp>
      <p:sp>
        <p:nvSpPr>
          <p:cNvPr id="17" name="TextBox 16"/>
          <p:cNvSpPr txBox="1"/>
          <p:nvPr/>
        </p:nvSpPr>
        <p:spPr>
          <a:xfrm>
            <a:off x="6080760" y="4946904"/>
            <a:ext cx="5212080" cy="47548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Datasheet</a:t>
            </a:r>
          </a:p>
        </p:txBody>
      </p:sp>
      <p:sp>
        <p:nvSpPr>
          <p:cNvPr id="18" name="TextBox 17"/>
          <p:cNvSpPr txBox="1"/>
          <p:nvPr/>
        </p:nvSpPr>
        <p:spPr>
          <a:xfrm>
            <a:off x="6080760" y="5449824"/>
            <a:ext cx="5230368" cy="70408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docs/info.md: behaviour +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KEEP EVERY TEMPLATE PORT UNCHANGED</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03</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Connect the counter to the shared pins</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10</a:t>
            </a:r>
          </a:p>
        </p:txBody>
      </p:sp>
      <p:sp>
        <p:nvSpPr>
          <p:cNvPr id="8" name="TextBox 7"/>
          <p:cNvSpPr txBox="1"/>
          <p:nvPr/>
        </p:nvSpPr>
        <p:spPr>
          <a:xfrm>
            <a:off x="749808" y="1993392"/>
            <a:ext cx="3712463" cy="658368"/>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The port contract</a:t>
            </a:r>
          </a:p>
        </p:txBody>
      </p:sp>
      <p:sp>
        <p:nvSpPr>
          <p:cNvPr id="9" name="TextBox 8"/>
          <p:cNvSpPr txBox="1"/>
          <p:nvPr/>
        </p:nvSpPr>
        <p:spPr>
          <a:xfrm>
            <a:off x="749808" y="2798064"/>
            <a:ext cx="3685032" cy="2331720"/>
          </a:xfrm>
          <a:prstGeom prst="rect">
            <a:avLst/>
          </a:prstGeom>
          <a:noFill/>
        </p:spPr>
        <p:txBody>
          <a:bodyPr wrap="square" lIns="13716" rIns="13716" tIns="13716" bIns="13716">
            <a:spAutoFit/>
          </a:bodyPr>
          <a:lstStyle/>
          <a:p>
            <a:pPr algn="l">
              <a:lnSpc>
                <a:spcPct val="140000"/>
              </a:lnSpc>
              <a:spcAft>
                <a:spcPts val="0"/>
              </a:spcAft>
            </a:pPr>
            <a:r>
              <a:rPr sz="2400" b="0">
                <a:solidFill>
                  <a:srgbClr val="152B39"/>
                </a:solidFill>
                <a:latin typeface="Aptos"/>
              </a:rPr>
              <a:t>8 inputs: ui_in</a:t>
            </a:r>
          </a:p>
          <a:p>
            <a:pPr algn="l">
              <a:lnSpc>
                <a:spcPct val="140000"/>
              </a:lnSpc>
              <a:spcAft>
                <a:spcPts val="0"/>
              </a:spcAft>
            </a:pPr>
            <a:r>
              <a:rPr sz="2400" b="0">
                <a:solidFill>
                  <a:srgbClr val="152B39"/>
                </a:solidFill>
                <a:latin typeface="Aptos"/>
              </a:rPr>
              <a:t>8 outputs: uo_out</a:t>
            </a:r>
          </a:p>
          <a:p>
            <a:pPr algn="l">
              <a:lnSpc>
                <a:spcPct val="140000"/>
              </a:lnSpc>
              <a:spcAft>
                <a:spcPts val="0"/>
              </a:spcAft>
            </a:pPr>
            <a:r>
              <a:rPr sz="2400" b="0">
                <a:solidFill>
                  <a:srgbClr val="152B39"/>
                </a:solidFill>
                <a:latin typeface="Aptos"/>
              </a:rPr>
              <a:t>8 bidirectional: uio_*</a:t>
            </a:r>
          </a:p>
          <a:p>
            <a:pPr algn="l">
              <a:lnSpc>
                <a:spcPct val="140000"/>
              </a:lnSpc>
              <a:spcAft>
                <a:spcPts val="0"/>
              </a:spcAft>
            </a:pPr>
            <a:r>
              <a:rPr sz="2400" b="0">
                <a:solidFill>
                  <a:srgbClr val="152B39"/>
                </a:solidFill>
                <a:latin typeface="Aptos"/>
              </a:rPr>
              <a:t>Control: ena, clk, rst_n</a:t>
            </a:r>
          </a:p>
        </p:txBody>
      </p:sp>
      <p:sp>
        <p:nvSpPr>
          <p:cNvPr id="10" name="TextBox 9"/>
          <p:cNvSpPr txBox="1"/>
          <p:nvPr/>
        </p:nvSpPr>
        <p:spPr>
          <a:xfrm>
            <a:off x="749808" y="5239512"/>
            <a:ext cx="3703320" cy="795528"/>
          </a:xfrm>
          <a:prstGeom prst="rect">
            <a:avLst/>
          </a:prstGeom>
          <a:noFill/>
        </p:spPr>
        <p:txBody>
          <a:bodyPr wrap="square" lIns="13716" rIns="13716" tIns="13716" bIns="13716">
            <a:spAutoFit/>
          </a:bodyPr>
          <a:lstStyle/>
          <a:p>
            <a:pPr algn="l">
              <a:lnSpc>
                <a:spcPct val="108000"/>
              </a:lnSpc>
              <a:spcAft>
                <a:spcPts val="0"/>
              </a:spcAft>
            </a:pPr>
            <a:r>
              <a:rPr sz="2400" b="1">
                <a:solidFill>
                  <a:srgbClr val="152B39"/>
                </a:solidFill>
                <a:latin typeface="Aptos"/>
              </a:rPr>
              <a:t>uio_oe: 0 = input</a:t>
            </a:r>
          </a:p>
          <a:p>
            <a:pPr algn="l">
              <a:lnSpc>
                <a:spcPct val="108000"/>
              </a:lnSpc>
              <a:spcAft>
                <a:spcPts val="0"/>
              </a:spcAft>
            </a:pPr>
            <a:r>
              <a:rPr sz="2400" b="1">
                <a:solidFill>
                  <a:srgbClr val="152B39"/>
                </a:solidFill>
                <a:latin typeface="Aptos"/>
              </a:rPr>
              <a:t>uio_oe: 1 = output</a:t>
            </a:r>
          </a:p>
        </p:txBody>
      </p:sp>
      <p:sp>
        <p:nvSpPr>
          <p:cNvPr id="11" name="Rectangle 10"/>
          <p:cNvSpPr/>
          <p:nvPr/>
        </p:nvSpPr>
        <p:spPr>
          <a:xfrm>
            <a:off x="4800600" y="1938528"/>
            <a:ext cx="6620256" cy="338328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00600" y="1938528"/>
            <a:ext cx="73152" cy="338328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2139696"/>
            <a:ext cx="6163056" cy="2999232"/>
          </a:xfrm>
          <a:prstGeom prst="rect">
            <a:avLst/>
          </a:prstGeom>
          <a:noFill/>
        </p:spPr>
        <p:txBody>
          <a:bodyPr wrap="square" lIns="13716" rIns="13716" tIns="13716" bIns="13716">
            <a:spAutoFit/>
          </a:bodyPr>
          <a:lstStyle/>
          <a:p>
            <a:pPr algn="l">
              <a:lnSpc>
                <a:spcPct val="115000"/>
              </a:lnSpc>
              <a:spcAft>
                <a:spcPts val="0"/>
              </a:spcAft>
            </a:pPr>
            <a:r>
              <a:rPr sz="2000" b="0">
                <a:solidFill>
                  <a:srgbClr val="F8F4EB"/>
                </a:solidFill>
                <a:latin typeface="Consolas"/>
              </a:rPr>
              <a:t>counter #(.WIDTH(8)) counter_inst (</a:t>
            </a:r>
          </a:p>
          <a:p>
            <a:pPr algn="l">
              <a:lnSpc>
                <a:spcPct val="115000"/>
              </a:lnSpc>
              <a:spcAft>
                <a:spcPts val="0"/>
              </a:spcAft>
            </a:pPr>
            <a:r>
              <a:rPr sz="2000" b="0">
                <a:solidFill>
                  <a:srgbClr val="F8F4EB"/>
                </a:solidFill>
                <a:latin typeface="Consolas"/>
              </a:rPr>
              <a:t>  .clk(clk), .rst(~rst_n),</a:t>
            </a:r>
          </a:p>
          <a:p>
            <a:pPr algn="l">
              <a:lnSpc>
                <a:spcPct val="115000"/>
              </a:lnSpc>
              <a:spcAft>
                <a:spcPts val="0"/>
              </a:spcAft>
            </a:pPr>
            <a:r>
              <a:rPr sz="2000" b="0">
                <a:solidFill>
                  <a:srgbClr val="F8F4EB"/>
                </a:solidFill>
                <a:latin typeface="Consolas"/>
              </a:rPr>
              <a:t>  .en(ui_in[0]),</a:t>
            </a:r>
          </a:p>
          <a:p>
            <a:pPr algn="l">
              <a:lnSpc>
                <a:spcPct val="115000"/>
              </a:lnSpc>
              <a:spcAft>
                <a:spcPts val="0"/>
              </a:spcAft>
            </a:pPr>
            <a:r>
              <a:rPr sz="2000" b="0">
                <a:solidFill>
                  <a:srgbClr val="F8F4EB"/>
                </a:solidFill>
                <a:latin typeface="Consolas"/>
              </a:rPr>
              <a:t>  .count(uo_out),</a:t>
            </a:r>
          </a:p>
          <a:p>
            <a:pPr algn="l">
              <a:lnSpc>
                <a:spcPct val="115000"/>
              </a:lnSpc>
              <a:spcAft>
                <a:spcPts val="0"/>
              </a:spcAft>
            </a:pPr>
            <a:r>
              <a:rPr sz="2000" b="0">
                <a:solidFill>
                  <a:srgbClr val="F8F4EB"/>
                </a:solidFill>
                <a:latin typeface="Consolas"/>
              </a:rPr>
              <a:t>  .wrap(uio_out[0])</a:t>
            </a:r>
          </a:p>
          <a:p>
            <a:pPr algn="l">
              <a:lnSpc>
                <a:spcPct val="115000"/>
              </a:lnSpc>
              <a:spcAft>
                <a:spcPts val="0"/>
              </a:spcAft>
            </a:pPr>
            <a:r>
              <a:rPr sz="2000" b="0">
                <a:solidFill>
                  <a:srgbClr val="F8F4EB"/>
                </a:solidFill>
                <a:latin typeface="Consolas"/>
              </a:rPr>
              <a:t>);</a:t>
            </a:r>
          </a:p>
          <a:p>
            <a:pPr algn="l">
              <a:lnSpc>
                <a:spcPct val="115000"/>
              </a:lnSpc>
              <a:spcAft>
                <a:spcPts val="0"/>
              </a:spcAft>
            </a:pPr>
            <a:r>
              <a:rPr sz="2000" b="0">
                <a:solidFill>
                  <a:srgbClr val="F8F4EB"/>
                </a:solidFill>
                <a:latin typeface="Consolas"/>
              </a:rPr>
              <a:t>assign uio_out[7:1] = 7'b0;</a:t>
            </a:r>
          </a:p>
          <a:p>
            <a:pPr algn="l">
              <a:lnSpc>
                <a:spcPct val="115000"/>
              </a:lnSpc>
              <a:spcAft>
                <a:spcPts val="0"/>
              </a:spcAft>
            </a:pPr>
            <a:r>
              <a:rPr sz="2000" b="0">
                <a:solidFill>
                  <a:srgbClr val="F8F4EB"/>
                </a:solidFill>
                <a:latin typeface="Consolas"/>
              </a:rPr>
              <a:t>assign uio_oe = 8'b0000_0001;</a:t>
            </a:r>
          </a:p>
        </p:txBody>
      </p:sp>
      <p:sp>
        <p:nvSpPr>
          <p:cNvPr id="14" name="TextBox 13"/>
          <p:cNvSpPr txBox="1"/>
          <p:nvPr/>
        </p:nvSpPr>
        <p:spPr>
          <a:xfrm>
            <a:off x="4837176" y="5541264"/>
            <a:ext cx="6556248" cy="530352"/>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Same top name in RTL, info.yaml and tb.v.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WRITE THE COUNTER; DEFINE RESET AND HOLD</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04</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Describe what happens on a clock edge</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11</a:t>
            </a:r>
          </a:p>
        </p:txBody>
      </p:sp>
      <p:sp>
        <p:nvSpPr>
          <p:cNvPr id="8" name="Rectangle 7"/>
          <p:cNvSpPr/>
          <p:nvPr/>
        </p:nvSpPr>
        <p:spPr>
          <a:xfrm>
            <a:off x="749808" y="1938528"/>
            <a:ext cx="6007608" cy="256032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 y="1938528"/>
            <a:ext cx="73152" cy="256032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7" y="2139696"/>
            <a:ext cx="5550408" cy="2176272"/>
          </a:xfrm>
          <a:prstGeom prst="rect">
            <a:avLst/>
          </a:prstGeom>
          <a:noFill/>
        </p:spPr>
        <p:txBody>
          <a:bodyPr wrap="square" lIns="13716" rIns="13716" tIns="13716" bIns="13716">
            <a:spAutoFit/>
          </a:bodyPr>
          <a:lstStyle/>
          <a:p>
            <a:pPr algn="l">
              <a:lnSpc>
                <a:spcPct val="115000"/>
              </a:lnSpc>
              <a:spcAft>
                <a:spcPts val="0"/>
              </a:spcAft>
            </a:pPr>
            <a:r>
              <a:rPr sz="2000" b="0">
                <a:solidFill>
                  <a:srgbClr val="F8F4EB"/>
                </a:solidFill>
                <a:latin typeface="Consolas"/>
              </a:rPr>
              <a:t>always @(posedge clk) begin</a:t>
            </a:r>
          </a:p>
          <a:p>
            <a:pPr algn="l">
              <a:lnSpc>
                <a:spcPct val="115000"/>
              </a:lnSpc>
              <a:spcAft>
                <a:spcPts val="0"/>
              </a:spcAft>
            </a:pPr>
            <a:r>
              <a:rPr sz="2000" b="0">
                <a:solidFill>
                  <a:srgbClr val="F8F4EB"/>
                </a:solidFill>
                <a:latin typeface="Consolas"/>
              </a:rPr>
              <a:t>  if (rst) count &lt;= 8'b0;</a:t>
            </a:r>
          </a:p>
          <a:p>
            <a:pPr algn="l">
              <a:lnSpc>
                <a:spcPct val="115000"/>
              </a:lnSpc>
              <a:spcAft>
                <a:spcPts val="0"/>
              </a:spcAft>
            </a:pPr>
            <a:r>
              <a:rPr sz="2000" b="0">
                <a:solidFill>
                  <a:srgbClr val="F8F4EB"/>
                </a:solidFill>
                <a:latin typeface="Consolas"/>
              </a:rPr>
              <a:t>  else if (en) count &lt;= count + 1'b1;</a:t>
            </a:r>
          </a:p>
          <a:p>
            <a:pPr algn="l">
              <a:lnSpc>
                <a:spcPct val="115000"/>
              </a:lnSpc>
              <a:spcAft>
                <a:spcPts val="0"/>
              </a:spcAft>
            </a:pPr>
            <a:r>
              <a:rPr sz="2000" b="0">
                <a:solidFill>
                  <a:srgbClr val="F8F4EB"/>
                </a:solidFill>
                <a:latin typeface="Consolas"/>
              </a:rPr>
              <a:t>end</a:t>
            </a:r>
          </a:p>
          <a:p>
            <a:pPr algn="l">
              <a:lnSpc>
                <a:spcPct val="115000"/>
              </a:lnSpc>
              <a:spcAft>
                <a:spcPts val="0"/>
              </a:spcAft>
            </a:pPr>
            <a:r>
              <a:rPr sz="2000" b="0">
                <a:solidFill>
                  <a:srgbClr val="F8F4EB"/>
                </a:solidFill>
                <a:latin typeface="Consolas"/>
              </a:rPr>
              <a:t>assign wrap = en &amp;&amp; (&amp;count);</a:t>
            </a:r>
          </a:p>
        </p:txBody>
      </p:sp>
      <p:sp>
        <p:nvSpPr>
          <p:cNvPr id="11" name="TextBox 10"/>
          <p:cNvSpPr txBox="1"/>
          <p:nvPr/>
        </p:nvSpPr>
        <p:spPr>
          <a:xfrm>
            <a:off x="7260336" y="2084831"/>
            <a:ext cx="4114800" cy="2487168"/>
          </a:xfrm>
          <a:prstGeom prst="rect">
            <a:avLst/>
          </a:prstGeom>
          <a:noFill/>
        </p:spPr>
        <p:txBody>
          <a:bodyPr wrap="square" lIns="13716" rIns="13716" tIns="13716" bIns="13716">
            <a:spAutoFit/>
          </a:bodyPr>
          <a:lstStyle/>
          <a:p>
            <a:pPr algn="l">
              <a:lnSpc>
                <a:spcPct val="140000"/>
              </a:lnSpc>
              <a:spcAft>
                <a:spcPts val="0"/>
              </a:spcAft>
            </a:pPr>
            <a:r>
              <a:rPr sz="2400" b="0">
                <a:solidFill>
                  <a:srgbClr val="152B39"/>
                </a:solidFill>
                <a:latin typeface="Aptos"/>
              </a:rPr>
              <a:t>rst_n = 0 → 0 at next ↑clk</a:t>
            </a:r>
          </a:p>
          <a:p>
            <a:pPr algn="l">
              <a:lnSpc>
                <a:spcPct val="140000"/>
              </a:lnSpc>
              <a:spcAft>
                <a:spcPts val="0"/>
              </a:spcAft>
            </a:pPr>
            <a:r>
              <a:rPr sz="2400" b="0">
                <a:solidFill>
                  <a:srgbClr val="152B39"/>
                </a:solidFill>
                <a:latin typeface="Aptos"/>
              </a:rPr>
              <a:t>Enable = 1 → increment</a:t>
            </a:r>
          </a:p>
          <a:p>
            <a:pPr algn="l">
              <a:lnSpc>
                <a:spcPct val="140000"/>
              </a:lnSpc>
              <a:spcAft>
                <a:spcPts val="0"/>
              </a:spcAft>
            </a:pPr>
            <a:r>
              <a:rPr sz="2400" b="0">
                <a:solidFill>
                  <a:srgbClr val="152B39"/>
                </a:solidFill>
                <a:latin typeface="Aptos"/>
              </a:rPr>
              <a:t>Enable = 0 → hold</a:t>
            </a:r>
          </a:p>
          <a:p>
            <a:pPr algn="l">
              <a:lnSpc>
                <a:spcPct val="140000"/>
              </a:lnSpc>
              <a:spcAft>
                <a:spcPts val="0"/>
              </a:spcAft>
            </a:pPr>
            <a:r>
              <a:rPr sz="2400" b="0">
                <a:solidFill>
                  <a:srgbClr val="152B39"/>
                </a:solidFill>
                <a:latin typeface="Aptos"/>
              </a:rPr>
              <a:t>wrap = 1 at 255, if enabled</a:t>
            </a:r>
          </a:p>
        </p:txBody>
      </p:sp>
      <p:sp>
        <p:nvSpPr>
          <p:cNvPr id="12" name="Rectangle 11"/>
          <p:cNvSpPr/>
          <p:nvPr/>
        </p:nvSpPr>
        <p:spPr>
          <a:xfrm>
            <a:off x="758952" y="4745736"/>
            <a:ext cx="1581912"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892040"/>
            <a:ext cx="1490472" cy="667512"/>
          </a:xfrm>
          <a:prstGeom prst="rect">
            <a:avLst/>
          </a:prstGeom>
          <a:noFill/>
        </p:spPr>
        <p:txBody>
          <a:bodyPr wrap="square" lIns="13716" rIns="13716" tIns="13716" bIns="13716">
            <a:spAutoFit/>
          </a:bodyPr>
          <a:lstStyle/>
          <a:p>
            <a:pPr algn="ctr">
              <a:lnSpc>
                <a:spcPct val="108000"/>
              </a:lnSpc>
              <a:spcAft>
                <a:spcPts val="0"/>
              </a:spcAft>
            </a:pPr>
            <a:r>
              <a:rPr sz="4200" b="1">
                <a:solidFill>
                  <a:srgbClr val="F8F4EB"/>
                </a:solidFill>
                <a:latin typeface="Aptos Display"/>
              </a:rPr>
              <a:t>0</a:t>
            </a:r>
          </a:p>
        </p:txBody>
      </p:sp>
      <p:cxnSp>
        <p:nvCxnSpPr>
          <p:cNvPr id="14" name="Connector 13"/>
          <p:cNvCxnSpPr/>
          <p:nvPr/>
        </p:nvCxnSpPr>
        <p:spPr>
          <a:xfrm>
            <a:off x="2441448" y="5202936"/>
            <a:ext cx="402336"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035808" y="4745736"/>
            <a:ext cx="1581912"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81528" y="4892040"/>
            <a:ext cx="1490472" cy="667512"/>
          </a:xfrm>
          <a:prstGeom prst="rect">
            <a:avLst/>
          </a:prstGeom>
          <a:noFill/>
        </p:spPr>
        <p:txBody>
          <a:bodyPr wrap="square" lIns="13716" rIns="13716" tIns="13716" bIns="13716">
            <a:spAutoFit/>
          </a:bodyPr>
          <a:lstStyle/>
          <a:p>
            <a:pPr algn="ctr">
              <a:lnSpc>
                <a:spcPct val="108000"/>
              </a:lnSpc>
              <a:spcAft>
                <a:spcPts val="0"/>
              </a:spcAft>
            </a:pPr>
            <a:r>
              <a:rPr sz="4200" b="1">
                <a:solidFill>
                  <a:srgbClr val="F8F4EB"/>
                </a:solidFill>
                <a:latin typeface="Aptos Display"/>
              </a:rPr>
              <a:t>1</a:t>
            </a:r>
          </a:p>
        </p:txBody>
      </p:sp>
      <p:cxnSp>
        <p:nvCxnSpPr>
          <p:cNvPr id="17" name="Connector 16"/>
          <p:cNvCxnSpPr/>
          <p:nvPr/>
        </p:nvCxnSpPr>
        <p:spPr>
          <a:xfrm>
            <a:off x="4718304" y="5202936"/>
            <a:ext cx="402336"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312664" y="4745736"/>
            <a:ext cx="1581912"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58384" y="4892040"/>
            <a:ext cx="1490472" cy="667512"/>
          </a:xfrm>
          <a:prstGeom prst="rect">
            <a:avLst/>
          </a:prstGeom>
          <a:noFill/>
        </p:spPr>
        <p:txBody>
          <a:bodyPr wrap="square" lIns="13716" rIns="13716" tIns="13716" bIns="13716">
            <a:spAutoFit/>
          </a:bodyPr>
          <a:lstStyle/>
          <a:p>
            <a:pPr algn="ctr">
              <a:lnSpc>
                <a:spcPct val="108000"/>
              </a:lnSpc>
              <a:spcAft>
                <a:spcPts val="0"/>
              </a:spcAft>
            </a:pPr>
            <a:r>
              <a:rPr sz="4200" b="1">
                <a:solidFill>
                  <a:srgbClr val="F8F4EB"/>
                </a:solidFill>
                <a:latin typeface="Aptos Display"/>
              </a:rPr>
              <a:t>2</a:t>
            </a:r>
          </a:p>
        </p:txBody>
      </p:sp>
      <p:sp>
        <p:nvSpPr>
          <p:cNvPr id="20" name="TextBox 19"/>
          <p:cNvSpPr txBox="1"/>
          <p:nvPr/>
        </p:nvSpPr>
        <p:spPr>
          <a:xfrm>
            <a:off x="6995160" y="4928616"/>
            <a:ext cx="512064" cy="438912"/>
          </a:xfrm>
          <a:prstGeom prst="rect">
            <a:avLst/>
          </a:prstGeom>
          <a:noFill/>
        </p:spPr>
        <p:txBody>
          <a:bodyPr wrap="square" lIns="13716" rIns="13716" tIns="13716" bIns="13716">
            <a:spAutoFit/>
          </a:bodyPr>
          <a:lstStyle/>
          <a:p>
            <a:pPr algn="ctr">
              <a:lnSpc>
                <a:spcPct val="108000"/>
              </a:lnSpc>
              <a:spcAft>
                <a:spcPts val="0"/>
              </a:spcAft>
            </a:pPr>
            <a:r>
              <a:rPr sz="3200" b="1">
                <a:solidFill>
                  <a:srgbClr val="007F83"/>
                </a:solidFill>
                <a:latin typeface="Aptos"/>
              </a:rPr>
              <a:t>…</a:t>
            </a:r>
          </a:p>
        </p:txBody>
      </p:sp>
      <p:sp>
        <p:nvSpPr>
          <p:cNvPr id="21" name="Rectangle 20"/>
          <p:cNvSpPr/>
          <p:nvPr/>
        </p:nvSpPr>
        <p:spPr>
          <a:xfrm>
            <a:off x="7589520" y="4745736"/>
            <a:ext cx="1581912"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4892040"/>
            <a:ext cx="1490472" cy="667512"/>
          </a:xfrm>
          <a:prstGeom prst="rect">
            <a:avLst/>
          </a:prstGeom>
          <a:noFill/>
        </p:spPr>
        <p:txBody>
          <a:bodyPr wrap="square" lIns="13716" rIns="13716" tIns="13716" bIns="13716">
            <a:spAutoFit/>
          </a:bodyPr>
          <a:lstStyle/>
          <a:p>
            <a:pPr algn="ctr">
              <a:lnSpc>
                <a:spcPct val="108000"/>
              </a:lnSpc>
              <a:spcAft>
                <a:spcPts val="0"/>
              </a:spcAft>
            </a:pPr>
            <a:r>
              <a:rPr sz="4200" b="1">
                <a:solidFill>
                  <a:srgbClr val="F8F4EB"/>
                </a:solidFill>
                <a:latin typeface="Aptos Display"/>
              </a:rPr>
              <a:t>255</a:t>
            </a:r>
          </a:p>
        </p:txBody>
      </p:sp>
      <p:cxnSp>
        <p:nvCxnSpPr>
          <p:cNvPr id="23" name="Connector 22"/>
          <p:cNvCxnSpPr/>
          <p:nvPr/>
        </p:nvCxnSpPr>
        <p:spPr>
          <a:xfrm>
            <a:off x="9272016" y="5202936"/>
            <a:ext cx="402336"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866376" y="4745736"/>
            <a:ext cx="1581912"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12096" y="4892040"/>
            <a:ext cx="1490472" cy="667512"/>
          </a:xfrm>
          <a:prstGeom prst="rect">
            <a:avLst/>
          </a:prstGeom>
          <a:noFill/>
        </p:spPr>
        <p:txBody>
          <a:bodyPr wrap="square" lIns="13716" rIns="13716" tIns="13716" bIns="13716">
            <a:spAutoFit/>
          </a:bodyPr>
          <a:lstStyle/>
          <a:p>
            <a:pPr algn="ctr">
              <a:lnSpc>
                <a:spcPct val="108000"/>
              </a:lnSpc>
              <a:spcAft>
                <a:spcPts val="0"/>
              </a:spcAft>
            </a:pPr>
            <a:r>
              <a:rPr sz="4200" b="1">
                <a:solidFill>
                  <a:srgbClr val="F8F4EB"/>
                </a:solidFill>
                <a:latin typeface="Aptos Display"/>
              </a:rPr>
              <a:t>0</a:t>
            </a:r>
          </a:p>
        </p:txBody>
      </p:sp>
      <p:sp>
        <p:nvSpPr>
          <p:cNvPr id="26" name="TextBox 25"/>
          <p:cNvSpPr txBox="1"/>
          <p:nvPr/>
        </p:nvSpPr>
        <p:spPr>
          <a:xfrm>
            <a:off x="768096" y="5989320"/>
            <a:ext cx="10607040" cy="329184"/>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Try it: count = 7, enable = 0. Next count?  7 — it holds.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COCOTB = PYTHON DRIVING YOUR VERILOG SIMULATOR</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05</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A test says what should happen</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12</a:t>
            </a:r>
          </a:p>
        </p:txBody>
      </p:sp>
      <p:sp>
        <p:nvSpPr>
          <p:cNvPr id="8" name="TextBox 7"/>
          <p:cNvSpPr txBox="1"/>
          <p:nvPr/>
        </p:nvSpPr>
        <p:spPr>
          <a:xfrm>
            <a:off x="768096" y="1901952"/>
            <a:ext cx="6583680" cy="329184"/>
          </a:xfrm>
          <a:prstGeom prst="rect">
            <a:avLst/>
          </a:prstGeom>
          <a:noFill/>
        </p:spPr>
        <p:txBody>
          <a:bodyPr wrap="square" lIns="13716" rIns="13716" tIns="13716" bIns="13716">
            <a:spAutoFit/>
          </a:bodyPr>
          <a:lstStyle/>
          <a:p>
            <a:pPr algn="l">
              <a:lnSpc>
                <a:spcPct val="108000"/>
              </a:lnSpc>
              <a:spcAft>
                <a:spcPts val="0"/>
              </a:spcAft>
            </a:pPr>
            <a:r>
              <a:rPr sz="2000" b="1">
                <a:solidFill>
                  <a:srgbClr val="007F83"/>
                </a:solidFill>
                <a:latin typeface="Aptos"/>
              </a:rPr>
              <a:t>Excerpt using step() from the real test</a:t>
            </a:r>
          </a:p>
        </p:txBody>
      </p:sp>
      <p:sp>
        <p:nvSpPr>
          <p:cNvPr id="9" name="Rectangle 8"/>
          <p:cNvSpPr/>
          <p:nvPr/>
        </p:nvSpPr>
        <p:spPr>
          <a:xfrm>
            <a:off x="749808" y="2331720"/>
            <a:ext cx="6583680" cy="2404872"/>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331720"/>
            <a:ext cx="73152" cy="2404872"/>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7" y="2532888"/>
            <a:ext cx="6126480" cy="2020824"/>
          </a:xfrm>
          <a:prstGeom prst="rect">
            <a:avLst/>
          </a:prstGeom>
          <a:noFill/>
        </p:spPr>
        <p:txBody>
          <a:bodyPr wrap="square" lIns="13716" rIns="13716" tIns="13716" bIns="13716">
            <a:spAutoFit/>
          </a:bodyPr>
          <a:lstStyle/>
          <a:p>
            <a:pPr algn="l">
              <a:lnSpc>
                <a:spcPct val="115000"/>
              </a:lnSpc>
              <a:spcAft>
                <a:spcPts val="0"/>
              </a:spcAft>
            </a:pPr>
            <a:r>
              <a:rPr sz="2000" b="0">
                <a:solidFill>
                  <a:srgbClr val="F8F4EB"/>
                </a:solidFill>
                <a:latin typeface="Consolas"/>
              </a:rPr>
              <a:t>await step(reset=True)</a:t>
            </a:r>
          </a:p>
          <a:p>
            <a:pPr algn="l">
              <a:lnSpc>
                <a:spcPct val="115000"/>
              </a:lnSpc>
              <a:spcAft>
                <a:spcPts val="0"/>
              </a:spcAft>
            </a:pPr>
            <a:r>
              <a:rPr sz="2000" b="0">
                <a:solidFill>
                  <a:srgbClr val="F8F4EB"/>
                </a:solidFill>
                <a:latin typeface="Consolas"/>
              </a:rPr>
              <a:t>await step(enable=1)</a:t>
            </a:r>
          </a:p>
          <a:p>
            <a:pPr algn="l">
              <a:lnSpc>
                <a:spcPct val="115000"/>
              </a:lnSpc>
              <a:spcAft>
                <a:spcPts val="0"/>
              </a:spcAft>
            </a:pPr>
            <a:r>
              <a:rPr sz="2000" b="0">
                <a:solidFill>
                  <a:srgbClr val="F8F4EB"/>
                </a:solidFill>
                <a:latin typeface="Consolas"/>
              </a:rPr>
              <a:t>assert int(dut.uo_out.value) == 1</a:t>
            </a:r>
          </a:p>
          <a:p>
            <a:pPr algn="l">
              <a:lnSpc>
                <a:spcPct val="115000"/>
              </a:lnSpc>
              <a:spcAft>
                <a:spcPts val="0"/>
              </a:spcAft>
            </a:pPr>
            <a:r>
              <a:rPr sz="2000" b="0">
                <a:solidFill>
                  <a:srgbClr val="F8F4EB"/>
                </a:solidFill>
                <a:latin typeface="Consolas"/>
              </a:rPr>
              <a:t>await step(enable=0)</a:t>
            </a:r>
          </a:p>
          <a:p>
            <a:pPr algn="l">
              <a:lnSpc>
                <a:spcPct val="115000"/>
              </a:lnSpc>
              <a:spcAft>
                <a:spcPts val="0"/>
              </a:spcAft>
            </a:pPr>
            <a:r>
              <a:rPr sz="2000" b="0">
                <a:solidFill>
                  <a:srgbClr val="F8F4EB"/>
                </a:solidFill>
                <a:latin typeface="Consolas"/>
              </a:rPr>
              <a:t>assert int(dut.uo_out.value) == 1</a:t>
            </a:r>
          </a:p>
        </p:txBody>
      </p:sp>
      <p:sp>
        <p:nvSpPr>
          <p:cNvPr id="12" name="TextBox 11"/>
          <p:cNvSpPr txBox="1"/>
          <p:nvPr/>
        </p:nvSpPr>
        <p:spPr>
          <a:xfrm>
            <a:off x="7863840" y="2157984"/>
            <a:ext cx="3502152" cy="73152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RESET → 0</a:t>
            </a:r>
          </a:p>
        </p:txBody>
      </p:sp>
      <p:sp>
        <p:nvSpPr>
          <p:cNvPr id="13" name="TextBox 12"/>
          <p:cNvSpPr txBox="1"/>
          <p:nvPr/>
        </p:nvSpPr>
        <p:spPr>
          <a:xfrm>
            <a:off x="7863840" y="3099816"/>
            <a:ext cx="3502152" cy="73152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COUNT → 1</a:t>
            </a:r>
          </a:p>
        </p:txBody>
      </p:sp>
      <p:sp>
        <p:nvSpPr>
          <p:cNvPr id="14" name="TextBox 13"/>
          <p:cNvSpPr txBox="1"/>
          <p:nvPr/>
        </p:nvSpPr>
        <p:spPr>
          <a:xfrm>
            <a:off x="7863840" y="4041648"/>
            <a:ext cx="3502152" cy="73152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HOLD → 1</a:t>
            </a:r>
          </a:p>
        </p:txBody>
      </p:sp>
      <p:sp>
        <p:nvSpPr>
          <p:cNvPr id="15" name="TextBox 14"/>
          <p:cNvSpPr txBox="1"/>
          <p:nvPr/>
        </p:nvSpPr>
        <p:spPr>
          <a:xfrm>
            <a:off x="768096" y="4882896"/>
            <a:ext cx="6638544" cy="347472"/>
          </a:xfrm>
          <a:prstGeom prst="rect">
            <a:avLst/>
          </a:prstGeom>
          <a:noFill/>
        </p:spPr>
        <p:txBody>
          <a:bodyPr wrap="square" lIns="13716" rIns="13716" tIns="13716" bIns="13716">
            <a:spAutoFit/>
          </a:bodyPr>
          <a:lstStyle/>
          <a:p>
            <a:pPr algn="l">
              <a:lnSpc>
                <a:spcPct val="108000"/>
              </a:lnSpc>
              <a:spcAft>
                <a:spcPts val="0"/>
              </a:spcAft>
            </a:pPr>
            <a:r>
              <a:rPr sz="2200" b="0">
                <a:solidFill>
                  <a:srgbClr val="536974"/>
                </a:solidFill>
                <a:latin typeface="Aptos"/>
              </a:rPr>
              <a:t>Needs Python + make + Icarus Verilog</a:t>
            </a:r>
          </a:p>
        </p:txBody>
      </p:sp>
      <p:sp>
        <p:nvSpPr>
          <p:cNvPr id="16" name="Rectangle 15"/>
          <p:cNvSpPr/>
          <p:nvPr/>
        </p:nvSpPr>
        <p:spPr>
          <a:xfrm>
            <a:off x="749808" y="5312664"/>
            <a:ext cx="6583680" cy="100584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8" y="5312664"/>
            <a:ext cx="73152" cy="100584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7" y="5513831"/>
            <a:ext cx="6126480" cy="621792"/>
          </a:xfrm>
          <a:prstGeom prst="rect">
            <a:avLst/>
          </a:prstGeom>
          <a:noFill/>
        </p:spPr>
        <p:txBody>
          <a:bodyPr wrap="square" lIns="13716" rIns="13716" tIns="13716" bIns="13716">
            <a:spAutoFit/>
          </a:bodyPr>
          <a:lstStyle/>
          <a:p>
            <a:pPr algn="l">
              <a:lnSpc>
                <a:spcPct val="115000"/>
              </a:lnSpc>
              <a:spcAft>
                <a:spcPts val="0"/>
              </a:spcAft>
            </a:pPr>
            <a:r>
              <a:rPr sz="1800" b="0">
                <a:solidFill>
                  <a:srgbClr val="F8F4EB"/>
                </a:solidFill>
                <a:latin typeface="Consolas"/>
              </a:rPr>
              <a:t>cd test &amp;&amp; make -B</a:t>
            </a:r>
          </a:p>
          <a:p>
            <a:pPr algn="l">
              <a:lnSpc>
                <a:spcPct val="115000"/>
              </a:lnSpc>
              <a:spcAft>
                <a:spcPts val="0"/>
              </a:spcAft>
            </a:pPr>
            <a:r>
              <a:rPr sz="1800" b="0">
                <a:solidFill>
                  <a:srgbClr val="F8F4EB"/>
                </a:solidFill>
                <a:latin typeface="Consolas"/>
              </a:rPr>
              <a:t>python -m cocotb_tools.check_results results.xml</a:t>
            </a:r>
          </a:p>
        </p:txBody>
      </p:sp>
      <p:sp>
        <p:nvSpPr>
          <p:cNvPr id="19" name="TextBox 18"/>
          <p:cNvSpPr txBox="1"/>
          <p:nvPr/>
        </p:nvSpPr>
        <p:spPr>
          <a:xfrm>
            <a:off x="7854696" y="5138928"/>
            <a:ext cx="3538728" cy="923544"/>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step() applies inputs</a:t>
            </a:r>
          </a:p>
          <a:p>
            <a:pPr algn="l">
              <a:lnSpc>
                <a:spcPct val="108000"/>
              </a:lnSpc>
              <a:spcAft>
                <a:spcPts val="0"/>
              </a:spcAft>
            </a:pPr>
            <a:r>
              <a:rPr sz="2400" b="0">
                <a:solidFill>
                  <a:srgbClr val="152B39"/>
                </a:solidFill>
                <a:latin typeface="Aptos"/>
              </a:rPr>
              <a:t>and samples after the 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 REPRODUCIBLE RESULT ON GITHUB</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06</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Push once. Check three green workflows.</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13</a:t>
            </a:r>
          </a:p>
        </p:txBody>
      </p:sp>
      <p:sp>
        <p:nvSpPr>
          <p:cNvPr id="8" name="TextBox 7"/>
          <p:cNvSpPr txBox="1"/>
          <p:nvPr/>
        </p:nvSpPr>
        <p:spPr>
          <a:xfrm>
            <a:off x="768096" y="1938528"/>
            <a:ext cx="10671048" cy="758952"/>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A commit starts three automated jobs: test checks behaviour,</a:t>
            </a:r>
          </a:p>
          <a:p>
            <a:pPr algn="l">
              <a:lnSpc>
                <a:spcPct val="108000"/>
              </a:lnSpc>
              <a:spcAft>
                <a:spcPts val="0"/>
              </a:spcAft>
            </a:pPr>
            <a:r>
              <a:rPr sz="2400" b="0">
                <a:solidFill>
                  <a:srgbClr val="152B39"/>
                </a:solidFill>
                <a:latin typeface="Aptos"/>
              </a:rPr>
              <a:t>gds builds and checks layout, docs writes the datasheet.</a:t>
            </a:r>
          </a:p>
        </p:txBody>
      </p:sp>
      <p:pic>
        <p:nvPicPr>
          <p:cNvPr id="9" name="Picture 8" descr="counter-actions-green.png"/>
          <p:cNvPicPr>
            <a:picLocks noChangeAspect="1"/>
          </p:cNvPicPr>
          <p:nvPr/>
        </p:nvPicPr>
        <p:blipFill>
          <a:blip r:embed="rId3"/>
          <a:srcRect l="22500" r="36500" t="30200" b="48500"/>
          <a:stretch>
            <a:fillRect/>
          </a:stretch>
        </p:blipFill>
        <p:spPr>
          <a:xfrm>
            <a:off x="749808" y="3081528"/>
            <a:ext cx="6629400" cy="2148840"/>
          </a:xfrm>
          <a:prstGeom prst="rect">
            <a:avLst/>
          </a:prstGeom>
        </p:spPr>
      </p:pic>
      <p:sp>
        <p:nvSpPr>
          <p:cNvPr id="10" name="TextBox 9"/>
          <p:cNvSpPr txBox="1"/>
          <p:nvPr/>
        </p:nvSpPr>
        <p:spPr>
          <a:xfrm>
            <a:off x="8001000" y="3081528"/>
            <a:ext cx="3410712" cy="42976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docs  PASS</a:t>
            </a:r>
          </a:p>
        </p:txBody>
      </p:sp>
      <p:sp>
        <p:nvSpPr>
          <p:cNvPr id="11" name="TextBox 10"/>
          <p:cNvSpPr txBox="1"/>
          <p:nvPr/>
        </p:nvSpPr>
        <p:spPr>
          <a:xfrm>
            <a:off x="8001000" y="3529584"/>
            <a:ext cx="3410712" cy="347472"/>
          </a:xfrm>
          <a:prstGeom prst="rect">
            <a:avLst/>
          </a:prstGeom>
          <a:noFill/>
        </p:spPr>
        <p:txBody>
          <a:bodyPr wrap="square" lIns="13716" rIns="13716" tIns="13716" bIns="13716">
            <a:spAutoFit/>
          </a:bodyPr>
          <a:lstStyle/>
          <a:p>
            <a:pPr algn="l">
              <a:lnSpc>
                <a:spcPct val="108000"/>
              </a:lnSpc>
              <a:spcAft>
                <a:spcPts val="0"/>
              </a:spcAft>
            </a:pPr>
            <a:r>
              <a:rPr sz="2000" b="0">
                <a:solidFill>
                  <a:srgbClr val="152B39"/>
                </a:solidFill>
                <a:latin typeface="Aptos"/>
              </a:rPr>
              <a:t>Datasheet generated</a:t>
            </a:r>
          </a:p>
        </p:txBody>
      </p:sp>
      <p:sp>
        <p:nvSpPr>
          <p:cNvPr id="12" name="TextBox 11"/>
          <p:cNvSpPr txBox="1"/>
          <p:nvPr/>
        </p:nvSpPr>
        <p:spPr>
          <a:xfrm>
            <a:off x="8001000" y="3886200"/>
            <a:ext cx="3410712" cy="42976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test  PASS</a:t>
            </a:r>
          </a:p>
        </p:txBody>
      </p:sp>
      <p:sp>
        <p:nvSpPr>
          <p:cNvPr id="13" name="TextBox 12"/>
          <p:cNvSpPr txBox="1"/>
          <p:nvPr/>
        </p:nvSpPr>
        <p:spPr>
          <a:xfrm>
            <a:off x="8001000" y="4334256"/>
            <a:ext cx="3410712" cy="347472"/>
          </a:xfrm>
          <a:prstGeom prst="rect">
            <a:avLst/>
          </a:prstGeom>
          <a:noFill/>
        </p:spPr>
        <p:txBody>
          <a:bodyPr wrap="square" lIns="13716" rIns="13716" tIns="13716" bIns="13716">
            <a:spAutoFit/>
          </a:bodyPr>
          <a:lstStyle/>
          <a:p>
            <a:pPr algn="l">
              <a:lnSpc>
                <a:spcPct val="108000"/>
              </a:lnSpc>
              <a:spcAft>
                <a:spcPts val="0"/>
              </a:spcAft>
            </a:pPr>
            <a:r>
              <a:rPr sz="2000" b="0">
                <a:solidFill>
                  <a:srgbClr val="152B39"/>
                </a:solidFill>
                <a:latin typeface="Aptos"/>
              </a:rPr>
              <a:t>Reset, count, hold, wrap</a:t>
            </a:r>
          </a:p>
        </p:txBody>
      </p:sp>
      <p:sp>
        <p:nvSpPr>
          <p:cNvPr id="14" name="TextBox 13"/>
          <p:cNvSpPr txBox="1"/>
          <p:nvPr/>
        </p:nvSpPr>
        <p:spPr>
          <a:xfrm>
            <a:off x="8001000" y="4690872"/>
            <a:ext cx="3410712" cy="429768"/>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gds  PASS</a:t>
            </a:r>
          </a:p>
        </p:txBody>
      </p:sp>
      <p:sp>
        <p:nvSpPr>
          <p:cNvPr id="15" name="TextBox 14"/>
          <p:cNvSpPr txBox="1"/>
          <p:nvPr/>
        </p:nvSpPr>
        <p:spPr>
          <a:xfrm>
            <a:off x="8001000" y="5138928"/>
            <a:ext cx="3410712" cy="347472"/>
          </a:xfrm>
          <a:prstGeom prst="rect">
            <a:avLst/>
          </a:prstGeom>
          <a:noFill/>
        </p:spPr>
        <p:txBody>
          <a:bodyPr wrap="square" lIns="13716" rIns="13716" tIns="13716" bIns="13716">
            <a:spAutoFit/>
          </a:bodyPr>
          <a:lstStyle/>
          <a:p>
            <a:pPr algn="l">
              <a:lnSpc>
                <a:spcPct val="108000"/>
              </a:lnSpc>
              <a:spcAft>
                <a:spcPts val="0"/>
              </a:spcAft>
            </a:pPr>
            <a:r>
              <a:rPr sz="2000" b="0">
                <a:solidFill>
                  <a:srgbClr val="152B39"/>
                </a:solidFill>
                <a:latin typeface="Aptos"/>
              </a:rPr>
              <a:t>All four jobs succeeded</a:t>
            </a:r>
          </a:p>
        </p:txBody>
      </p:sp>
      <p:sp>
        <p:nvSpPr>
          <p:cNvPr id="16" name="TextBox 15"/>
          <p:cNvSpPr txBox="1"/>
          <p:nvPr/>
        </p:nvSpPr>
        <p:spPr>
          <a:xfrm>
            <a:off x="768096" y="5733288"/>
            <a:ext cx="10671048" cy="41148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hlinkClick r:id="rId4"/>
              </a:rPr>
              <a:t>Worked example: tt-sky130-counter • commit 61ef06b</a:t>
            </a:r>
          </a:p>
        </p:txBody>
      </p:sp>
      <p:sp>
        <p:nvSpPr>
          <p:cNvPr id="17" name="TextBox 16"/>
          <p:cNvSpPr txBox="1"/>
          <p:nvPr/>
        </p:nvSpPr>
        <p:spPr>
          <a:xfrm>
            <a:off x="768096" y="6181344"/>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ACTUAL GITHUB EVIDENCE • FPGA IS OPTIONAL AND WAS NOT RUN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GDS = THE FILE THAT DESCRIBES THE CHIP LAYERS</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07</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A layout is geometry, not a photograph</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14</a:t>
            </a:r>
          </a:p>
        </p:txBody>
      </p:sp>
      <p:pic>
        <p:nvPicPr>
          <p:cNvPr id="8" name="Picture 7" descr="counter-viewer-no-fill.png"/>
          <p:cNvPicPr>
            <a:picLocks noChangeAspect="1"/>
          </p:cNvPicPr>
          <p:nvPr/>
        </p:nvPicPr>
        <p:blipFill>
          <a:blip r:embed="rId3"/>
          <a:stretch>
            <a:fillRect/>
          </a:stretch>
        </p:blipFill>
        <p:spPr>
          <a:xfrm>
            <a:off x="740664" y="1901952"/>
            <a:ext cx="5971032" cy="4105656"/>
          </a:xfrm>
          <a:prstGeom prst="rect">
            <a:avLst/>
          </a:prstGeom>
        </p:spPr>
      </p:pic>
      <p:sp>
        <p:nvSpPr>
          <p:cNvPr id="9" name="TextBox 8"/>
          <p:cNvSpPr txBox="1"/>
          <p:nvPr/>
        </p:nvSpPr>
        <p:spPr>
          <a:xfrm>
            <a:off x="8001000" y="2002536"/>
            <a:ext cx="3502152" cy="585216"/>
          </a:xfrm>
          <a:prstGeom prst="rect">
            <a:avLst/>
          </a:prstGeom>
          <a:noFill/>
        </p:spPr>
        <p:txBody>
          <a:bodyPr wrap="square" lIns="13716" rIns="13716" tIns="13716" bIns="13716">
            <a:spAutoFit/>
          </a:bodyPr>
          <a:lstStyle/>
          <a:p>
            <a:pPr algn="l">
              <a:lnSpc>
                <a:spcPct val="108000"/>
              </a:lnSpc>
              <a:spcAft>
                <a:spcPts val="0"/>
              </a:spcAft>
            </a:pPr>
            <a:r>
              <a:rPr sz="2800" b="1">
                <a:solidFill>
                  <a:srgbClr val="007F83"/>
                </a:solidFill>
                <a:latin typeface="Aptos"/>
              </a:rPr>
              <a:t>Look for three things</a:t>
            </a:r>
          </a:p>
        </p:txBody>
      </p:sp>
      <p:sp>
        <p:nvSpPr>
          <p:cNvPr id="10" name="TextBox 9"/>
          <p:cNvSpPr txBox="1"/>
          <p:nvPr/>
        </p:nvSpPr>
        <p:spPr>
          <a:xfrm>
            <a:off x="8001000" y="2779776"/>
            <a:ext cx="3483864" cy="56692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1  Logic + wiring</a:t>
            </a:r>
          </a:p>
        </p:txBody>
      </p:sp>
      <p:sp>
        <p:nvSpPr>
          <p:cNvPr id="11" name="TextBox 10"/>
          <p:cNvSpPr txBox="1"/>
          <p:nvPr/>
        </p:nvSpPr>
        <p:spPr>
          <a:xfrm>
            <a:off x="8001000" y="3438144"/>
            <a:ext cx="3483864" cy="56692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2  Warnings + timing</a:t>
            </a:r>
          </a:p>
        </p:txBody>
      </p:sp>
      <p:sp>
        <p:nvSpPr>
          <p:cNvPr id="12" name="TextBox 11"/>
          <p:cNvSpPr txBox="1"/>
          <p:nvPr/>
        </p:nvSpPr>
        <p:spPr>
          <a:xfrm>
            <a:off x="8001000" y="4096512"/>
            <a:ext cx="3483864" cy="56692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3  Precheck + gl_test</a:t>
            </a:r>
          </a:p>
        </p:txBody>
      </p:sp>
      <p:sp>
        <p:nvSpPr>
          <p:cNvPr id="13" name="TextBox 12"/>
          <p:cNvSpPr txBox="1"/>
          <p:nvPr/>
        </p:nvSpPr>
        <p:spPr>
          <a:xfrm>
            <a:off x="8001000" y="4882896"/>
            <a:ext cx="3493008" cy="521207"/>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hlinkClick r:id="rId4"/>
              </a:rPr>
              <a:t>Open the actual viewer ↗</a:t>
            </a:r>
          </a:p>
        </p:txBody>
      </p:sp>
      <p:sp>
        <p:nvSpPr>
          <p:cNvPr id="14" name="TextBox 13"/>
          <p:cNvSpPr txBox="1"/>
          <p:nvPr/>
        </p:nvSpPr>
        <p:spPr>
          <a:xfrm>
            <a:off x="8001000" y="5541264"/>
            <a:ext cx="3493008" cy="685800"/>
          </a:xfrm>
          <a:prstGeom prst="rect">
            <a:avLst/>
          </a:prstGeom>
          <a:noFill/>
        </p:spPr>
        <p:txBody>
          <a:bodyPr wrap="square" lIns="13716" rIns="13716" tIns="13716" bIns="13716">
            <a:spAutoFit/>
          </a:bodyPr>
          <a:lstStyle/>
          <a:p>
            <a:pPr algn="l">
              <a:lnSpc>
                <a:spcPct val="108000"/>
              </a:lnSpc>
              <a:spcAft>
                <a:spcPts val="0"/>
              </a:spcAft>
            </a:pPr>
            <a:r>
              <a:rPr sz="2000" b="0">
                <a:solidFill>
                  <a:srgbClr val="536974"/>
                </a:solidFill>
                <a:latin typeface="Aptos"/>
              </a:rPr>
              <a:t>Filler cells hidden.</a:t>
            </a:r>
          </a:p>
          <a:p>
            <a:pPr algn="l">
              <a:lnSpc>
                <a:spcPct val="108000"/>
              </a:lnSpc>
              <a:spcAft>
                <a:spcPts val="0"/>
              </a:spcAft>
            </a:pPr>
            <a:r>
              <a:rPr sz="2000" b="0">
                <a:solidFill>
                  <a:srgbClr val="536974"/>
                </a:solidFill>
                <a:latin typeface="Aptos"/>
              </a:rPr>
              <a:t>P4 metrics capture pending.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INSIDE THE AUTOMATED GDS FLOW</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Tools turn behaviour into cells and wires</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15</a:t>
            </a:r>
          </a:p>
        </p:txBody>
      </p:sp>
      <p:sp>
        <p:nvSpPr>
          <p:cNvPr id="7" name="TextBox 6"/>
          <p:cNvSpPr txBox="1"/>
          <p:nvPr/>
        </p:nvSpPr>
        <p:spPr>
          <a:xfrm>
            <a:off x="758952" y="1920240"/>
            <a:ext cx="3419856" cy="530352"/>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Map logic</a:t>
            </a:r>
          </a:p>
        </p:txBody>
      </p:sp>
      <p:sp>
        <p:nvSpPr>
          <p:cNvPr id="8" name="TextBox 7"/>
          <p:cNvSpPr txBox="1"/>
          <p:nvPr/>
        </p:nvSpPr>
        <p:spPr>
          <a:xfrm>
            <a:off x="758952" y="5084064"/>
            <a:ext cx="3456432" cy="987552"/>
          </a:xfrm>
          <a:prstGeom prst="rect">
            <a:avLst/>
          </a:prstGeom>
          <a:noFill/>
        </p:spPr>
        <p:txBody>
          <a:bodyPr wrap="square" lIns="13716" rIns="13716" tIns="13716" bIns="13716">
            <a:spAutoFit/>
          </a:bodyPr>
          <a:lstStyle/>
          <a:p>
            <a:pPr algn="l">
              <a:lnSpc>
                <a:spcPct val="108000"/>
              </a:lnSpc>
              <a:spcAft>
                <a:spcPts val="0"/>
              </a:spcAft>
            </a:pPr>
            <a:r>
              <a:rPr sz="2600" b="1">
                <a:solidFill>
                  <a:srgbClr val="152B39"/>
                </a:solidFill>
                <a:latin typeface="Aptos"/>
              </a:rPr>
              <a:t>Yosys + ABC</a:t>
            </a:r>
          </a:p>
        </p:txBody>
      </p:sp>
      <p:sp>
        <p:nvSpPr>
          <p:cNvPr id="9" name="TextBox 8"/>
          <p:cNvSpPr txBox="1"/>
          <p:nvPr/>
        </p:nvSpPr>
        <p:spPr>
          <a:xfrm>
            <a:off x="4572000" y="1920240"/>
            <a:ext cx="3419856" cy="530352"/>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Place + route</a:t>
            </a:r>
          </a:p>
        </p:txBody>
      </p:sp>
      <p:sp>
        <p:nvSpPr>
          <p:cNvPr id="10" name="TextBox 9"/>
          <p:cNvSpPr txBox="1"/>
          <p:nvPr/>
        </p:nvSpPr>
        <p:spPr>
          <a:xfrm>
            <a:off x="4572000" y="5084064"/>
            <a:ext cx="3456432" cy="987552"/>
          </a:xfrm>
          <a:prstGeom prst="rect">
            <a:avLst/>
          </a:prstGeom>
          <a:noFill/>
        </p:spPr>
        <p:txBody>
          <a:bodyPr wrap="square" lIns="13716" rIns="13716" tIns="13716" bIns="13716">
            <a:spAutoFit/>
          </a:bodyPr>
          <a:lstStyle/>
          <a:p>
            <a:pPr algn="l">
              <a:lnSpc>
                <a:spcPct val="108000"/>
              </a:lnSpc>
              <a:spcAft>
                <a:spcPts val="0"/>
              </a:spcAft>
            </a:pPr>
            <a:r>
              <a:rPr sz="2600" b="1">
                <a:solidFill>
                  <a:srgbClr val="152B39"/>
                </a:solidFill>
                <a:latin typeface="Aptos"/>
              </a:rPr>
              <a:t>OpenROAD</a:t>
            </a:r>
          </a:p>
        </p:txBody>
      </p:sp>
      <p:sp>
        <p:nvSpPr>
          <p:cNvPr id="11" name="TextBox 10"/>
          <p:cNvSpPr txBox="1"/>
          <p:nvPr/>
        </p:nvSpPr>
        <p:spPr>
          <a:xfrm>
            <a:off x="8385048" y="1920240"/>
            <a:ext cx="3419856" cy="530352"/>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Check</a:t>
            </a:r>
          </a:p>
        </p:txBody>
      </p:sp>
      <p:sp>
        <p:nvSpPr>
          <p:cNvPr id="12" name="TextBox 11"/>
          <p:cNvSpPr txBox="1"/>
          <p:nvPr/>
        </p:nvSpPr>
        <p:spPr>
          <a:xfrm>
            <a:off x="8385048" y="5084064"/>
            <a:ext cx="3456432" cy="987552"/>
          </a:xfrm>
          <a:prstGeom prst="rect">
            <a:avLst/>
          </a:prstGeom>
          <a:noFill/>
        </p:spPr>
        <p:txBody>
          <a:bodyPr wrap="square" lIns="13716" rIns="13716" tIns="13716" bIns="13716">
            <a:spAutoFit/>
          </a:bodyPr>
          <a:lstStyle/>
          <a:p>
            <a:pPr algn="l">
              <a:lnSpc>
                <a:spcPct val="108000"/>
              </a:lnSpc>
              <a:spcAft>
                <a:spcPts val="0"/>
              </a:spcAft>
            </a:pPr>
            <a:r>
              <a:rPr sz="2600" b="1">
                <a:solidFill>
                  <a:srgbClr val="152B39"/>
                </a:solidFill>
                <a:latin typeface="Aptos"/>
              </a:rPr>
              <a:t>Timing + DRC + LVS</a:t>
            </a:r>
          </a:p>
        </p:txBody>
      </p:sp>
      <p:sp>
        <p:nvSpPr>
          <p:cNvPr id="13" name="Rectangle 12"/>
          <p:cNvSpPr/>
          <p:nvPr/>
        </p:nvSpPr>
        <p:spPr>
          <a:xfrm>
            <a:off x="950976" y="2944368"/>
            <a:ext cx="1088136" cy="676656"/>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099816"/>
            <a:ext cx="1088136" cy="393192"/>
          </a:xfrm>
          <a:prstGeom prst="rect">
            <a:avLst/>
          </a:prstGeom>
          <a:noFill/>
        </p:spPr>
        <p:txBody>
          <a:bodyPr wrap="square" lIns="13716" rIns="13716" tIns="13716" bIns="13716">
            <a:spAutoFit/>
          </a:bodyPr>
          <a:lstStyle/>
          <a:p>
            <a:pPr algn="ctr">
              <a:lnSpc>
                <a:spcPct val="108000"/>
              </a:lnSpc>
              <a:spcAft>
                <a:spcPts val="0"/>
              </a:spcAft>
            </a:pPr>
            <a:r>
              <a:rPr sz="2400" b="1">
                <a:solidFill>
                  <a:srgbClr val="F8F4EB"/>
                </a:solidFill>
                <a:latin typeface="Aptos"/>
              </a:rPr>
              <a:t>AND</a:t>
            </a:r>
          </a:p>
        </p:txBody>
      </p:sp>
      <p:sp>
        <p:nvSpPr>
          <p:cNvPr id="15" name="Rectangle 14"/>
          <p:cNvSpPr/>
          <p:nvPr/>
        </p:nvSpPr>
        <p:spPr>
          <a:xfrm>
            <a:off x="2386584" y="2944368"/>
            <a:ext cx="1088136" cy="676656"/>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86584" y="3099816"/>
            <a:ext cx="1088136" cy="393192"/>
          </a:xfrm>
          <a:prstGeom prst="rect">
            <a:avLst/>
          </a:prstGeom>
          <a:noFill/>
        </p:spPr>
        <p:txBody>
          <a:bodyPr wrap="square" lIns="13716" rIns="13716" tIns="13716" bIns="13716">
            <a:spAutoFit/>
          </a:bodyPr>
          <a:lstStyle/>
          <a:p>
            <a:pPr algn="ctr">
              <a:lnSpc>
                <a:spcPct val="108000"/>
              </a:lnSpc>
              <a:spcAft>
                <a:spcPts val="0"/>
              </a:spcAft>
            </a:pPr>
            <a:r>
              <a:rPr sz="2400" b="1">
                <a:solidFill>
                  <a:srgbClr val="F8F4EB"/>
                </a:solidFill>
                <a:latin typeface="Aptos"/>
              </a:rPr>
              <a:t>DFF</a:t>
            </a:r>
          </a:p>
        </p:txBody>
      </p:sp>
      <p:sp>
        <p:nvSpPr>
          <p:cNvPr id="17" name="Rectangle 16"/>
          <p:cNvSpPr/>
          <p:nvPr/>
        </p:nvSpPr>
        <p:spPr>
          <a:xfrm>
            <a:off x="1664208" y="4023360"/>
            <a:ext cx="1088136" cy="676656"/>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64208" y="4178808"/>
            <a:ext cx="1088136" cy="393192"/>
          </a:xfrm>
          <a:prstGeom prst="rect">
            <a:avLst/>
          </a:prstGeom>
          <a:noFill/>
        </p:spPr>
        <p:txBody>
          <a:bodyPr wrap="square" lIns="13716" rIns="13716" tIns="13716" bIns="13716">
            <a:spAutoFit/>
          </a:bodyPr>
          <a:lstStyle/>
          <a:p>
            <a:pPr algn="ctr">
              <a:lnSpc>
                <a:spcPct val="108000"/>
              </a:lnSpc>
              <a:spcAft>
                <a:spcPts val="0"/>
              </a:spcAft>
            </a:pPr>
            <a:r>
              <a:rPr sz="2400" b="1">
                <a:solidFill>
                  <a:srgbClr val="F8F4EB"/>
                </a:solidFill>
                <a:latin typeface="Aptos"/>
              </a:rPr>
              <a:t>OR</a:t>
            </a:r>
          </a:p>
        </p:txBody>
      </p:sp>
      <p:cxnSp>
        <p:nvCxnSpPr>
          <p:cNvPr id="19" name="Connector 18"/>
          <p:cNvCxnSpPr/>
          <p:nvPr/>
        </p:nvCxnSpPr>
        <p:spPr>
          <a:xfrm>
            <a:off x="2075688" y="3264408"/>
            <a:ext cx="237744"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15768" y="3721608"/>
            <a:ext cx="0" cy="256031"/>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666744" y="3566160"/>
            <a:ext cx="539496" cy="0"/>
          </a:xfrm>
          <a:prstGeom prst="line">
            <a:avLst/>
          </a:prstGeom>
          <a:ln w="38100">
            <a:solidFill>
              <a:srgbClr val="F05B3E"/>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681728" y="2798064"/>
            <a:ext cx="438912" cy="41148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48656" y="2798064"/>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815584" y="2798064"/>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82512" y="2798064"/>
            <a:ext cx="438912" cy="41148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49440" y="2798064"/>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81728" y="3419856"/>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48656" y="3419856"/>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15584" y="3419856"/>
            <a:ext cx="438912" cy="41148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82512" y="3419856"/>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49440" y="3419856"/>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81728" y="4041648"/>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48656" y="4041648"/>
            <a:ext cx="438912" cy="41148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815584" y="4041648"/>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82512" y="4041648"/>
            <a:ext cx="438912" cy="41148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949440" y="4041648"/>
            <a:ext cx="438912" cy="41148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26864" y="3264408"/>
            <a:ext cx="2843784" cy="13716"/>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26864" y="3877056"/>
            <a:ext cx="2843784" cy="13716"/>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26864" y="4489704"/>
            <a:ext cx="2843784" cy="13716"/>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7680960" y="3566160"/>
            <a:ext cx="475488" cy="0"/>
          </a:xfrm>
          <a:prstGeom prst="line">
            <a:avLst/>
          </a:prstGeom>
          <a:ln w="38100">
            <a:solidFill>
              <a:srgbClr val="F05B3E"/>
            </a:solidFill>
            <a:tailEnd type="triangle"/>
          </a:ln>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302752" y="2825496"/>
            <a:ext cx="265176" cy="265176"/>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95944" y="2788920"/>
            <a:ext cx="2660904" cy="512064"/>
          </a:xfrm>
          <a:prstGeom prst="rect">
            <a:avLst/>
          </a:prstGeom>
          <a:noFill/>
        </p:spPr>
        <p:txBody>
          <a:bodyPr wrap="square" lIns="13716" rIns="13716" tIns="13716" bIns="13716">
            <a:spAutoFit/>
          </a:bodyPr>
          <a:lstStyle/>
          <a:p>
            <a:pPr algn="l">
              <a:lnSpc>
                <a:spcPct val="108000"/>
              </a:lnSpc>
              <a:spcAft>
                <a:spcPts val="0"/>
              </a:spcAft>
            </a:pPr>
            <a:r>
              <a:rPr sz="2200" b="0">
                <a:solidFill>
                  <a:srgbClr val="152B39"/>
                </a:solidFill>
                <a:latin typeface="Aptos"/>
              </a:rPr>
              <a:t>Timing</a:t>
            </a:r>
          </a:p>
          <a:p>
            <a:pPr algn="l">
              <a:lnSpc>
                <a:spcPct val="108000"/>
              </a:lnSpc>
              <a:spcAft>
                <a:spcPts val="0"/>
              </a:spcAft>
            </a:pPr>
            <a:r>
              <a:rPr sz="2200" b="0">
                <a:solidFill>
                  <a:srgbClr val="152B39"/>
                </a:solidFill>
                <a:latin typeface="Aptos"/>
              </a:rPr>
              <a:t>Before next edge?</a:t>
            </a:r>
          </a:p>
        </p:txBody>
      </p:sp>
      <p:sp>
        <p:nvSpPr>
          <p:cNvPr id="43" name="Oval 42"/>
          <p:cNvSpPr/>
          <p:nvPr/>
        </p:nvSpPr>
        <p:spPr>
          <a:xfrm>
            <a:off x="8302752" y="3511296"/>
            <a:ext cx="265176" cy="265176"/>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95944" y="3474720"/>
            <a:ext cx="2660904" cy="512064"/>
          </a:xfrm>
          <a:prstGeom prst="rect">
            <a:avLst/>
          </a:prstGeom>
          <a:noFill/>
        </p:spPr>
        <p:txBody>
          <a:bodyPr wrap="square" lIns="13716" rIns="13716" tIns="13716" bIns="13716">
            <a:spAutoFit/>
          </a:bodyPr>
          <a:lstStyle/>
          <a:p>
            <a:pPr algn="l">
              <a:lnSpc>
                <a:spcPct val="108000"/>
              </a:lnSpc>
              <a:spcAft>
                <a:spcPts val="0"/>
              </a:spcAft>
            </a:pPr>
            <a:r>
              <a:rPr sz="2200" b="0">
                <a:solidFill>
                  <a:srgbClr val="152B39"/>
                </a:solidFill>
                <a:latin typeface="Aptos"/>
              </a:rPr>
              <a:t>DRC</a:t>
            </a:r>
          </a:p>
          <a:p>
            <a:pPr algn="l">
              <a:lnSpc>
                <a:spcPct val="108000"/>
              </a:lnSpc>
              <a:spcAft>
                <a:spcPts val="0"/>
              </a:spcAft>
            </a:pPr>
            <a:r>
              <a:rPr sz="2200" b="0">
                <a:solidFill>
                  <a:srgbClr val="152B39"/>
                </a:solidFill>
                <a:latin typeface="Aptos"/>
              </a:rPr>
              <a:t>Wire spacing okay?</a:t>
            </a:r>
          </a:p>
        </p:txBody>
      </p:sp>
      <p:sp>
        <p:nvSpPr>
          <p:cNvPr id="45" name="Oval 44"/>
          <p:cNvSpPr/>
          <p:nvPr/>
        </p:nvSpPr>
        <p:spPr>
          <a:xfrm>
            <a:off x="8302752" y="4197096"/>
            <a:ext cx="265176" cy="265176"/>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95944" y="4160520"/>
            <a:ext cx="2660904" cy="512064"/>
          </a:xfrm>
          <a:prstGeom prst="rect">
            <a:avLst/>
          </a:prstGeom>
          <a:noFill/>
        </p:spPr>
        <p:txBody>
          <a:bodyPr wrap="square" lIns="13716" rIns="13716" tIns="13716" bIns="13716">
            <a:spAutoFit/>
          </a:bodyPr>
          <a:lstStyle/>
          <a:p>
            <a:pPr algn="l">
              <a:lnSpc>
                <a:spcPct val="108000"/>
              </a:lnSpc>
              <a:spcAft>
                <a:spcPts val="0"/>
              </a:spcAft>
            </a:pPr>
            <a:r>
              <a:rPr sz="2200" b="0">
                <a:solidFill>
                  <a:srgbClr val="152B39"/>
                </a:solidFill>
                <a:latin typeface="Aptos"/>
              </a:rPr>
              <a:t>LVS</a:t>
            </a:r>
          </a:p>
          <a:p>
            <a:pPr algn="l">
              <a:lnSpc>
                <a:spcPct val="108000"/>
              </a:lnSpc>
              <a:spcAft>
                <a:spcPts val="0"/>
              </a:spcAft>
            </a:pPr>
            <a:r>
              <a:rPr sz="2200" b="0">
                <a:solidFill>
                  <a:srgbClr val="152B39"/>
                </a:solidFill>
                <a:latin typeface="Aptos"/>
              </a:rPr>
              <a:t>Same connections?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RUN THE SAME FUNCTIONAL TESTS ON GATES</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08</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Check the synthesised circuit too</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16</a:t>
            </a:r>
          </a:p>
        </p:txBody>
      </p:sp>
      <p:sp>
        <p:nvSpPr>
          <p:cNvPr id="8" name="Rectangle 7"/>
          <p:cNvSpPr/>
          <p:nvPr/>
        </p:nvSpPr>
        <p:spPr>
          <a:xfrm>
            <a:off x="758952" y="2788920"/>
            <a:ext cx="2962656" cy="137160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999232"/>
            <a:ext cx="2651760" cy="950976"/>
          </a:xfrm>
          <a:prstGeom prst="rect">
            <a:avLst/>
          </a:prstGeom>
          <a:noFill/>
        </p:spPr>
        <p:txBody>
          <a:bodyPr wrap="square" lIns="13716" rIns="13716" tIns="13716" bIns="13716">
            <a:spAutoFit/>
          </a:bodyPr>
          <a:lstStyle/>
          <a:p>
            <a:pPr algn="ctr">
              <a:lnSpc>
                <a:spcPct val="108000"/>
              </a:lnSpc>
              <a:spcAft>
                <a:spcPts val="0"/>
              </a:spcAft>
            </a:pPr>
            <a:r>
              <a:rPr sz="2600" b="1">
                <a:solidFill>
                  <a:srgbClr val="F8F4EB"/>
                </a:solidFill>
                <a:latin typeface="Aptos"/>
              </a:rPr>
              <a:t>One testbench</a:t>
            </a:r>
          </a:p>
          <a:p>
            <a:pPr algn="ctr">
              <a:lnSpc>
                <a:spcPct val="108000"/>
              </a:lnSpc>
              <a:spcAft>
                <a:spcPts val="0"/>
              </a:spcAft>
            </a:pPr>
            <a:r>
              <a:rPr sz="2600" b="1">
                <a:solidFill>
                  <a:srgbClr val="F8F4EB"/>
                </a:solidFill>
                <a:latin typeface="Aptos"/>
              </a:rPr>
              <a:t>Same outputs</a:t>
            </a:r>
          </a:p>
        </p:txBody>
      </p:sp>
      <p:cxnSp>
        <p:nvCxnSpPr>
          <p:cNvPr id="10" name="Connector 9"/>
          <p:cNvCxnSpPr/>
          <p:nvPr/>
        </p:nvCxnSpPr>
        <p:spPr>
          <a:xfrm flipV="1">
            <a:off x="3858768" y="2670048"/>
            <a:ext cx="1078992" cy="521208"/>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58768" y="3730752"/>
            <a:ext cx="1078992" cy="676656"/>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120640" y="2231136"/>
            <a:ext cx="5989320" cy="585216"/>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RTL: your Verilog description</a:t>
            </a:r>
          </a:p>
        </p:txBody>
      </p:sp>
      <p:sp>
        <p:nvSpPr>
          <p:cNvPr id="13" name="TextBox 12"/>
          <p:cNvSpPr txBox="1"/>
          <p:nvPr/>
        </p:nvSpPr>
        <p:spPr>
          <a:xfrm>
            <a:off x="5120640" y="2926080"/>
            <a:ext cx="5989320" cy="54864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0 → 1 → hold 1 → reset 0</a:t>
            </a:r>
          </a:p>
        </p:txBody>
      </p:sp>
      <p:sp>
        <p:nvSpPr>
          <p:cNvPr id="14" name="TextBox 13"/>
          <p:cNvSpPr txBox="1"/>
          <p:nvPr/>
        </p:nvSpPr>
        <p:spPr>
          <a:xfrm>
            <a:off x="5120640" y="4032504"/>
            <a:ext cx="5989320" cy="585216"/>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Gates: the mapped cell netlist</a:t>
            </a:r>
          </a:p>
        </p:txBody>
      </p:sp>
      <p:sp>
        <p:nvSpPr>
          <p:cNvPr id="15" name="TextBox 14"/>
          <p:cNvSpPr txBox="1"/>
          <p:nvPr/>
        </p:nvSpPr>
        <p:spPr>
          <a:xfrm>
            <a:off x="5120640" y="4727448"/>
            <a:ext cx="5989320" cy="54864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0 → 1 → hold 1 → reset 0</a:t>
            </a:r>
          </a:p>
        </p:txBody>
      </p:sp>
      <p:sp>
        <p:nvSpPr>
          <p:cNvPr id="16" name="Rectangle 15"/>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200" b="1">
                <a:solidFill>
                  <a:srgbClr val="007F83"/>
                </a:solidFill>
                <a:latin typeface="Aptos"/>
              </a:rPr>
              <a:t>In test/: make -B GATES=yes • needs gate_level_netlist.v and PDK_ROOT.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READ THE FIRST USEFUL ERROR</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A real first failure: empty project information</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17</a:t>
            </a:r>
          </a:p>
        </p:txBody>
      </p:sp>
      <p:sp>
        <p:nvSpPr>
          <p:cNvPr id="7" name="TextBox 6"/>
          <p:cNvSpPr txBox="1"/>
          <p:nvPr/>
        </p:nvSpPr>
        <p:spPr>
          <a:xfrm>
            <a:off x="758952" y="1920240"/>
            <a:ext cx="4974336"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F05B3E"/>
                </a:solidFill>
                <a:latin typeface="Aptos"/>
              </a:rPr>
              <a:t>BEFORE • TEMPLATE DEFAULTS</a:t>
            </a:r>
          </a:p>
        </p:txBody>
      </p:sp>
      <p:sp>
        <p:nvSpPr>
          <p:cNvPr id="8" name="Rectangle 7"/>
          <p:cNvSpPr/>
          <p:nvPr/>
        </p:nvSpPr>
        <p:spPr>
          <a:xfrm>
            <a:off x="758952" y="2414016"/>
            <a:ext cx="4992624" cy="1746504"/>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8952" y="2414016"/>
            <a:ext cx="73152" cy="1746504"/>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615184"/>
            <a:ext cx="4535424" cy="1362456"/>
          </a:xfrm>
          <a:prstGeom prst="rect">
            <a:avLst/>
          </a:prstGeom>
          <a:noFill/>
        </p:spPr>
        <p:txBody>
          <a:bodyPr wrap="square" lIns="13716" rIns="13716" tIns="13716" bIns="13716">
            <a:spAutoFit/>
          </a:bodyPr>
          <a:lstStyle/>
          <a:p>
            <a:pPr algn="l">
              <a:lnSpc>
                <a:spcPct val="115000"/>
              </a:lnSpc>
              <a:spcAft>
                <a:spcPts val="0"/>
              </a:spcAft>
            </a:pPr>
            <a:r>
              <a:rPr sz="2400" b="0">
                <a:solidFill>
                  <a:srgbClr val="F8F4EB"/>
                </a:solidFill>
                <a:latin typeface="Consolas"/>
              </a:rPr>
              <a:t>title: ""</a:t>
            </a:r>
          </a:p>
          <a:p>
            <a:pPr algn="l">
              <a:lnSpc>
                <a:spcPct val="115000"/>
              </a:lnSpc>
              <a:spcAft>
                <a:spcPts val="0"/>
              </a:spcAft>
            </a:pPr>
            <a:r>
              <a:rPr sz="2400" b="0">
                <a:solidFill>
                  <a:srgbClr val="F8F4EB"/>
                </a:solidFill>
                <a:latin typeface="Consolas"/>
              </a:rPr>
              <a:t>author: ""</a:t>
            </a:r>
          </a:p>
          <a:p>
            <a:pPr algn="l">
              <a:lnSpc>
                <a:spcPct val="115000"/>
              </a:lnSpc>
              <a:spcAft>
                <a:spcPts val="0"/>
              </a:spcAft>
            </a:pPr>
            <a:r>
              <a:rPr sz="2400" b="0">
                <a:solidFill>
                  <a:srgbClr val="F8F4EB"/>
                </a:solidFill>
                <a:latin typeface="Consolas"/>
              </a:rPr>
              <a:t>description: ""</a:t>
            </a:r>
          </a:p>
        </p:txBody>
      </p:sp>
      <p:sp>
        <p:nvSpPr>
          <p:cNvPr id="11" name="TextBox 10"/>
          <p:cNvSpPr txBox="1"/>
          <p:nvPr/>
        </p:nvSpPr>
        <p:spPr>
          <a:xfrm>
            <a:off x="6217920" y="1920240"/>
            <a:ext cx="5001768"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AFTER • DESCRIBE THE COUNTER</a:t>
            </a:r>
          </a:p>
        </p:txBody>
      </p:sp>
      <p:sp>
        <p:nvSpPr>
          <p:cNvPr id="12" name="Rectangle 11"/>
          <p:cNvSpPr/>
          <p:nvPr/>
        </p:nvSpPr>
        <p:spPr>
          <a:xfrm>
            <a:off x="6217920" y="2414016"/>
            <a:ext cx="5184648" cy="1746504"/>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2414016"/>
            <a:ext cx="73152" cy="1746504"/>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615184"/>
            <a:ext cx="4727448" cy="1362456"/>
          </a:xfrm>
          <a:prstGeom prst="rect">
            <a:avLst/>
          </a:prstGeom>
          <a:noFill/>
        </p:spPr>
        <p:txBody>
          <a:bodyPr wrap="square" lIns="13716" rIns="13716" tIns="13716" bIns="13716">
            <a:spAutoFit/>
          </a:bodyPr>
          <a:lstStyle/>
          <a:p>
            <a:pPr algn="l">
              <a:lnSpc>
                <a:spcPct val="115000"/>
              </a:lnSpc>
              <a:spcAft>
                <a:spcPts val="0"/>
              </a:spcAft>
            </a:pPr>
            <a:r>
              <a:rPr sz="2000" b="0">
                <a:solidFill>
                  <a:srgbClr val="F8F4EB"/>
                </a:solidFill>
                <a:latin typeface="Consolas"/>
              </a:rPr>
              <a:t>title: "8-bit counter"</a:t>
            </a:r>
          </a:p>
          <a:p>
            <a:pPr algn="l">
              <a:lnSpc>
                <a:spcPct val="115000"/>
              </a:lnSpc>
              <a:spcAft>
                <a:spcPts val="0"/>
              </a:spcAft>
            </a:pPr>
            <a:r>
              <a:rPr sz="2000" b="0">
                <a:solidFill>
                  <a:srgbClr val="F8F4EB"/>
                </a:solidFill>
                <a:latin typeface="Consolas"/>
              </a:rPr>
              <a:t>author: "Your name"</a:t>
            </a:r>
          </a:p>
          <a:p>
            <a:pPr algn="l">
              <a:lnSpc>
                <a:spcPct val="115000"/>
              </a:lnSpc>
              <a:spcAft>
                <a:spcPts val="0"/>
              </a:spcAft>
            </a:pPr>
            <a:r>
              <a:rPr sz="2000" b="0">
                <a:solidFill>
                  <a:srgbClr val="F8F4EB"/>
                </a:solidFill>
                <a:latin typeface="Consolas"/>
              </a:rPr>
              <a:t>description: "Count, hold, reset"</a:t>
            </a:r>
          </a:p>
        </p:txBody>
      </p:sp>
      <p:sp>
        <p:nvSpPr>
          <p:cNvPr id="15" name="TextBox 14"/>
          <p:cNvSpPr txBox="1"/>
          <p:nvPr/>
        </p:nvSpPr>
        <p:spPr>
          <a:xfrm>
            <a:off x="768096" y="4288536"/>
            <a:ext cx="10543032" cy="329184"/>
          </a:xfrm>
          <a:prstGeom prst="rect">
            <a:avLst/>
          </a:prstGeom>
          <a:noFill/>
        </p:spPr>
        <p:txBody>
          <a:bodyPr wrap="square" lIns="13716" rIns="13716" tIns="13716" bIns="13716">
            <a:spAutoFit/>
          </a:bodyPr>
          <a:lstStyle/>
          <a:p>
            <a:pPr algn="l">
              <a:lnSpc>
                <a:spcPct val="108000"/>
              </a:lnSpc>
              <a:spcAft>
                <a:spcPts val="0"/>
              </a:spcAft>
            </a:pPr>
            <a:r>
              <a:rPr sz="2000" b="0">
                <a:solidFill>
                  <a:srgbClr val="536974"/>
                </a:solidFill>
                <a:latin typeface="Aptos"/>
              </a:rPr>
              <a:t>YAML excerpts: these fields belong inside project:</a:t>
            </a:r>
          </a:p>
        </p:txBody>
      </p:sp>
      <p:sp>
        <p:nvSpPr>
          <p:cNvPr id="16" name="TextBox 15"/>
          <p:cNvSpPr txBox="1"/>
          <p:nvPr/>
        </p:nvSpPr>
        <p:spPr>
          <a:xfrm>
            <a:off x="768096" y="4700016"/>
            <a:ext cx="10543032" cy="676656"/>
          </a:xfrm>
          <a:prstGeom prst="rect">
            <a:avLst/>
          </a:prstGeom>
          <a:noFill/>
        </p:spPr>
        <p:txBody>
          <a:bodyPr wrap="square" lIns="13716" rIns="13716" tIns="13716" bIns="13716">
            <a:spAutoFit/>
          </a:bodyPr>
          <a:lstStyle/>
          <a:p>
            <a:pPr algn="l">
              <a:lnSpc>
                <a:spcPct val="108000"/>
              </a:lnSpc>
              <a:spcAft>
                <a:spcPts val="0"/>
              </a:spcAft>
            </a:pPr>
            <a:r>
              <a:rPr sz="3000" b="1">
                <a:solidFill>
                  <a:srgbClr val="152B39"/>
                </a:solidFill>
                <a:latin typeface="Aptos"/>
              </a:rPr>
              <a:t>Fix one cause → commit → rerun → read the new result.</a:t>
            </a:r>
          </a:p>
        </p:txBody>
      </p:sp>
      <p:sp>
        <p:nvSpPr>
          <p:cNvPr id="17" name="TextBox 16"/>
          <p:cNvSpPr txBox="1"/>
          <p:nvPr/>
        </p:nvSpPr>
        <p:spPr>
          <a:xfrm>
            <a:off x="768096" y="5468112"/>
            <a:ext cx="10543032" cy="713232"/>
          </a:xfrm>
          <a:prstGeom prst="rect">
            <a:avLst/>
          </a:prstGeom>
          <a:noFill/>
        </p:spPr>
        <p:txBody>
          <a:bodyPr wrap="square" lIns="13716" rIns="13716" tIns="13716" bIns="13716">
            <a:spAutoFit/>
          </a:bodyPr>
          <a:lstStyle/>
          <a:p>
            <a:pPr algn="l">
              <a:lnSpc>
                <a:spcPct val="108000"/>
              </a:lnSpc>
              <a:spcAft>
                <a:spcPts val="0"/>
              </a:spcAft>
            </a:pPr>
            <a:r>
              <a:rPr sz="2200" b="0">
                <a:solidFill>
                  <a:srgbClr val="536974"/>
                </a:solidFill>
                <a:latin typeface="Aptos"/>
              </a:rPr>
              <a:t>Then check: top name • source files • assertions • tile area • timing.</a:t>
            </a:r>
          </a:p>
          <a:p>
            <a:pPr algn="l">
              <a:lnSpc>
                <a:spcPct val="108000"/>
              </a:lnSpc>
              <a:spcAft>
                <a:spcPts val="0"/>
              </a:spcAft>
            </a:pPr>
            <a:r>
              <a:rPr sz="2200" b="0">
                <a:solidFill>
                  <a:srgbClr val="536974"/>
                </a:solidFill>
                <a:latin typeface="Aptos"/>
              </a:rPr>
              <a:t>No counter assertion failed; this genuine example is a metadata error.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EXPLAINED ONLY • NO RESERVATION OR PAYMENT</a:t>
            </a:r>
          </a:p>
        </p:txBody>
      </p:sp>
      <p:sp>
        <p:nvSpPr>
          <p:cNvPr id="3" name="TextBox 2"/>
          <p:cNvSpPr txBox="1"/>
          <p:nvPr/>
        </p:nvSpPr>
        <p:spPr>
          <a:xfrm>
            <a:off x="512064" y="694944"/>
            <a:ext cx="1078992" cy="914400"/>
          </a:xfrm>
          <a:prstGeom prst="rect">
            <a:avLst/>
          </a:prstGeom>
          <a:noFill/>
        </p:spPr>
        <p:txBody>
          <a:bodyPr wrap="square" lIns="13716" rIns="13716" tIns="13716" bIns="13716">
            <a:spAutoFit/>
          </a:bodyPr>
          <a:lstStyle/>
          <a:p>
            <a:pPr algn="l">
              <a:lnSpc>
                <a:spcPct val="108000"/>
              </a:lnSpc>
              <a:spcAft>
                <a:spcPts val="0"/>
              </a:spcAft>
            </a:pPr>
            <a:r>
              <a:rPr sz="7000" b="1">
                <a:solidFill>
                  <a:srgbClr val="F05B3E"/>
                </a:solidFill>
                <a:latin typeface="Aptos Display"/>
              </a:rPr>
              <a:t>09</a:t>
            </a:r>
          </a:p>
        </p:txBody>
      </p:sp>
      <p:sp>
        <p:nvSpPr>
          <p:cNvPr id="4" name="TextBox 3"/>
          <p:cNvSpPr txBox="1"/>
          <p:nvPr/>
        </p:nvSpPr>
        <p:spPr>
          <a:xfrm>
            <a:off x="1810512" y="777240"/>
            <a:ext cx="9765792" cy="1005840"/>
          </a:xfrm>
          <a:prstGeom prst="rect">
            <a:avLst/>
          </a:prstGeom>
          <a:noFill/>
        </p:spPr>
        <p:txBody>
          <a:bodyPr wrap="square" lIns="13716" rIns="13716" tIns="13716" bIns="13716">
            <a:spAutoFit/>
          </a:bodyPr>
          <a:lstStyle/>
          <a:p>
            <a:pPr algn="l">
              <a:lnSpc>
                <a:spcPct val="108000"/>
              </a:lnSpc>
              <a:spcAft>
                <a:spcPts val="0"/>
              </a:spcAft>
            </a:pPr>
            <a:r>
              <a:rPr sz="4000" b="1">
                <a:solidFill>
                  <a:srgbClr val="152B39"/>
                </a:solidFill>
                <a:latin typeface="Aptos Display"/>
              </a:rPr>
              <a:t>Choose the revision for fabrication</a:t>
            </a:r>
          </a:p>
        </p:txBody>
      </p:sp>
      <p:sp>
        <p:nvSpPr>
          <p:cNvPr id="5" name="Rectangle 4"/>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7" name="TextBox 6"/>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18</a:t>
            </a:r>
          </a:p>
        </p:txBody>
      </p:sp>
      <p:sp>
        <p:nvSpPr>
          <p:cNvPr id="8" name="Oval 7"/>
          <p:cNvSpPr/>
          <p:nvPr/>
        </p:nvSpPr>
        <p:spPr>
          <a:xfrm>
            <a:off x="758952" y="2103120"/>
            <a:ext cx="493776" cy="493776"/>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157984"/>
            <a:ext cx="365760" cy="320040"/>
          </a:xfrm>
          <a:prstGeom prst="rect">
            <a:avLst/>
          </a:prstGeom>
          <a:noFill/>
        </p:spPr>
        <p:txBody>
          <a:bodyPr wrap="square" lIns="13716" rIns="13716" tIns="13716" bIns="13716">
            <a:spAutoFit/>
          </a:bodyPr>
          <a:lstStyle/>
          <a:p>
            <a:pPr algn="ctr">
              <a:lnSpc>
                <a:spcPct val="108000"/>
              </a:lnSpc>
              <a:spcAft>
                <a:spcPts val="0"/>
              </a:spcAft>
            </a:pPr>
            <a:r>
              <a:rPr sz="2200" b="1">
                <a:solidFill>
                  <a:srgbClr val="F8F4EB"/>
                </a:solidFill>
                <a:latin typeface="Aptos"/>
              </a:rPr>
              <a:t>1</a:t>
            </a:r>
          </a:p>
        </p:txBody>
      </p:sp>
      <p:sp>
        <p:nvSpPr>
          <p:cNvPr id="10" name="TextBox 9"/>
          <p:cNvSpPr txBox="1"/>
          <p:nvPr/>
        </p:nvSpPr>
        <p:spPr>
          <a:xfrm>
            <a:off x="758952" y="2852928"/>
            <a:ext cx="1920240" cy="914400"/>
          </a:xfrm>
          <a:prstGeom prst="rect">
            <a:avLst/>
          </a:prstGeom>
          <a:noFill/>
        </p:spPr>
        <p:txBody>
          <a:bodyPr wrap="square" lIns="13716" rIns="13716" tIns="13716" bIns="13716">
            <a:spAutoFit/>
          </a:bodyPr>
          <a:lstStyle/>
          <a:p>
            <a:pPr algn="l">
              <a:lnSpc>
                <a:spcPct val="108000"/>
              </a:lnSpc>
              <a:spcAft>
                <a:spcPts val="0"/>
              </a:spcAft>
            </a:pPr>
            <a:r>
              <a:rPr sz="2800" b="1">
                <a:solidFill>
                  <a:srgbClr val="152B39"/>
                </a:solidFill>
                <a:latin typeface="Aptos"/>
              </a:rPr>
              <a:t>Sign in</a:t>
            </a:r>
          </a:p>
        </p:txBody>
      </p:sp>
      <p:sp>
        <p:nvSpPr>
          <p:cNvPr id="11" name="TextBox 10"/>
          <p:cNvSpPr txBox="1"/>
          <p:nvPr/>
        </p:nvSpPr>
        <p:spPr>
          <a:xfrm>
            <a:off x="758952" y="3950208"/>
            <a:ext cx="1938528" cy="109728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GitHub account</a:t>
            </a:r>
          </a:p>
        </p:txBody>
      </p:sp>
      <p:cxnSp>
        <p:nvCxnSpPr>
          <p:cNvPr id="12" name="Connector 11"/>
          <p:cNvCxnSpPr/>
          <p:nvPr/>
        </p:nvCxnSpPr>
        <p:spPr>
          <a:xfrm>
            <a:off x="1316736" y="2350008"/>
            <a:ext cx="158191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44952" y="2103120"/>
            <a:ext cx="493776" cy="493776"/>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157984"/>
            <a:ext cx="365760" cy="320040"/>
          </a:xfrm>
          <a:prstGeom prst="rect">
            <a:avLst/>
          </a:prstGeom>
          <a:noFill/>
        </p:spPr>
        <p:txBody>
          <a:bodyPr wrap="square" lIns="13716" rIns="13716" tIns="13716" bIns="13716">
            <a:spAutoFit/>
          </a:bodyPr>
          <a:lstStyle/>
          <a:p>
            <a:pPr algn="ctr">
              <a:lnSpc>
                <a:spcPct val="108000"/>
              </a:lnSpc>
              <a:spcAft>
                <a:spcPts val="0"/>
              </a:spcAft>
            </a:pPr>
            <a:r>
              <a:rPr sz="2200" b="1">
                <a:solidFill>
                  <a:srgbClr val="F8F4EB"/>
                </a:solidFill>
                <a:latin typeface="Aptos"/>
              </a:rPr>
              <a:t>2</a:t>
            </a:r>
          </a:p>
        </p:txBody>
      </p:sp>
      <p:sp>
        <p:nvSpPr>
          <p:cNvPr id="15" name="TextBox 14"/>
          <p:cNvSpPr txBox="1"/>
          <p:nvPr/>
        </p:nvSpPr>
        <p:spPr>
          <a:xfrm>
            <a:off x="3044952" y="2852928"/>
            <a:ext cx="1920240" cy="914400"/>
          </a:xfrm>
          <a:prstGeom prst="rect">
            <a:avLst/>
          </a:prstGeom>
          <a:noFill/>
        </p:spPr>
        <p:txBody>
          <a:bodyPr wrap="square" lIns="13716" rIns="13716" tIns="13716" bIns="13716">
            <a:spAutoFit/>
          </a:bodyPr>
          <a:lstStyle/>
          <a:p>
            <a:pPr algn="l">
              <a:lnSpc>
                <a:spcPct val="108000"/>
              </a:lnSpc>
              <a:spcAft>
                <a:spcPts val="0"/>
              </a:spcAft>
            </a:pPr>
            <a:r>
              <a:rPr sz="2800" b="1">
                <a:solidFill>
                  <a:srgbClr val="152B39"/>
                </a:solidFill>
                <a:latin typeface="Aptos"/>
              </a:rPr>
              <a:t>Choose shuttle</a:t>
            </a:r>
          </a:p>
        </p:txBody>
      </p:sp>
      <p:sp>
        <p:nvSpPr>
          <p:cNvPr id="16" name="TextBox 15"/>
          <p:cNvSpPr txBox="1"/>
          <p:nvPr/>
        </p:nvSpPr>
        <p:spPr>
          <a:xfrm>
            <a:off x="3044952" y="3950208"/>
            <a:ext cx="1938528" cy="109728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Correct fab</a:t>
            </a:r>
          </a:p>
        </p:txBody>
      </p:sp>
      <p:cxnSp>
        <p:nvCxnSpPr>
          <p:cNvPr id="17" name="Connector 16"/>
          <p:cNvCxnSpPr/>
          <p:nvPr/>
        </p:nvCxnSpPr>
        <p:spPr>
          <a:xfrm>
            <a:off x="3602736" y="2350008"/>
            <a:ext cx="158191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330952" y="2103120"/>
            <a:ext cx="493776" cy="493776"/>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94960" y="2157984"/>
            <a:ext cx="365760" cy="320040"/>
          </a:xfrm>
          <a:prstGeom prst="rect">
            <a:avLst/>
          </a:prstGeom>
          <a:noFill/>
        </p:spPr>
        <p:txBody>
          <a:bodyPr wrap="square" lIns="13716" rIns="13716" tIns="13716" bIns="13716">
            <a:spAutoFit/>
          </a:bodyPr>
          <a:lstStyle/>
          <a:p>
            <a:pPr algn="ctr">
              <a:lnSpc>
                <a:spcPct val="108000"/>
              </a:lnSpc>
              <a:spcAft>
                <a:spcPts val="0"/>
              </a:spcAft>
            </a:pPr>
            <a:r>
              <a:rPr sz="2200" b="1">
                <a:solidFill>
                  <a:srgbClr val="F8F4EB"/>
                </a:solidFill>
                <a:latin typeface="Aptos"/>
              </a:rPr>
              <a:t>3</a:t>
            </a:r>
          </a:p>
        </p:txBody>
      </p:sp>
      <p:sp>
        <p:nvSpPr>
          <p:cNvPr id="20" name="TextBox 19"/>
          <p:cNvSpPr txBox="1"/>
          <p:nvPr/>
        </p:nvSpPr>
        <p:spPr>
          <a:xfrm>
            <a:off x="5330952" y="2852928"/>
            <a:ext cx="1920240" cy="914400"/>
          </a:xfrm>
          <a:prstGeom prst="rect">
            <a:avLst/>
          </a:prstGeom>
          <a:noFill/>
        </p:spPr>
        <p:txBody>
          <a:bodyPr wrap="square" lIns="13716" rIns="13716" tIns="13716" bIns="13716">
            <a:spAutoFit/>
          </a:bodyPr>
          <a:lstStyle/>
          <a:p>
            <a:pPr algn="l">
              <a:lnSpc>
                <a:spcPct val="108000"/>
              </a:lnSpc>
              <a:spcAft>
                <a:spcPts val="0"/>
              </a:spcAft>
            </a:pPr>
            <a:r>
              <a:rPr sz="2800" b="1">
                <a:solidFill>
                  <a:srgbClr val="152B39"/>
                </a:solidFill>
                <a:latin typeface="Aptos"/>
              </a:rPr>
              <a:t>Add repo</a:t>
            </a:r>
          </a:p>
        </p:txBody>
      </p:sp>
      <p:sp>
        <p:nvSpPr>
          <p:cNvPr id="21" name="TextBox 20"/>
          <p:cNvSpPr txBox="1"/>
          <p:nvPr/>
        </p:nvSpPr>
        <p:spPr>
          <a:xfrm>
            <a:off x="5330952" y="3950208"/>
            <a:ext cx="1938528" cy="109728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Public source</a:t>
            </a:r>
          </a:p>
        </p:txBody>
      </p:sp>
      <p:cxnSp>
        <p:nvCxnSpPr>
          <p:cNvPr id="22" name="Connector 21"/>
          <p:cNvCxnSpPr/>
          <p:nvPr/>
        </p:nvCxnSpPr>
        <p:spPr>
          <a:xfrm>
            <a:off x="5888736" y="2350008"/>
            <a:ext cx="158191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616952" y="2103120"/>
            <a:ext cx="493776" cy="493776"/>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2157984"/>
            <a:ext cx="365760" cy="320040"/>
          </a:xfrm>
          <a:prstGeom prst="rect">
            <a:avLst/>
          </a:prstGeom>
          <a:noFill/>
        </p:spPr>
        <p:txBody>
          <a:bodyPr wrap="square" lIns="13716" rIns="13716" tIns="13716" bIns="13716">
            <a:spAutoFit/>
          </a:bodyPr>
          <a:lstStyle/>
          <a:p>
            <a:pPr algn="ctr">
              <a:lnSpc>
                <a:spcPct val="108000"/>
              </a:lnSpc>
              <a:spcAft>
                <a:spcPts val="0"/>
              </a:spcAft>
            </a:pPr>
            <a:r>
              <a:rPr sz="2200" b="1">
                <a:solidFill>
                  <a:srgbClr val="F8F4EB"/>
                </a:solidFill>
                <a:latin typeface="Aptos"/>
              </a:rPr>
              <a:t>4</a:t>
            </a:r>
          </a:p>
        </p:txBody>
      </p:sp>
      <p:sp>
        <p:nvSpPr>
          <p:cNvPr id="25" name="TextBox 24"/>
          <p:cNvSpPr txBox="1"/>
          <p:nvPr/>
        </p:nvSpPr>
        <p:spPr>
          <a:xfrm>
            <a:off x="7616952" y="2852928"/>
            <a:ext cx="1920240" cy="914400"/>
          </a:xfrm>
          <a:prstGeom prst="rect">
            <a:avLst/>
          </a:prstGeom>
          <a:noFill/>
        </p:spPr>
        <p:txBody>
          <a:bodyPr wrap="square" lIns="13716" rIns="13716" tIns="13716" bIns="13716">
            <a:spAutoFit/>
          </a:bodyPr>
          <a:lstStyle/>
          <a:p>
            <a:pPr algn="l">
              <a:lnSpc>
                <a:spcPct val="108000"/>
              </a:lnSpc>
              <a:spcAft>
                <a:spcPts val="0"/>
              </a:spcAft>
            </a:pPr>
            <a:r>
              <a:rPr sz="2800" b="1">
                <a:solidFill>
                  <a:srgbClr val="152B39"/>
                </a:solidFill>
                <a:latin typeface="Aptos"/>
              </a:rPr>
              <a:t>Review price</a:t>
            </a:r>
          </a:p>
        </p:txBody>
      </p:sp>
      <p:sp>
        <p:nvSpPr>
          <p:cNvPr id="26" name="TextBox 25"/>
          <p:cNvSpPr txBox="1"/>
          <p:nvPr/>
        </p:nvSpPr>
        <p:spPr>
          <a:xfrm>
            <a:off x="7616952" y="3950208"/>
            <a:ext cx="1938528" cy="109728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Payment / coupon</a:t>
            </a:r>
          </a:p>
        </p:txBody>
      </p:sp>
      <p:cxnSp>
        <p:nvCxnSpPr>
          <p:cNvPr id="27" name="Connector 26"/>
          <p:cNvCxnSpPr/>
          <p:nvPr/>
        </p:nvCxnSpPr>
        <p:spPr>
          <a:xfrm>
            <a:off x="8174736" y="2350008"/>
            <a:ext cx="158191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9902952" y="2103120"/>
            <a:ext cx="493776" cy="493776"/>
          </a:xfrm>
          <a:prstGeom prst="ellipse">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66960" y="2157984"/>
            <a:ext cx="365760" cy="320040"/>
          </a:xfrm>
          <a:prstGeom prst="rect">
            <a:avLst/>
          </a:prstGeom>
          <a:noFill/>
        </p:spPr>
        <p:txBody>
          <a:bodyPr wrap="square" lIns="13716" rIns="13716" tIns="13716" bIns="13716">
            <a:spAutoFit/>
          </a:bodyPr>
          <a:lstStyle/>
          <a:p>
            <a:pPr algn="ctr">
              <a:lnSpc>
                <a:spcPct val="108000"/>
              </a:lnSpc>
              <a:spcAft>
                <a:spcPts val="0"/>
              </a:spcAft>
            </a:pPr>
            <a:r>
              <a:rPr sz="2200" b="1">
                <a:solidFill>
                  <a:srgbClr val="F8F4EB"/>
                </a:solidFill>
                <a:latin typeface="Aptos"/>
              </a:rPr>
              <a:t>5</a:t>
            </a:r>
          </a:p>
        </p:txBody>
      </p:sp>
      <p:sp>
        <p:nvSpPr>
          <p:cNvPr id="30" name="TextBox 29"/>
          <p:cNvSpPr txBox="1"/>
          <p:nvPr/>
        </p:nvSpPr>
        <p:spPr>
          <a:xfrm>
            <a:off x="9902952" y="2852928"/>
            <a:ext cx="1920240" cy="914400"/>
          </a:xfrm>
          <a:prstGeom prst="rect">
            <a:avLst/>
          </a:prstGeom>
          <a:noFill/>
        </p:spPr>
        <p:txBody>
          <a:bodyPr wrap="square" lIns="13716" rIns="13716" tIns="13716" bIns="13716">
            <a:spAutoFit/>
          </a:bodyPr>
          <a:lstStyle/>
          <a:p>
            <a:pPr algn="l">
              <a:lnSpc>
                <a:spcPct val="108000"/>
              </a:lnSpc>
              <a:spcAft>
                <a:spcPts val="0"/>
              </a:spcAft>
            </a:pPr>
            <a:r>
              <a:rPr sz="2800" b="1">
                <a:solidFill>
                  <a:srgbClr val="152B39"/>
                </a:solidFill>
                <a:latin typeface="Aptos"/>
              </a:rPr>
              <a:t>Submit revision</a:t>
            </a:r>
          </a:p>
        </p:txBody>
      </p:sp>
      <p:sp>
        <p:nvSpPr>
          <p:cNvPr id="31" name="TextBox 30"/>
          <p:cNvSpPr txBox="1"/>
          <p:nvPr/>
        </p:nvSpPr>
        <p:spPr>
          <a:xfrm>
            <a:off x="9902952" y="3950208"/>
            <a:ext cx="1938528" cy="1097280"/>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Verified commit</a:t>
            </a:r>
          </a:p>
        </p:txBody>
      </p:sp>
      <p:sp>
        <p:nvSpPr>
          <p:cNvPr id="32" name="Rectangle 31"/>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A new GitHub push needs a new submitted revision before the deadline.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AFTER FABRICATION • CHOOSE YOUR TILE</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On the board, test the same behaviour</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19</a:t>
            </a:r>
          </a:p>
        </p:txBody>
      </p:sp>
      <p:sp>
        <p:nvSpPr>
          <p:cNvPr id="7" name="Rectangle 6"/>
          <p:cNvSpPr/>
          <p:nvPr/>
        </p:nvSpPr>
        <p:spPr>
          <a:xfrm>
            <a:off x="758952" y="1901952"/>
            <a:ext cx="6428232" cy="3749039"/>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42415" y="2258568"/>
            <a:ext cx="2322576" cy="1069848"/>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1288" y="2478024"/>
            <a:ext cx="2084831" cy="649224"/>
          </a:xfrm>
          <a:prstGeom prst="rect">
            <a:avLst/>
          </a:prstGeom>
          <a:noFill/>
        </p:spPr>
        <p:txBody>
          <a:bodyPr wrap="square" lIns="13716" rIns="13716" tIns="13716" bIns="13716">
            <a:spAutoFit/>
          </a:bodyPr>
          <a:lstStyle/>
          <a:p>
            <a:pPr algn="ctr">
              <a:lnSpc>
                <a:spcPct val="108000"/>
              </a:lnSpc>
              <a:spcAft>
                <a:spcPts val="0"/>
              </a:spcAft>
            </a:pPr>
            <a:r>
              <a:rPr sz="2800" b="1">
                <a:solidFill>
                  <a:srgbClr val="F8F4EB"/>
                </a:solidFill>
                <a:latin typeface="Aptos"/>
              </a:rPr>
              <a:t>Controller</a:t>
            </a:r>
          </a:p>
        </p:txBody>
      </p:sp>
      <p:sp>
        <p:nvSpPr>
          <p:cNvPr id="10" name="Rectangle 9"/>
          <p:cNvSpPr/>
          <p:nvPr/>
        </p:nvSpPr>
        <p:spPr>
          <a:xfrm>
            <a:off x="4434840" y="2258568"/>
            <a:ext cx="2322576" cy="1069848"/>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478024"/>
            <a:ext cx="2084831" cy="649224"/>
          </a:xfrm>
          <a:prstGeom prst="rect">
            <a:avLst/>
          </a:prstGeom>
          <a:noFill/>
        </p:spPr>
        <p:txBody>
          <a:bodyPr wrap="square" lIns="13716" rIns="13716" tIns="13716" bIns="13716">
            <a:spAutoFit/>
          </a:bodyPr>
          <a:lstStyle/>
          <a:p>
            <a:pPr algn="ctr">
              <a:lnSpc>
                <a:spcPct val="108000"/>
              </a:lnSpc>
              <a:spcAft>
                <a:spcPts val="0"/>
              </a:spcAft>
            </a:pPr>
            <a:r>
              <a:rPr sz="2800" b="1">
                <a:solidFill>
                  <a:srgbClr val="F8F4EB"/>
                </a:solidFill>
                <a:latin typeface="Aptos"/>
              </a:rPr>
              <a:t>ASIC tile</a:t>
            </a:r>
          </a:p>
        </p:txBody>
      </p:sp>
      <p:cxnSp>
        <p:nvCxnSpPr>
          <p:cNvPr id="12" name="Connector 11"/>
          <p:cNvCxnSpPr/>
          <p:nvPr/>
        </p:nvCxnSpPr>
        <p:spPr>
          <a:xfrm>
            <a:off x="3493008" y="2761488"/>
            <a:ext cx="804672"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24128" y="3758184"/>
            <a:ext cx="2377440" cy="658368"/>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Switch / PMOD</a:t>
            </a:r>
          </a:p>
          <a:p>
            <a:pPr algn="l">
              <a:lnSpc>
                <a:spcPct val="108000"/>
              </a:lnSpc>
              <a:spcAft>
                <a:spcPts val="0"/>
              </a:spcAft>
            </a:pPr>
            <a:r>
              <a:rPr sz="2400" b="0">
                <a:solidFill>
                  <a:srgbClr val="152B39"/>
                </a:solidFill>
                <a:latin typeface="Aptos"/>
              </a:rPr>
              <a:t>Inputs</a:t>
            </a:r>
          </a:p>
        </p:txBody>
      </p:sp>
      <p:sp>
        <p:nvSpPr>
          <p:cNvPr id="14" name="TextBox 13"/>
          <p:cNvSpPr txBox="1"/>
          <p:nvPr/>
        </p:nvSpPr>
        <p:spPr>
          <a:xfrm>
            <a:off x="4416552" y="3758184"/>
            <a:ext cx="2377440" cy="1042415"/>
          </a:xfrm>
          <a:prstGeom prst="rect">
            <a:avLst/>
          </a:prstGeom>
          <a:noFill/>
        </p:spPr>
        <p:txBody>
          <a:bodyPr wrap="square" lIns="13716" rIns="13716" tIns="13716" bIns="13716">
            <a:spAutoFit/>
          </a:bodyPr>
          <a:lstStyle/>
          <a:p>
            <a:pPr algn="l">
              <a:lnSpc>
                <a:spcPct val="108000"/>
              </a:lnSpc>
              <a:spcAft>
                <a:spcPts val="0"/>
              </a:spcAft>
            </a:pPr>
            <a:r>
              <a:rPr sz="2400" b="0">
                <a:solidFill>
                  <a:srgbClr val="152B39"/>
                </a:solidFill>
                <a:latin typeface="Aptos"/>
              </a:rPr>
              <a:t>Binary pins</a:t>
            </a:r>
          </a:p>
          <a:p>
            <a:pPr algn="l">
              <a:lnSpc>
                <a:spcPct val="108000"/>
              </a:lnSpc>
              <a:spcAft>
                <a:spcPts val="0"/>
              </a:spcAft>
            </a:pPr>
            <a:r>
              <a:rPr sz="2400" b="0">
                <a:solidFill>
                  <a:srgbClr val="152B39"/>
                </a:solidFill>
                <a:latin typeface="Aptos"/>
              </a:rPr>
              <a:t>Read back count</a:t>
            </a:r>
          </a:p>
        </p:txBody>
      </p:sp>
      <p:cxnSp>
        <p:nvCxnSpPr>
          <p:cNvPr id="15" name="Connector 14"/>
          <p:cNvCxnSpPr/>
          <p:nvPr/>
        </p:nvCxnSpPr>
        <p:spPr>
          <a:xfrm flipV="1">
            <a:off x="3118104" y="3081528"/>
            <a:ext cx="1234440" cy="795528"/>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96128" y="3493008"/>
            <a:ext cx="0" cy="164592"/>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24128" y="4855464"/>
            <a:ext cx="5751576" cy="512064"/>
          </a:xfrm>
          <a:prstGeom prst="rect">
            <a:avLst/>
          </a:prstGeom>
          <a:noFill/>
        </p:spPr>
        <p:txBody>
          <a:bodyPr wrap="square" lIns="13716" rIns="13716" tIns="13716" bIns="13716">
            <a:spAutoFit/>
          </a:bodyPr>
          <a:lstStyle/>
          <a:p>
            <a:pPr algn="l">
              <a:lnSpc>
                <a:spcPct val="108000"/>
              </a:lnSpc>
              <a:spcAft>
                <a:spcPts val="0"/>
              </a:spcAft>
            </a:pPr>
            <a:r>
              <a:rPr sz="2000" b="0">
                <a:solidFill>
                  <a:srgbClr val="536974"/>
                </a:solidFill>
                <a:latin typeface="Aptos"/>
              </a:rPr>
              <a:t>No seven-segment decoder is included.</a:t>
            </a:r>
          </a:p>
        </p:txBody>
      </p:sp>
      <p:sp>
        <p:nvSpPr>
          <p:cNvPr id="18" name="TextBox 17"/>
          <p:cNvSpPr txBox="1"/>
          <p:nvPr/>
        </p:nvSpPr>
        <p:spPr>
          <a:xfrm>
            <a:off x="7790688" y="2057400"/>
            <a:ext cx="3621024" cy="3602736"/>
          </a:xfrm>
          <a:prstGeom prst="rect">
            <a:avLst/>
          </a:prstGeom>
          <a:noFill/>
        </p:spPr>
        <p:txBody>
          <a:bodyPr wrap="square" lIns="13716" rIns="13716" tIns="13716" bIns="13716">
            <a:spAutoFit/>
          </a:bodyPr>
          <a:lstStyle/>
          <a:p>
            <a:pPr algn="l">
              <a:lnSpc>
                <a:spcPct val="128000"/>
              </a:lnSpc>
              <a:spcAft>
                <a:spcPts val="0"/>
              </a:spcAft>
            </a:pPr>
            <a:r>
              <a:rPr sz="2400" b="0">
                <a:solidFill>
                  <a:srgbClr val="152B39"/>
                </a:solidFill>
                <a:latin typeface="Aptos"/>
              </a:rPr>
              <a:t>Select your project.</a:t>
            </a:r>
          </a:p>
          <a:p>
            <a:pPr algn="l">
              <a:lnSpc>
                <a:spcPct val="128000"/>
              </a:lnSpc>
              <a:spcAft>
                <a:spcPts val="0"/>
              </a:spcAft>
            </a:pPr>
            <a:r>
              <a:rPr sz="2400" b="0">
                <a:solidFill>
                  <a:srgbClr val="152B39"/>
                </a:solidFill>
                <a:latin typeface="Aptos"/>
              </a:rPr>
              <a:t>Set a slow clock.</a:t>
            </a:r>
          </a:p>
          <a:p>
            <a:pPr algn="l">
              <a:lnSpc>
                <a:spcPct val="128000"/>
              </a:lnSpc>
              <a:spcAft>
                <a:spcPts val="0"/>
              </a:spcAft>
            </a:pPr>
            <a:r>
              <a:rPr sz="2400" b="0">
                <a:solidFill>
                  <a:srgbClr val="152B39"/>
                </a:solidFill>
                <a:latin typeface="Aptos"/>
              </a:rPr>
              <a:t>rst_n = 0 until ↑clk:</a:t>
            </a:r>
          </a:p>
          <a:p>
            <a:pPr algn="l">
              <a:lnSpc>
                <a:spcPct val="128000"/>
              </a:lnSpc>
              <a:spcAft>
                <a:spcPts val="0"/>
              </a:spcAft>
            </a:pPr>
            <a:r>
              <a:rPr sz="2400" b="0">
                <a:solidFill>
                  <a:srgbClr val="152B39"/>
                </a:solidFill>
                <a:latin typeface="Aptos"/>
              </a:rPr>
              <a:t>count becomes 0.</a:t>
            </a:r>
          </a:p>
          <a:p>
            <a:pPr algn="l">
              <a:lnSpc>
                <a:spcPct val="128000"/>
              </a:lnSpc>
              <a:spcAft>
                <a:spcPts val="0"/>
              </a:spcAft>
            </a:pPr>
            <a:r>
              <a:rPr sz="2400" b="0">
                <a:solidFill>
                  <a:srgbClr val="152B39"/>
                </a:solidFill>
                <a:latin typeface="Aptos"/>
              </a:rPr>
              <a:t>Enable: 0 → 1 → 2.</a:t>
            </a:r>
          </a:p>
          <a:p>
            <a:pPr algn="l">
              <a:lnSpc>
                <a:spcPct val="128000"/>
              </a:lnSpc>
              <a:spcAft>
                <a:spcPts val="0"/>
              </a:spcAft>
            </a:pPr>
            <a:r>
              <a:rPr sz="2400" b="0">
                <a:solidFill>
                  <a:srgbClr val="152B39"/>
                </a:solidFill>
                <a:latin typeface="Aptos"/>
              </a:rPr>
              <a:t>Disable: count holds.</a:t>
            </a:r>
          </a:p>
        </p:txBody>
      </p:sp>
      <p:sp>
        <p:nvSpPr>
          <p:cNvPr id="19" name="Rectangle 18"/>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Synchronous enable assumed: synchronise and debounce a real switch.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YOUR SIX CHECKPOINTS</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Show your evidence before a submission review</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20</a:t>
            </a:r>
          </a:p>
        </p:txBody>
      </p:sp>
      <p:sp>
        <p:nvSpPr>
          <p:cNvPr id="7" name="Oval 6"/>
          <p:cNvSpPr/>
          <p:nvPr/>
        </p:nvSpPr>
        <p:spPr>
          <a:xfrm>
            <a:off x="768096" y="1920240"/>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07592" y="1883664"/>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Behaviour and pins are written down.</a:t>
            </a:r>
          </a:p>
        </p:txBody>
      </p:sp>
      <p:sp>
        <p:nvSpPr>
          <p:cNvPr id="9" name="Rectangle 8"/>
          <p:cNvSpPr/>
          <p:nvPr/>
        </p:nvSpPr>
        <p:spPr>
          <a:xfrm>
            <a:off x="1307592" y="2423160"/>
            <a:ext cx="99852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2578608"/>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7592" y="2542032"/>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RTL, metadata and test setup agree.</a:t>
            </a:r>
          </a:p>
        </p:txBody>
      </p:sp>
      <p:sp>
        <p:nvSpPr>
          <p:cNvPr id="12" name="Rectangle 11"/>
          <p:cNvSpPr/>
          <p:nvPr/>
        </p:nvSpPr>
        <p:spPr>
          <a:xfrm>
            <a:off x="1307592" y="3081528"/>
            <a:ext cx="99852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68096" y="3236976"/>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07592" y="3200400"/>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Reset, count, hold and wrap tests pass.</a:t>
            </a:r>
          </a:p>
        </p:txBody>
      </p:sp>
      <p:sp>
        <p:nvSpPr>
          <p:cNvPr id="15" name="Rectangle 14"/>
          <p:cNvSpPr/>
          <p:nvPr/>
        </p:nvSpPr>
        <p:spPr>
          <a:xfrm>
            <a:off x="1307592" y="3739896"/>
            <a:ext cx="99852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8096" y="3895344"/>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07592" y="3858768"/>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test, gds and docs pass at one commit.</a:t>
            </a:r>
          </a:p>
        </p:txBody>
      </p:sp>
      <p:sp>
        <p:nvSpPr>
          <p:cNvPr id="18" name="Rectangle 17"/>
          <p:cNvSpPr/>
          <p:nvPr/>
        </p:nvSpPr>
        <p:spPr>
          <a:xfrm>
            <a:off x="1307592" y="4398264"/>
            <a:ext cx="99852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68096" y="4553712"/>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07592" y="4517136"/>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Area, timing, warnings and datasheet are reviewed.</a:t>
            </a:r>
          </a:p>
        </p:txBody>
      </p:sp>
      <p:sp>
        <p:nvSpPr>
          <p:cNvPr id="21" name="Rectangle 20"/>
          <p:cNvSpPr/>
          <p:nvPr/>
        </p:nvSpPr>
        <p:spPr>
          <a:xfrm>
            <a:off x="1307592" y="5056631"/>
            <a:ext cx="998524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8096" y="5212080"/>
            <a:ext cx="274320" cy="274320"/>
          </a:xfrm>
          <a:prstGeom prst="ellipse">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07592" y="5175504"/>
            <a:ext cx="10021824"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Teacher approves shuttle, terms, budget and revision.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PREDICT THE OUTPUT BEFORE YOU CHANGE THE RTL</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Lab: make the counter count down</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21</a:t>
            </a:r>
          </a:p>
        </p:txBody>
      </p:sp>
      <p:sp>
        <p:nvSpPr>
          <p:cNvPr id="7" name="TextBox 6"/>
          <p:cNvSpPr txBox="1"/>
          <p:nvPr/>
        </p:nvSpPr>
        <p:spPr>
          <a:xfrm>
            <a:off x="758952" y="1965960"/>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EXPECTED COUNT-DOWN SEQUENCE</a:t>
            </a:r>
          </a:p>
        </p:txBody>
      </p:sp>
      <p:sp>
        <p:nvSpPr>
          <p:cNvPr id="8" name="Rectangle 7"/>
          <p:cNvSpPr/>
          <p:nvPr/>
        </p:nvSpPr>
        <p:spPr>
          <a:xfrm>
            <a:off x="758952" y="2514600"/>
            <a:ext cx="1773936"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60904"/>
            <a:ext cx="1682495" cy="667512"/>
          </a:xfrm>
          <a:prstGeom prst="rect">
            <a:avLst/>
          </a:prstGeom>
          <a:noFill/>
        </p:spPr>
        <p:txBody>
          <a:bodyPr wrap="square" lIns="13716" rIns="13716" tIns="13716" bIns="13716">
            <a:spAutoFit/>
          </a:bodyPr>
          <a:lstStyle/>
          <a:p>
            <a:pPr algn="ctr">
              <a:lnSpc>
                <a:spcPct val="108000"/>
              </a:lnSpc>
              <a:spcAft>
                <a:spcPts val="0"/>
              </a:spcAft>
            </a:pPr>
            <a:r>
              <a:rPr sz="4400" b="1">
                <a:solidFill>
                  <a:srgbClr val="F8F4EB"/>
                </a:solidFill>
                <a:latin typeface="Aptos Display"/>
              </a:rPr>
              <a:t>0</a:t>
            </a:r>
          </a:p>
        </p:txBody>
      </p:sp>
      <p:cxnSp>
        <p:nvCxnSpPr>
          <p:cNvPr id="10" name="Connector 9"/>
          <p:cNvCxnSpPr/>
          <p:nvPr/>
        </p:nvCxnSpPr>
        <p:spPr>
          <a:xfrm>
            <a:off x="2642616" y="2971800"/>
            <a:ext cx="246888"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990088" y="2514600"/>
            <a:ext cx="1773936"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2660904"/>
            <a:ext cx="1682495" cy="667512"/>
          </a:xfrm>
          <a:prstGeom prst="rect">
            <a:avLst/>
          </a:prstGeom>
          <a:noFill/>
        </p:spPr>
        <p:txBody>
          <a:bodyPr wrap="square" lIns="13716" rIns="13716" tIns="13716" bIns="13716">
            <a:spAutoFit/>
          </a:bodyPr>
          <a:lstStyle/>
          <a:p>
            <a:pPr algn="ctr">
              <a:lnSpc>
                <a:spcPct val="108000"/>
              </a:lnSpc>
              <a:spcAft>
                <a:spcPts val="0"/>
              </a:spcAft>
            </a:pPr>
            <a:r>
              <a:rPr sz="4400" b="1">
                <a:solidFill>
                  <a:srgbClr val="F8F4EB"/>
                </a:solidFill>
                <a:latin typeface="Aptos Display"/>
              </a:rPr>
              <a:t>255</a:t>
            </a:r>
          </a:p>
        </p:txBody>
      </p:sp>
      <p:cxnSp>
        <p:nvCxnSpPr>
          <p:cNvPr id="13" name="Connector 12"/>
          <p:cNvCxnSpPr/>
          <p:nvPr/>
        </p:nvCxnSpPr>
        <p:spPr>
          <a:xfrm>
            <a:off x="4873752" y="2971800"/>
            <a:ext cx="246888" cy="0"/>
          </a:xfrm>
          <a:prstGeom prst="line">
            <a:avLst/>
          </a:prstGeom>
          <a:ln w="29209">
            <a:solidFill>
              <a:srgbClr val="007F83"/>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221224" y="2514600"/>
            <a:ext cx="1773936" cy="914400"/>
          </a:xfrm>
          <a:prstGeom prst="rect">
            <a:avLst/>
          </a:prstGeom>
          <a:solidFill>
            <a:srgbClr val="007F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66944" y="2660904"/>
            <a:ext cx="1682495" cy="667512"/>
          </a:xfrm>
          <a:prstGeom prst="rect">
            <a:avLst/>
          </a:prstGeom>
          <a:noFill/>
        </p:spPr>
        <p:txBody>
          <a:bodyPr wrap="square" lIns="13716" rIns="13716" tIns="13716" bIns="13716">
            <a:spAutoFit/>
          </a:bodyPr>
          <a:lstStyle/>
          <a:p>
            <a:pPr algn="ctr">
              <a:lnSpc>
                <a:spcPct val="108000"/>
              </a:lnSpc>
              <a:spcAft>
                <a:spcPts val="0"/>
              </a:spcAft>
            </a:pPr>
            <a:r>
              <a:rPr sz="4400" b="1">
                <a:solidFill>
                  <a:srgbClr val="F8F4EB"/>
                </a:solidFill>
                <a:latin typeface="Aptos Display"/>
              </a:rPr>
              <a:t>254</a:t>
            </a:r>
          </a:p>
        </p:txBody>
      </p:sp>
      <p:sp>
        <p:nvSpPr>
          <p:cNvPr id="16" name="Rectangle 15"/>
          <p:cNvSpPr/>
          <p:nvPr/>
        </p:nvSpPr>
        <p:spPr>
          <a:xfrm>
            <a:off x="7772400" y="2487168"/>
            <a:ext cx="3639312" cy="1280160"/>
          </a:xfrm>
          <a:prstGeom prst="rect">
            <a:avLst/>
          </a:prstGeom>
          <a:solidFill>
            <a:srgbClr val="152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0" y="2487168"/>
            <a:ext cx="73152" cy="1280160"/>
          </a:xfrm>
          <a:prstGeom prst="rect">
            <a:avLst/>
          </a:prstGeom>
          <a:solidFill>
            <a:srgbClr val="F05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2688336"/>
            <a:ext cx="3182112" cy="896112"/>
          </a:xfrm>
          <a:prstGeom prst="rect">
            <a:avLst/>
          </a:prstGeom>
          <a:noFill/>
        </p:spPr>
        <p:txBody>
          <a:bodyPr wrap="square" lIns="13716" rIns="13716" tIns="13716" bIns="13716">
            <a:spAutoFit/>
          </a:bodyPr>
          <a:lstStyle/>
          <a:p>
            <a:pPr algn="l">
              <a:lnSpc>
                <a:spcPct val="115000"/>
              </a:lnSpc>
              <a:spcAft>
                <a:spcPts val="0"/>
              </a:spcAft>
            </a:pPr>
            <a:r>
              <a:rPr sz="1800" b="0">
                <a:solidFill>
                  <a:srgbClr val="F8F4EB"/>
                </a:solidFill>
                <a:latin typeface="Consolas"/>
              </a:rPr>
              <a:t>count &lt;= count - 1'b1;</a:t>
            </a:r>
          </a:p>
        </p:txBody>
      </p:sp>
      <p:sp>
        <p:nvSpPr>
          <p:cNvPr id="19" name="TextBox 18"/>
          <p:cNvSpPr txBox="1"/>
          <p:nvPr/>
        </p:nvSpPr>
        <p:spPr>
          <a:xfrm>
            <a:off x="777240" y="4069080"/>
            <a:ext cx="6199632" cy="1581912"/>
          </a:xfrm>
          <a:prstGeom prst="rect">
            <a:avLst/>
          </a:prstGeom>
          <a:noFill/>
        </p:spPr>
        <p:txBody>
          <a:bodyPr wrap="square" lIns="13716" rIns="13716" tIns="13716" bIns="13716">
            <a:spAutoFit/>
          </a:bodyPr>
          <a:lstStyle/>
          <a:p>
            <a:pPr algn="l">
              <a:lnSpc>
                <a:spcPct val="137000"/>
              </a:lnSpc>
              <a:spcAft>
                <a:spcPts val="0"/>
              </a:spcAft>
            </a:pPr>
            <a:r>
              <a:rPr sz="2600" b="0">
                <a:solidFill>
                  <a:srgbClr val="152B39"/>
                </a:solidFill>
                <a:latin typeface="Aptos"/>
              </a:rPr>
              <a:t>1  Define the new wrap / underflow rule.</a:t>
            </a:r>
          </a:p>
          <a:p>
            <a:pPr algn="l">
              <a:lnSpc>
                <a:spcPct val="137000"/>
              </a:lnSpc>
              <a:spcAft>
                <a:spcPts val="0"/>
              </a:spcAft>
            </a:pPr>
            <a:r>
              <a:rPr sz="2600" b="0">
                <a:solidFill>
                  <a:srgbClr val="152B39"/>
                </a:solidFill>
                <a:latin typeface="Aptos"/>
              </a:rPr>
              <a:t>2  Change RTL + expected test values.</a:t>
            </a:r>
          </a:p>
          <a:p>
            <a:pPr algn="l">
              <a:lnSpc>
                <a:spcPct val="137000"/>
              </a:lnSpc>
              <a:spcAft>
                <a:spcPts val="0"/>
              </a:spcAft>
            </a:pPr>
            <a:r>
              <a:rPr sz="2600" b="0">
                <a:solidFill>
                  <a:srgbClr val="152B39"/>
                </a:solidFill>
                <a:latin typeface="Aptos"/>
              </a:rPr>
              <a:t>3  Push; compare area and timing.</a:t>
            </a:r>
          </a:p>
        </p:txBody>
      </p:sp>
      <p:sp>
        <p:nvSpPr>
          <p:cNvPr id="20" name="TextBox 19"/>
          <p:cNvSpPr txBox="1"/>
          <p:nvPr/>
        </p:nvSpPr>
        <p:spPr>
          <a:xfrm>
            <a:off x="7799831" y="4224528"/>
            <a:ext cx="3593592" cy="1508760"/>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Unsigned 8-bit count:</a:t>
            </a:r>
          </a:p>
          <a:p>
            <a:pPr algn="l">
              <a:lnSpc>
                <a:spcPct val="108000"/>
              </a:lnSpc>
              <a:spcAft>
                <a:spcPts val="0"/>
              </a:spcAft>
            </a:pPr>
            <a:r>
              <a:rPr sz="2600" b="1">
                <a:solidFill>
                  <a:srgbClr val="007F83"/>
                </a:solidFill>
                <a:latin typeface="Aptos"/>
              </a:rPr>
              <a:t>what is 0 − 1?</a:t>
            </a:r>
          </a:p>
          <a:p>
            <a:pPr algn="l">
              <a:lnSpc>
                <a:spcPct val="108000"/>
              </a:lnSpc>
              <a:spcAft>
                <a:spcPts val="0"/>
              </a:spcAft>
            </a:pPr>
            <a:r>
              <a:rPr sz="2600" b="1">
                <a:solidFill>
                  <a:srgbClr val="007F83"/>
                </a:solidFill>
                <a:latin typeface="Aptos"/>
              </a:rPr>
              <a:t>255 (it wraps).</a:t>
            </a:r>
          </a:p>
        </p:txBody>
      </p:sp>
      <p:sp>
        <p:nvSpPr>
          <p:cNvPr id="21" name="Rectangle 20"/>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Submit a commit with evidence; no shuttle booking during this exercise.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OFFICIAL REFERENCES TO KEEP OPEN</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Learn one layer deeper</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22</a:t>
            </a:r>
          </a:p>
        </p:txBody>
      </p:sp>
      <p:sp>
        <p:nvSpPr>
          <p:cNvPr id="7" name="TextBox 6"/>
          <p:cNvSpPr txBox="1"/>
          <p:nvPr/>
        </p:nvSpPr>
        <p:spPr>
          <a:xfrm>
            <a:off x="768096" y="1856231"/>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Start</a:t>
            </a:r>
          </a:p>
        </p:txBody>
      </p:sp>
      <p:sp>
        <p:nvSpPr>
          <p:cNvPr id="8" name="TextBox 7"/>
          <p:cNvSpPr txBox="1"/>
          <p:nvPr/>
        </p:nvSpPr>
        <p:spPr>
          <a:xfrm>
            <a:off x="3703320" y="1856231"/>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3"/>
              </a:rPr>
              <a:t>Templates ↗</a:t>
            </a:r>
          </a:p>
        </p:txBody>
      </p:sp>
      <p:sp>
        <p:nvSpPr>
          <p:cNvPr id="9" name="Rectangle 8"/>
          <p:cNvSpPr/>
          <p:nvPr/>
        </p:nvSpPr>
        <p:spPr>
          <a:xfrm>
            <a:off x="768096" y="2404872"/>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532887"/>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Connect</a:t>
            </a:r>
          </a:p>
        </p:txBody>
      </p:sp>
      <p:sp>
        <p:nvSpPr>
          <p:cNvPr id="11" name="TextBox 10"/>
          <p:cNvSpPr txBox="1"/>
          <p:nvPr/>
        </p:nvSpPr>
        <p:spPr>
          <a:xfrm>
            <a:off x="3703320" y="2532887"/>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4"/>
              </a:rPr>
              <a:t>HDL interface rules ↗</a:t>
            </a:r>
          </a:p>
        </p:txBody>
      </p:sp>
      <p:sp>
        <p:nvSpPr>
          <p:cNvPr id="12" name="Rectangle 11"/>
          <p:cNvSpPr/>
          <p:nvPr/>
        </p:nvSpPr>
        <p:spPr>
          <a:xfrm>
            <a:off x="768096" y="3081527"/>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3209544"/>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Verify</a:t>
            </a:r>
          </a:p>
        </p:txBody>
      </p:sp>
      <p:sp>
        <p:nvSpPr>
          <p:cNvPr id="14" name="TextBox 13"/>
          <p:cNvSpPr txBox="1"/>
          <p:nvPr/>
        </p:nvSpPr>
        <p:spPr>
          <a:xfrm>
            <a:off x="3703320" y="3209544"/>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5"/>
              </a:rPr>
              <a:t>Testing guide ↗</a:t>
            </a:r>
          </a:p>
        </p:txBody>
      </p:sp>
      <p:sp>
        <p:nvSpPr>
          <p:cNvPr id="15" name="Rectangle 14"/>
          <p:cNvSpPr/>
          <p:nvPr/>
        </p:nvSpPr>
        <p:spPr>
          <a:xfrm>
            <a:off x="768096" y="3758183"/>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886200"/>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Understand</a:t>
            </a:r>
          </a:p>
        </p:txBody>
      </p:sp>
      <p:sp>
        <p:nvSpPr>
          <p:cNvPr id="17" name="TextBox 16"/>
          <p:cNvSpPr txBox="1"/>
          <p:nvPr/>
        </p:nvSpPr>
        <p:spPr>
          <a:xfrm>
            <a:off x="3703320" y="3886200"/>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6"/>
              </a:rPr>
              <a:t>Making ASICs + factory tour ↗</a:t>
            </a:r>
          </a:p>
        </p:txBody>
      </p:sp>
      <p:sp>
        <p:nvSpPr>
          <p:cNvPr id="18" name="Rectangle 17"/>
          <p:cNvSpPr/>
          <p:nvPr/>
        </p:nvSpPr>
        <p:spPr>
          <a:xfrm>
            <a:off x="768096" y="4434840"/>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562856"/>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Check limits</a:t>
            </a:r>
          </a:p>
        </p:txBody>
      </p:sp>
      <p:sp>
        <p:nvSpPr>
          <p:cNvPr id="20" name="TextBox 19"/>
          <p:cNvSpPr txBox="1"/>
          <p:nvPr/>
        </p:nvSpPr>
        <p:spPr>
          <a:xfrm>
            <a:off x="3703320" y="4562856"/>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7"/>
              </a:rPr>
              <a:t>Technical specs ↗</a:t>
            </a:r>
          </a:p>
        </p:txBody>
      </p:sp>
      <p:sp>
        <p:nvSpPr>
          <p:cNvPr id="21" name="Rectangle 20"/>
          <p:cNvSpPr/>
          <p:nvPr/>
        </p:nvSpPr>
        <p:spPr>
          <a:xfrm>
            <a:off x="768096" y="5111496"/>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239512"/>
            <a:ext cx="2642616" cy="484632"/>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Plan</a:t>
            </a:r>
          </a:p>
        </p:txBody>
      </p:sp>
      <p:sp>
        <p:nvSpPr>
          <p:cNvPr id="23" name="TextBox 22"/>
          <p:cNvSpPr txBox="1"/>
          <p:nvPr/>
        </p:nvSpPr>
        <p:spPr>
          <a:xfrm>
            <a:off x="3703320" y="5239512"/>
            <a:ext cx="7662672" cy="484632"/>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hlinkClick r:id="rId8"/>
              </a:rPr>
              <a:t>Shuttles + FAQ ↗</a:t>
            </a:r>
          </a:p>
        </p:txBody>
      </p:sp>
      <p:sp>
        <p:nvSpPr>
          <p:cNvPr id="24" name="Rectangle 23"/>
          <p:cNvSpPr/>
          <p:nvPr/>
        </p:nvSpPr>
        <p:spPr>
          <a:xfrm>
            <a:off x="768096" y="5788152"/>
            <a:ext cx="10643616"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APPENDIX A • STARTING PRICES, NOT A QUOTE</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Staff: budget projects and shared hardware</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23</a:t>
            </a:r>
          </a:p>
        </p:txBody>
      </p:sp>
      <p:sp>
        <p:nvSpPr>
          <p:cNvPr id="7" name="TextBox 6"/>
          <p:cNvSpPr txBox="1"/>
          <p:nvPr/>
        </p:nvSpPr>
        <p:spPr>
          <a:xfrm>
            <a:off x="758952" y="1975104"/>
            <a:ext cx="3410712" cy="1225296"/>
          </a:xfrm>
          <a:prstGeom prst="rect">
            <a:avLst/>
          </a:prstGeom>
          <a:noFill/>
        </p:spPr>
        <p:txBody>
          <a:bodyPr wrap="square" lIns="13716" rIns="13716" tIns="13716" bIns="13716">
            <a:spAutoFit/>
          </a:bodyPr>
          <a:lstStyle/>
          <a:p>
            <a:pPr algn="l">
              <a:lnSpc>
                <a:spcPct val="108000"/>
              </a:lnSpc>
              <a:spcAft>
                <a:spcPts val="0"/>
              </a:spcAft>
            </a:pPr>
            <a:r>
              <a:rPr sz="8400" b="1">
                <a:solidFill>
                  <a:srgbClr val="007F83"/>
                </a:solidFill>
                <a:latin typeface="Aptos Display"/>
              </a:rPr>
              <a:t>5</a:t>
            </a:r>
          </a:p>
        </p:txBody>
      </p:sp>
      <p:sp>
        <p:nvSpPr>
          <p:cNvPr id="8" name="TextBox 7"/>
          <p:cNvSpPr txBox="1"/>
          <p:nvPr/>
        </p:nvSpPr>
        <p:spPr>
          <a:xfrm>
            <a:off x="758952" y="3246120"/>
            <a:ext cx="3419856"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projects, up to</a:t>
            </a:r>
          </a:p>
        </p:txBody>
      </p:sp>
      <p:sp>
        <p:nvSpPr>
          <p:cNvPr id="9" name="TextBox 8"/>
          <p:cNvSpPr txBox="1"/>
          <p:nvPr/>
        </p:nvSpPr>
        <p:spPr>
          <a:xfrm>
            <a:off x="758952" y="4133087"/>
            <a:ext cx="3419856" cy="54864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1 PCB kit</a:t>
            </a:r>
          </a:p>
        </p:txBody>
      </p:sp>
      <p:sp>
        <p:nvSpPr>
          <p:cNvPr id="10" name="TextBox 9"/>
          <p:cNvSpPr txBox="1"/>
          <p:nvPr/>
        </p:nvSpPr>
        <p:spPr>
          <a:xfrm>
            <a:off x="758952" y="4828032"/>
            <a:ext cx="3419856" cy="640080"/>
          </a:xfrm>
          <a:prstGeom prst="rect">
            <a:avLst/>
          </a:prstGeom>
          <a:noFill/>
        </p:spPr>
        <p:txBody>
          <a:bodyPr wrap="square" lIns="13716" rIns="13716" tIns="13716" bIns="13716">
            <a:spAutoFit/>
          </a:bodyPr>
          <a:lstStyle/>
          <a:p>
            <a:pPr algn="l">
              <a:lnSpc>
                <a:spcPct val="108000"/>
              </a:lnSpc>
              <a:spcAft>
                <a:spcPts val="0"/>
              </a:spcAft>
            </a:pPr>
            <a:r>
              <a:rPr sz="3800" b="1">
                <a:solidFill>
                  <a:srgbClr val="152B39"/>
                </a:solidFill>
                <a:latin typeface="Aptos"/>
              </a:rPr>
              <a:t>€565</a:t>
            </a:r>
          </a:p>
        </p:txBody>
      </p:sp>
      <p:sp>
        <p:nvSpPr>
          <p:cNvPr id="11" name="Rectangle 10"/>
          <p:cNvSpPr/>
          <p:nvPr/>
        </p:nvSpPr>
        <p:spPr>
          <a:xfrm>
            <a:off x="4325112" y="1938528"/>
            <a:ext cx="13716" cy="3575304"/>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975104"/>
            <a:ext cx="3410712" cy="1225296"/>
          </a:xfrm>
          <a:prstGeom prst="rect">
            <a:avLst/>
          </a:prstGeom>
          <a:noFill/>
        </p:spPr>
        <p:txBody>
          <a:bodyPr wrap="square" lIns="13716" rIns="13716" tIns="13716" bIns="13716">
            <a:spAutoFit/>
          </a:bodyPr>
          <a:lstStyle/>
          <a:p>
            <a:pPr algn="l">
              <a:lnSpc>
                <a:spcPct val="108000"/>
              </a:lnSpc>
              <a:spcAft>
                <a:spcPts val="0"/>
              </a:spcAft>
            </a:pPr>
            <a:r>
              <a:rPr sz="8400" b="1">
                <a:solidFill>
                  <a:srgbClr val="007F83"/>
                </a:solidFill>
                <a:latin typeface="Aptos Display"/>
              </a:rPr>
              <a:t>25</a:t>
            </a:r>
          </a:p>
        </p:txBody>
      </p:sp>
      <p:sp>
        <p:nvSpPr>
          <p:cNvPr id="13" name="TextBox 12"/>
          <p:cNvSpPr txBox="1"/>
          <p:nvPr/>
        </p:nvSpPr>
        <p:spPr>
          <a:xfrm>
            <a:off x="4572000" y="3246120"/>
            <a:ext cx="3419856"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projects, up to</a:t>
            </a:r>
          </a:p>
        </p:txBody>
      </p:sp>
      <p:sp>
        <p:nvSpPr>
          <p:cNvPr id="14" name="TextBox 13"/>
          <p:cNvSpPr txBox="1"/>
          <p:nvPr/>
        </p:nvSpPr>
        <p:spPr>
          <a:xfrm>
            <a:off x="4572000" y="4133087"/>
            <a:ext cx="3419856" cy="54864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3 PCB kits</a:t>
            </a:r>
          </a:p>
        </p:txBody>
      </p:sp>
      <p:sp>
        <p:nvSpPr>
          <p:cNvPr id="15" name="TextBox 14"/>
          <p:cNvSpPr txBox="1"/>
          <p:nvPr/>
        </p:nvSpPr>
        <p:spPr>
          <a:xfrm>
            <a:off x="4572000" y="4828032"/>
            <a:ext cx="3419856" cy="640080"/>
          </a:xfrm>
          <a:prstGeom prst="rect">
            <a:avLst/>
          </a:prstGeom>
          <a:noFill/>
        </p:spPr>
        <p:txBody>
          <a:bodyPr wrap="square" lIns="13716" rIns="13716" tIns="13716" bIns="13716">
            <a:spAutoFit/>
          </a:bodyPr>
          <a:lstStyle/>
          <a:p>
            <a:pPr algn="l">
              <a:lnSpc>
                <a:spcPct val="108000"/>
              </a:lnSpc>
              <a:spcAft>
                <a:spcPts val="0"/>
              </a:spcAft>
            </a:pPr>
            <a:r>
              <a:rPr sz="3800" b="1">
                <a:solidFill>
                  <a:srgbClr val="152B39"/>
                </a:solidFill>
                <a:latin typeface="Aptos"/>
              </a:rPr>
              <a:t>€2,195</a:t>
            </a:r>
          </a:p>
        </p:txBody>
      </p:sp>
      <p:sp>
        <p:nvSpPr>
          <p:cNvPr id="16" name="Rectangle 15"/>
          <p:cNvSpPr/>
          <p:nvPr/>
        </p:nvSpPr>
        <p:spPr>
          <a:xfrm>
            <a:off x="8138160" y="1938528"/>
            <a:ext cx="13716" cy="3575304"/>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5048" y="1975104"/>
            <a:ext cx="3410712" cy="1225296"/>
          </a:xfrm>
          <a:prstGeom prst="rect">
            <a:avLst/>
          </a:prstGeom>
          <a:noFill/>
        </p:spPr>
        <p:txBody>
          <a:bodyPr wrap="square" lIns="13716" rIns="13716" tIns="13716" bIns="13716">
            <a:spAutoFit/>
          </a:bodyPr>
          <a:lstStyle/>
          <a:p>
            <a:pPr algn="l">
              <a:lnSpc>
                <a:spcPct val="108000"/>
              </a:lnSpc>
              <a:spcAft>
                <a:spcPts val="0"/>
              </a:spcAft>
            </a:pPr>
            <a:r>
              <a:rPr sz="8400" b="1">
                <a:solidFill>
                  <a:srgbClr val="007F83"/>
                </a:solidFill>
                <a:latin typeface="Aptos Display"/>
              </a:rPr>
              <a:t>75</a:t>
            </a:r>
          </a:p>
        </p:txBody>
      </p:sp>
      <p:sp>
        <p:nvSpPr>
          <p:cNvPr id="18" name="TextBox 17"/>
          <p:cNvSpPr txBox="1"/>
          <p:nvPr/>
        </p:nvSpPr>
        <p:spPr>
          <a:xfrm>
            <a:off x="8385048" y="3246120"/>
            <a:ext cx="3419856" cy="557784"/>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projects, up to</a:t>
            </a:r>
          </a:p>
        </p:txBody>
      </p:sp>
      <p:sp>
        <p:nvSpPr>
          <p:cNvPr id="19" name="TextBox 18"/>
          <p:cNvSpPr txBox="1"/>
          <p:nvPr/>
        </p:nvSpPr>
        <p:spPr>
          <a:xfrm>
            <a:off x="8385048" y="4133087"/>
            <a:ext cx="3419856" cy="548640"/>
          </a:xfrm>
          <a:prstGeom prst="rect">
            <a:avLst/>
          </a:prstGeom>
          <a:noFill/>
        </p:spPr>
        <p:txBody>
          <a:bodyPr wrap="square" lIns="13716" rIns="13716" tIns="13716" bIns="13716">
            <a:spAutoFit/>
          </a:bodyPr>
          <a:lstStyle/>
          <a:p>
            <a:pPr algn="l">
              <a:lnSpc>
                <a:spcPct val="108000"/>
              </a:lnSpc>
              <a:spcAft>
                <a:spcPts val="0"/>
              </a:spcAft>
            </a:pPr>
            <a:r>
              <a:rPr sz="2600" b="0">
                <a:solidFill>
                  <a:srgbClr val="152B39"/>
                </a:solidFill>
                <a:latin typeface="Aptos"/>
              </a:rPr>
              <a:t>5 PCB kits</a:t>
            </a:r>
          </a:p>
        </p:txBody>
      </p:sp>
      <p:sp>
        <p:nvSpPr>
          <p:cNvPr id="20" name="TextBox 19"/>
          <p:cNvSpPr txBox="1"/>
          <p:nvPr/>
        </p:nvSpPr>
        <p:spPr>
          <a:xfrm>
            <a:off x="8385048" y="4828032"/>
            <a:ext cx="3419856" cy="640080"/>
          </a:xfrm>
          <a:prstGeom prst="rect">
            <a:avLst/>
          </a:prstGeom>
          <a:noFill/>
        </p:spPr>
        <p:txBody>
          <a:bodyPr wrap="square" lIns="13716" rIns="13716" tIns="13716" bIns="13716">
            <a:spAutoFit/>
          </a:bodyPr>
          <a:lstStyle/>
          <a:p>
            <a:pPr algn="l">
              <a:lnSpc>
                <a:spcPct val="108000"/>
              </a:lnSpc>
              <a:spcAft>
                <a:spcPts val="0"/>
              </a:spcAft>
            </a:pPr>
            <a:r>
              <a:rPr sz="3800" b="1">
                <a:solidFill>
                  <a:srgbClr val="152B39"/>
                </a:solidFill>
                <a:latin typeface="Aptos"/>
              </a:rPr>
              <a:t>€5,325</a:t>
            </a:r>
          </a:p>
        </p:txBody>
      </p:sp>
      <p:sp>
        <p:nvSpPr>
          <p:cNvPr id="21" name="Rectangle 20"/>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400" b="1">
                <a:solidFill>
                  <a:srgbClr val="007F83"/>
                </a:solidFill>
                <a:latin typeface="Aptos"/>
              </a:rPr>
              <a:t>75 one-tile projects can cover a class of about 70; five kits are shared.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APPENDIX B • 7 OCTOBER 2026 SNAPSHOT</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Staff: a template pin is not an open booking</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24</a:t>
            </a:r>
          </a:p>
        </p:txBody>
      </p:sp>
      <p:sp>
        <p:nvSpPr>
          <p:cNvPr id="7" name="TextBox 6"/>
          <p:cNvSpPr txBox="1"/>
          <p:nvPr/>
        </p:nvSpPr>
        <p:spPr>
          <a:xfrm>
            <a:off x="758952" y="1847088"/>
            <a:ext cx="182880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TEMPLATE</a:t>
            </a:r>
          </a:p>
        </p:txBody>
      </p:sp>
      <p:sp>
        <p:nvSpPr>
          <p:cNvPr id="8" name="TextBox 7"/>
          <p:cNvSpPr txBox="1"/>
          <p:nvPr/>
        </p:nvSpPr>
        <p:spPr>
          <a:xfrm>
            <a:off x="3026664" y="1847088"/>
            <a:ext cx="365760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ACTION PIN</a:t>
            </a:r>
          </a:p>
        </p:txBody>
      </p:sp>
      <p:sp>
        <p:nvSpPr>
          <p:cNvPr id="9" name="TextBox 8"/>
          <p:cNvSpPr txBox="1"/>
          <p:nvPr/>
        </p:nvSpPr>
        <p:spPr>
          <a:xfrm>
            <a:off x="6684264" y="1847088"/>
            <a:ext cx="457200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SUBMISSION DEADLINE</a:t>
            </a:r>
          </a:p>
        </p:txBody>
      </p:sp>
      <p:sp>
        <p:nvSpPr>
          <p:cNvPr id="10" name="TextBox 9"/>
          <p:cNvSpPr txBox="1"/>
          <p:nvPr/>
        </p:nvSpPr>
        <p:spPr>
          <a:xfrm>
            <a:off x="758952" y="2395728"/>
            <a:ext cx="1938528" cy="54864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SKY</a:t>
            </a:r>
          </a:p>
        </p:txBody>
      </p:sp>
      <p:sp>
        <p:nvSpPr>
          <p:cNvPr id="11" name="TextBox 10"/>
          <p:cNvSpPr txBox="1"/>
          <p:nvPr/>
        </p:nvSpPr>
        <p:spPr>
          <a:xfrm>
            <a:off x="3026664" y="2395728"/>
            <a:ext cx="317296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ttsky26d</a:t>
            </a:r>
          </a:p>
        </p:txBody>
      </p:sp>
      <p:sp>
        <p:nvSpPr>
          <p:cNvPr id="12" name="TextBox 11"/>
          <p:cNvSpPr txBox="1"/>
          <p:nvPr/>
        </p:nvSpPr>
        <p:spPr>
          <a:xfrm>
            <a:off x="6684264" y="2395728"/>
            <a:ext cx="463600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30 Nov 2026</a:t>
            </a:r>
          </a:p>
        </p:txBody>
      </p:sp>
      <p:sp>
        <p:nvSpPr>
          <p:cNvPr id="13" name="Rectangle 12"/>
          <p:cNvSpPr/>
          <p:nvPr/>
        </p:nvSpPr>
        <p:spPr>
          <a:xfrm>
            <a:off x="758952" y="3072384"/>
            <a:ext cx="10661904"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255264"/>
            <a:ext cx="1938528" cy="54864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GF</a:t>
            </a:r>
          </a:p>
        </p:txBody>
      </p:sp>
      <p:sp>
        <p:nvSpPr>
          <p:cNvPr id="15" name="TextBox 14"/>
          <p:cNvSpPr txBox="1"/>
          <p:nvPr/>
        </p:nvSpPr>
        <p:spPr>
          <a:xfrm>
            <a:off x="3026664" y="3255264"/>
            <a:ext cx="317296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ttgf26c</a:t>
            </a:r>
          </a:p>
        </p:txBody>
      </p:sp>
      <p:sp>
        <p:nvSpPr>
          <p:cNvPr id="16" name="TextBox 15"/>
          <p:cNvSpPr txBox="1"/>
          <p:nvPr/>
        </p:nvSpPr>
        <p:spPr>
          <a:xfrm>
            <a:off x="6684264" y="3255264"/>
            <a:ext cx="463600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7 Dec 2026</a:t>
            </a:r>
          </a:p>
        </p:txBody>
      </p:sp>
      <p:sp>
        <p:nvSpPr>
          <p:cNvPr id="17" name="Rectangle 16"/>
          <p:cNvSpPr/>
          <p:nvPr/>
        </p:nvSpPr>
        <p:spPr>
          <a:xfrm>
            <a:off x="758952" y="3931920"/>
            <a:ext cx="10661904"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4114800"/>
            <a:ext cx="1938528" cy="548640"/>
          </a:xfrm>
          <a:prstGeom prst="rect">
            <a:avLst/>
          </a:prstGeom>
          <a:noFill/>
        </p:spPr>
        <p:txBody>
          <a:bodyPr wrap="square" lIns="13716" rIns="13716" tIns="13716" bIns="13716">
            <a:spAutoFit/>
          </a:bodyPr>
          <a:lstStyle/>
          <a:p>
            <a:pPr algn="l">
              <a:lnSpc>
                <a:spcPct val="108000"/>
              </a:lnSpc>
              <a:spcAft>
                <a:spcPts val="0"/>
              </a:spcAft>
            </a:pPr>
            <a:r>
              <a:rPr sz="3000" b="1">
                <a:solidFill>
                  <a:srgbClr val="007F83"/>
                </a:solidFill>
                <a:latin typeface="Aptos"/>
              </a:rPr>
              <a:t>IHP</a:t>
            </a:r>
          </a:p>
        </p:txBody>
      </p:sp>
      <p:sp>
        <p:nvSpPr>
          <p:cNvPr id="19" name="TextBox 18"/>
          <p:cNvSpPr txBox="1"/>
          <p:nvPr/>
        </p:nvSpPr>
        <p:spPr>
          <a:xfrm>
            <a:off x="3026664" y="4114800"/>
            <a:ext cx="317296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152B39"/>
                </a:solidFill>
                <a:latin typeface="Aptos"/>
              </a:rPr>
              <a:t>ttihp26b</a:t>
            </a:r>
          </a:p>
        </p:txBody>
      </p:sp>
      <p:sp>
        <p:nvSpPr>
          <p:cNvPr id="20" name="TextBox 19"/>
          <p:cNvSpPr txBox="1"/>
          <p:nvPr/>
        </p:nvSpPr>
        <p:spPr>
          <a:xfrm>
            <a:off x="6684264" y="4114800"/>
            <a:ext cx="4636008" cy="548640"/>
          </a:xfrm>
          <a:prstGeom prst="rect">
            <a:avLst/>
          </a:prstGeom>
          <a:noFill/>
        </p:spPr>
        <p:txBody>
          <a:bodyPr wrap="square" lIns="13716" rIns="13716" tIns="13716" bIns="13716">
            <a:spAutoFit/>
          </a:bodyPr>
          <a:lstStyle/>
          <a:p>
            <a:pPr algn="l">
              <a:lnSpc>
                <a:spcPct val="108000"/>
              </a:lnSpc>
              <a:spcAft>
                <a:spcPts val="0"/>
              </a:spcAft>
            </a:pPr>
            <a:r>
              <a:rPr sz="2800" b="0">
                <a:solidFill>
                  <a:srgbClr val="F05B3E"/>
                </a:solidFill>
                <a:latin typeface="Aptos"/>
              </a:rPr>
              <a:t>Closed 21 Sep 2026</a:t>
            </a:r>
          </a:p>
        </p:txBody>
      </p:sp>
      <p:sp>
        <p:nvSpPr>
          <p:cNvPr id="21" name="Rectangle 20"/>
          <p:cNvSpPr/>
          <p:nvPr/>
        </p:nvSpPr>
        <p:spPr>
          <a:xfrm>
            <a:off x="758952" y="4791456"/>
            <a:ext cx="10661904"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5221224"/>
            <a:ext cx="10588752" cy="1005840"/>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Next IHP: March 2027 planned; exact day unpublished.</a:t>
            </a:r>
          </a:p>
          <a:p>
            <a:pPr algn="l">
              <a:lnSpc>
                <a:spcPct val="108000"/>
              </a:lnSpc>
              <a:spcAft>
                <a:spcPts val="0"/>
              </a:spcAft>
            </a:pPr>
            <a:r>
              <a:rPr sz="2600" b="1">
                <a:solidFill>
                  <a:srgbClr val="007F83"/>
                </a:solidFill>
                <a:latin typeface="Aptos"/>
              </a:rPr>
              <a:t>Estimated shipping: Q1 2028. Re-check before committing.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APPENDIX C • CURRENT SHUTTLE TERMS STILL REQUIRED</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Staff: verify the exact IHP loan agreement</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25</a:t>
            </a:r>
          </a:p>
        </p:txBody>
      </p:sp>
      <p:sp>
        <p:nvSpPr>
          <p:cNvPr id="7" name="Rectangle 6"/>
          <p:cNvSpPr/>
          <p:nvPr/>
        </p:nvSpPr>
        <p:spPr>
          <a:xfrm>
            <a:off x="6035040" y="1865376"/>
            <a:ext cx="13716" cy="4215384"/>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984248"/>
            <a:ext cx="4965192"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F05B3E"/>
                </a:solidFill>
                <a:latin typeface="Aptos"/>
              </a:rPr>
              <a:t>REPORTED IN PRIOR PROGRAMME MATERIAL</a:t>
            </a:r>
          </a:p>
        </p:txBody>
      </p:sp>
      <p:sp>
        <p:nvSpPr>
          <p:cNvPr id="9" name="TextBox 8"/>
          <p:cNvSpPr txBox="1"/>
          <p:nvPr/>
        </p:nvSpPr>
        <p:spPr>
          <a:xfrm>
            <a:off x="758952" y="2596896"/>
            <a:ext cx="4809744" cy="3026664"/>
          </a:xfrm>
          <a:prstGeom prst="rect">
            <a:avLst/>
          </a:prstGeom>
          <a:noFill/>
        </p:spPr>
        <p:txBody>
          <a:bodyPr wrap="square" lIns="13716" rIns="13716" tIns="13716" bIns="13716">
            <a:spAutoFit/>
          </a:bodyPr>
          <a:lstStyle/>
          <a:p>
            <a:pPr algn="l">
              <a:lnSpc>
                <a:spcPct val="140000"/>
              </a:lnSpc>
              <a:spcAft>
                <a:spcPts val="0"/>
              </a:spcAft>
            </a:pPr>
            <a:r>
              <a:rPr sz="2600" b="0">
                <a:solidFill>
                  <a:srgbClr val="152B39"/>
                </a:solidFill>
                <a:latin typeface="Aptos"/>
              </a:rPr>
              <a:t>IHP retains chip ownership.</a:t>
            </a:r>
          </a:p>
          <a:p>
            <a:pPr algn="l">
              <a:lnSpc>
                <a:spcPct val="140000"/>
              </a:lnSpc>
              <a:spcAft>
                <a:spcPts val="0"/>
              </a:spcAft>
            </a:pPr>
            <a:r>
              <a:rPr sz="2600" b="0">
                <a:solidFill>
                  <a:srgbClr val="152B39"/>
                </a:solidFill>
                <a:latin typeface="Aptos"/>
              </a:rPr>
              <a:t>Default loan: two years.</a:t>
            </a:r>
          </a:p>
          <a:p>
            <a:pPr algn="l">
              <a:lnSpc>
                <a:spcPct val="140000"/>
              </a:lnSpc>
              <a:spcAft>
                <a:spcPts val="0"/>
              </a:spcAft>
            </a:pPr>
            <a:r>
              <a:rPr sz="2600" b="0">
                <a:solidFill>
                  <a:srgbClr val="152B39"/>
                </a:solidFill>
                <a:latin typeface="Aptos"/>
              </a:rPr>
              <a:t>No resale or transfer.</a:t>
            </a:r>
          </a:p>
          <a:p>
            <a:pPr algn="l">
              <a:lnSpc>
                <a:spcPct val="140000"/>
              </a:lnSpc>
              <a:spcAft>
                <a:spcPts val="0"/>
              </a:spcAft>
            </a:pPr>
            <a:r>
              <a:rPr sz="2600" b="0">
                <a:solidFill>
                  <a:srgbClr val="152B39"/>
                </a:solidFill>
                <a:latin typeface="Aptos"/>
              </a:rPr>
              <a:t>EU + Switzerland shipping.</a:t>
            </a:r>
          </a:p>
        </p:txBody>
      </p:sp>
      <p:sp>
        <p:nvSpPr>
          <p:cNvPr id="10" name="TextBox 9"/>
          <p:cNvSpPr txBox="1"/>
          <p:nvPr/>
        </p:nvSpPr>
        <p:spPr>
          <a:xfrm>
            <a:off x="6510528" y="1984248"/>
            <a:ext cx="4837176"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CONFIRM FOR THE CHOSEN SHUTTLE</a:t>
            </a:r>
          </a:p>
        </p:txBody>
      </p:sp>
      <p:sp>
        <p:nvSpPr>
          <p:cNvPr id="11" name="TextBox 10"/>
          <p:cNvSpPr txBox="1"/>
          <p:nvPr/>
        </p:nvSpPr>
        <p:spPr>
          <a:xfrm>
            <a:off x="6510528" y="2596896"/>
            <a:ext cx="4764024" cy="3191256"/>
          </a:xfrm>
          <a:prstGeom prst="rect">
            <a:avLst/>
          </a:prstGeom>
          <a:noFill/>
        </p:spPr>
        <p:txBody>
          <a:bodyPr wrap="square" lIns="13716" rIns="13716" tIns="13716" bIns="13716">
            <a:spAutoFit/>
          </a:bodyPr>
          <a:lstStyle/>
          <a:p>
            <a:pPr algn="l">
              <a:lnSpc>
                <a:spcPct val="140000"/>
              </a:lnSpc>
              <a:spcAft>
                <a:spcPts val="0"/>
              </a:spcAft>
            </a:pPr>
            <a:r>
              <a:rPr sz="2600" b="0">
                <a:solidFill>
                  <a:srgbClr val="152B39"/>
                </a:solidFill>
                <a:latin typeface="Aptos"/>
              </a:rPr>
              <a:t>Read the current agreement.</a:t>
            </a:r>
          </a:p>
          <a:p>
            <a:pPr algn="l">
              <a:lnSpc>
                <a:spcPct val="140000"/>
              </a:lnSpc>
              <a:spcAft>
                <a:spcPts val="0"/>
              </a:spcAft>
            </a:pPr>
            <a:r>
              <a:rPr sz="2600" b="0">
                <a:solidFill>
                  <a:srgbClr val="152B39"/>
                </a:solidFill>
                <a:latin typeface="Aptos"/>
              </a:rPr>
              <a:t>Check student ownership.</a:t>
            </a:r>
          </a:p>
          <a:p>
            <a:pPr algn="l">
              <a:lnSpc>
                <a:spcPct val="140000"/>
              </a:lnSpc>
              <a:spcAft>
                <a:spcPts val="0"/>
              </a:spcAft>
            </a:pPr>
            <a:r>
              <a:rPr sz="2600" b="0">
                <a:solidFill>
                  <a:srgbClr val="152B39"/>
                </a:solidFill>
                <a:latin typeface="Aptos"/>
              </a:rPr>
              <a:t>Check duration and returns.</a:t>
            </a:r>
          </a:p>
          <a:p>
            <a:pPr algn="l">
              <a:lnSpc>
                <a:spcPct val="140000"/>
              </a:lnSpc>
              <a:spcAft>
                <a:spcPts val="0"/>
              </a:spcAft>
            </a:pPr>
            <a:r>
              <a:rPr sz="2600" b="0">
                <a:solidFill>
                  <a:srgbClr val="152B39"/>
                </a:solidFill>
                <a:latin typeface="Aptos"/>
              </a:rPr>
              <a:t>Record terms before payment.</a:t>
            </a:r>
          </a:p>
        </p:txBody>
      </p:sp>
      <p:sp>
        <p:nvSpPr>
          <p:cNvPr id="12" name="Rectangle 11"/>
          <p:cNvSpPr/>
          <p:nvPr/>
        </p:nvSpPr>
        <p:spPr>
          <a:xfrm>
            <a:off x="594360" y="5733288"/>
            <a:ext cx="10972800" cy="502920"/>
          </a:xfrm>
          <a:prstGeom prst="rect">
            <a:avLst/>
          </a:prstGeom>
          <a:solidFill>
            <a:srgbClr val="D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5806440"/>
            <a:ext cx="10680192" cy="365760"/>
          </a:xfrm>
          <a:prstGeom prst="rect">
            <a:avLst/>
          </a:prstGeom>
          <a:noFill/>
        </p:spPr>
        <p:txBody>
          <a:bodyPr wrap="square" lIns="13716" rIns="13716" tIns="13716" bIns="13716">
            <a:spAutoFit/>
          </a:bodyPr>
          <a:lstStyle/>
          <a:p>
            <a:pPr algn="l">
              <a:lnSpc>
                <a:spcPct val="108000"/>
              </a:lnSpc>
              <a:spcAft>
                <a:spcPts val="0"/>
              </a:spcAft>
            </a:pPr>
            <a:r>
              <a:rPr sz="2200" b="1">
                <a:solidFill>
                  <a:srgbClr val="007F83"/>
                </a:solidFill>
                <a:latin typeface="Aptos"/>
              </a:rPr>
              <a:t>These historical restrictions need official confirmation for the selected run.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4EB"/>
        </a:solidFill>
        <a:effectLst/>
      </p:bgPr>
    </p:bg>
    <p:spTree>
      <p:nvGrpSpPr>
        <p:cNvPr id="1" name=""/>
        <p:cNvGrpSpPr/>
        <p:nvPr/>
      </p:nvGrpSpPr>
      <p:grpSpPr/>
      <p:sp>
        <p:nvSpPr>
          <p:cNvPr id="2" name="TextBox 1"/>
          <p:cNvSpPr txBox="1"/>
          <p:nvPr/>
        </p:nvSpPr>
        <p:spPr>
          <a:xfrm>
            <a:off x="594360" y="310896"/>
            <a:ext cx="10789920" cy="274320"/>
          </a:xfrm>
          <a:prstGeom prst="rect">
            <a:avLst/>
          </a:prstGeom>
          <a:noFill/>
        </p:spPr>
        <p:txBody>
          <a:bodyPr wrap="square" lIns="13716" rIns="13716" tIns="13716" bIns="13716">
            <a:spAutoFit/>
          </a:bodyPr>
          <a:lstStyle/>
          <a:p>
            <a:pPr algn="l">
              <a:lnSpc>
                <a:spcPct val="108000"/>
              </a:lnSpc>
              <a:spcAft>
                <a:spcPts val="0"/>
              </a:spcAft>
            </a:pPr>
            <a:r>
              <a:rPr sz="1200" b="1">
                <a:solidFill>
                  <a:srgbClr val="007F83"/>
                </a:solidFill>
                <a:latin typeface="Aptos"/>
              </a:rPr>
              <a:t>APPENDIX D • ACTUAL ARTIFACTS AND REMAINING CAPTURES</a:t>
            </a:r>
          </a:p>
        </p:txBody>
      </p:sp>
      <p:sp>
        <p:nvSpPr>
          <p:cNvPr id="3" name="TextBox 2"/>
          <p:cNvSpPr txBox="1"/>
          <p:nvPr/>
        </p:nvSpPr>
        <p:spPr>
          <a:xfrm>
            <a:off x="594360" y="795528"/>
            <a:ext cx="10991088" cy="923544"/>
          </a:xfrm>
          <a:prstGeom prst="rect">
            <a:avLst/>
          </a:prstGeom>
          <a:noFill/>
        </p:spPr>
        <p:txBody>
          <a:bodyPr wrap="square" lIns="13716" rIns="13716" tIns="13716" bIns="13716">
            <a:spAutoFit/>
          </a:bodyPr>
          <a:lstStyle/>
          <a:p>
            <a:pPr algn="l">
              <a:lnSpc>
                <a:spcPct val="108000"/>
              </a:lnSpc>
              <a:spcAft>
                <a:spcPts val="0"/>
              </a:spcAft>
            </a:pPr>
            <a:r>
              <a:rPr sz="4200" b="1">
                <a:solidFill>
                  <a:srgbClr val="152B39"/>
                </a:solidFill>
                <a:latin typeface="Aptos Display"/>
              </a:rPr>
              <a:t>Staff: finish the evidence pack</a:t>
            </a:r>
          </a:p>
        </p:txBody>
      </p:sp>
      <p:sp>
        <p:nvSpPr>
          <p:cNvPr id="4" name="Rectangle 3"/>
          <p:cNvSpPr/>
          <p:nvPr/>
        </p:nvSpPr>
        <p:spPr>
          <a:xfrm>
            <a:off x="594360" y="6419088"/>
            <a:ext cx="10991088" cy="13716"/>
          </a:xfrm>
          <a:prstGeom prst="rect">
            <a:avLst/>
          </a:prstGeom>
          <a:solidFill>
            <a:srgbClr val="CBD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9509760" cy="164592"/>
          </a:xfrm>
          <a:prstGeom prst="rect">
            <a:avLst/>
          </a:prstGeom>
          <a:noFill/>
        </p:spPr>
        <p:txBody>
          <a:bodyPr wrap="square" lIns="13716" rIns="13716" tIns="13716" bIns="13716">
            <a:spAutoFit/>
          </a:bodyPr>
          <a:lstStyle/>
          <a:p>
            <a:pPr algn="l">
              <a:lnSpc>
                <a:spcPct val="108000"/>
              </a:lnSpc>
              <a:spcAft>
                <a:spcPts val="0"/>
              </a:spcAft>
            </a:pPr>
            <a:r>
              <a:rPr sz="1000" b="0">
                <a:solidFill>
                  <a:srgbClr val="536974"/>
                </a:solidFill>
                <a:latin typeface="Aptos"/>
              </a:rPr>
              <a:t>EE6019 • Tiny Tapeout • 8 October 2026 • Sources and teaching notes in PowerPoint</a:t>
            </a:r>
          </a:p>
        </p:txBody>
      </p:sp>
      <p:sp>
        <p:nvSpPr>
          <p:cNvPr id="6" name="TextBox 5"/>
          <p:cNvSpPr txBox="1"/>
          <p:nvPr/>
        </p:nvSpPr>
        <p:spPr>
          <a:xfrm>
            <a:off x="10981944" y="6510528"/>
            <a:ext cx="585216" cy="192024"/>
          </a:xfrm>
          <a:prstGeom prst="rect">
            <a:avLst/>
          </a:prstGeom>
          <a:noFill/>
        </p:spPr>
        <p:txBody>
          <a:bodyPr wrap="square" lIns="13716" rIns="13716" tIns="13716" bIns="13716">
            <a:spAutoFit/>
          </a:bodyPr>
          <a:lstStyle/>
          <a:p>
            <a:pPr algn="r">
              <a:lnSpc>
                <a:spcPct val="108000"/>
              </a:lnSpc>
              <a:spcAft>
                <a:spcPts val="0"/>
              </a:spcAft>
            </a:pPr>
            <a:r>
              <a:rPr sz="1100" b="1">
                <a:solidFill>
                  <a:srgbClr val="007F83"/>
                </a:solidFill>
                <a:latin typeface="Aptos"/>
              </a:rPr>
              <a:t>26</a:t>
            </a:r>
          </a:p>
        </p:txBody>
      </p:sp>
      <p:pic>
        <p:nvPicPr>
          <p:cNvPr id="7" name="Picture 6" descr="counter-datasheet-page-1.png"/>
          <p:cNvPicPr>
            <a:picLocks noChangeAspect="1"/>
          </p:cNvPicPr>
          <p:nvPr/>
        </p:nvPicPr>
        <p:blipFill>
          <a:blip r:embed="rId3"/>
          <a:stretch>
            <a:fillRect/>
          </a:stretch>
        </p:blipFill>
        <p:spPr>
          <a:xfrm>
            <a:off x="795528" y="1837943"/>
            <a:ext cx="3044810" cy="4306824"/>
          </a:xfrm>
          <a:prstGeom prst="rect">
            <a:avLst/>
          </a:prstGeom>
        </p:spPr>
      </p:pic>
      <p:sp>
        <p:nvSpPr>
          <p:cNvPr id="8" name="TextBox 7"/>
          <p:cNvSpPr txBox="1"/>
          <p:nvPr/>
        </p:nvSpPr>
        <p:spPr>
          <a:xfrm>
            <a:off x="4288536" y="1920240"/>
            <a:ext cx="7040880" cy="996696"/>
          </a:xfrm>
          <a:prstGeom prst="rect">
            <a:avLst/>
          </a:prstGeom>
          <a:noFill/>
        </p:spPr>
        <p:txBody>
          <a:bodyPr wrap="square" lIns="13716" rIns="13716" tIns="13716" bIns="13716">
            <a:spAutoFit/>
          </a:bodyPr>
          <a:lstStyle/>
          <a:p>
            <a:pPr algn="l">
              <a:lnSpc>
                <a:spcPct val="108000"/>
              </a:lnSpc>
              <a:spcAft>
                <a:spcPts val="0"/>
              </a:spcAft>
            </a:pPr>
            <a:r>
              <a:rPr sz="2600" b="1">
                <a:solidFill>
                  <a:srgbClr val="007F83"/>
                </a:solidFill>
                <a:latin typeface="Aptos"/>
              </a:rPr>
              <a:t>Captured: Actions, datasheet,</a:t>
            </a:r>
          </a:p>
          <a:p>
            <a:pPr algn="l">
              <a:lnSpc>
                <a:spcPct val="108000"/>
              </a:lnSpc>
              <a:spcAft>
                <a:spcPts val="0"/>
              </a:spcAft>
            </a:pPr>
            <a:r>
              <a:rPr sz="2600" b="1">
                <a:solidFill>
                  <a:srgbClr val="007F83"/>
                </a:solidFill>
                <a:latin typeface="Aptos"/>
              </a:rPr>
              <a:t>GDS render and real 3D viewer.</a:t>
            </a:r>
          </a:p>
        </p:txBody>
      </p:sp>
      <p:sp>
        <p:nvSpPr>
          <p:cNvPr id="9" name="TextBox 8"/>
          <p:cNvSpPr txBox="1"/>
          <p:nvPr/>
        </p:nvSpPr>
        <p:spPr>
          <a:xfrm>
            <a:off x="4297680" y="3118104"/>
            <a:ext cx="7059168" cy="2587752"/>
          </a:xfrm>
          <a:prstGeom prst="rect">
            <a:avLst/>
          </a:prstGeom>
          <a:noFill/>
        </p:spPr>
        <p:txBody>
          <a:bodyPr wrap="square" lIns="13716" rIns="13716" tIns="13716" bIns="13716">
            <a:spAutoFit/>
          </a:bodyPr>
          <a:lstStyle/>
          <a:p>
            <a:pPr algn="l">
              <a:lnSpc>
                <a:spcPct val="132000"/>
              </a:lnSpc>
              <a:spcAft>
                <a:spcPts val="0"/>
              </a:spcAft>
            </a:pPr>
            <a:r>
              <a:rPr sz="2400" b="0">
                <a:solidFill>
                  <a:srgbClr val="152B39"/>
                </a:solidFill>
                <a:latin typeface="Aptos"/>
              </a:rPr>
              <a:t>P1  Signed-in template menu</a:t>
            </a:r>
          </a:p>
          <a:p>
            <a:pPr algn="l">
              <a:lnSpc>
                <a:spcPct val="132000"/>
              </a:lnSpc>
              <a:spcAft>
                <a:spcPts val="0"/>
              </a:spcAft>
            </a:pPr>
            <a:r>
              <a:rPr sz="2400" b="0">
                <a:solidFill>
                  <a:srgbClr val="152B39"/>
                </a:solidFill>
                <a:latin typeface="Aptos"/>
              </a:rPr>
              <a:t>P2  Pages source setting</a:t>
            </a:r>
          </a:p>
          <a:p>
            <a:pPr algn="l">
              <a:lnSpc>
                <a:spcPct val="132000"/>
              </a:lnSpc>
              <a:spcAft>
                <a:spcPts val="0"/>
              </a:spcAft>
            </a:pPr>
            <a:r>
              <a:rPr sz="2400" b="0">
                <a:solidFill>
                  <a:srgbClr val="152B39"/>
                </a:solidFill>
                <a:latin typeface="Aptos"/>
              </a:rPr>
              <a:t>P4  gds metrics + cell table</a:t>
            </a:r>
          </a:p>
          <a:p>
            <a:pPr algn="l">
              <a:lnSpc>
                <a:spcPct val="132000"/>
              </a:lnSpc>
              <a:spcAft>
                <a:spcPts val="0"/>
              </a:spcAft>
            </a:pPr>
            <a:r>
              <a:rPr sz="2400" b="0">
                <a:solidFill>
                  <a:srgbClr val="152B39"/>
                </a:solidFill>
                <a:latin typeface="Aptos"/>
              </a:rPr>
              <a:t>P8  Reset / count / hold / wrap waveform</a:t>
            </a:r>
          </a:p>
          <a:p>
            <a:pPr algn="l">
              <a:lnSpc>
                <a:spcPct val="132000"/>
              </a:lnSpc>
              <a:spcAft>
                <a:spcPts val="0"/>
              </a:spcAft>
            </a:pPr>
            <a:r>
              <a:rPr sz="2400" b="0">
                <a:solidFill>
                  <a:srgbClr val="152B39"/>
                </a:solidFill>
                <a:latin typeface="Aptos"/>
              </a:rPr>
              <a:t>P6  Optional future assertion-failure example</a:t>
            </a:r>
          </a:p>
        </p:txBody>
      </p:sp>
      <p:sp>
        <p:nvSpPr>
          <p:cNvPr id="10" name="TextBox 9"/>
          <p:cNvSpPr txBox="1"/>
          <p:nvPr/>
        </p:nvSpPr>
        <p:spPr>
          <a:xfrm>
            <a:off x="4297680" y="5897880"/>
            <a:ext cx="7077456" cy="374904"/>
          </a:xfrm>
          <a:prstGeom prst="rect">
            <a:avLst/>
          </a:prstGeom>
          <a:noFill/>
        </p:spPr>
        <p:txBody>
          <a:bodyPr wrap="square" lIns="13716" rIns="13716" tIns="13716" bIns="13716">
            <a:spAutoFit/>
          </a:bodyPr>
          <a:lstStyle/>
          <a:p>
            <a:pPr algn="l">
              <a:lnSpc>
                <a:spcPct val="108000"/>
              </a:lnSpc>
              <a:spcAft>
                <a:spcPts val="0"/>
              </a:spcAft>
            </a:pPr>
            <a:r>
              <a:rPr sz="2200" b="0">
                <a:solidFill>
                  <a:srgbClr val="536974"/>
                </a:solidFill>
                <a:latin typeface="Aptos"/>
              </a:rPr>
              <a:t>Capture instructions: docs/slides/README.md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F83"/>
      </a:hlink>
      <a:folHlink>
        <a:srgbClr val="007F8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Make your own chip: the Tiny Tapeout flow, step by step</dc:title>
  <dc:subject/>
  <dc:creator>EE6019 teaching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